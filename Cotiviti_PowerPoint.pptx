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70" r:id="rId14"/>
    <p:sldId id="272" r:id="rId15"/>
    <p:sldId id="273" r:id="rId16"/>
    <p:sldId id="275"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8533F8-DA73-8B4F-B15E-FBEADEE5DE8A}" v="2" dt="2026-07-02T00:24:59.7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vie Kim" userId="18d5a620977eb465" providerId="LiveId" clId="{7052E085-7E63-4898-80EF-85EBC509972C}"/>
    <pc:docChg chg="undo custSel delSld modSld">
      <pc:chgData name="Evie Kim" userId="18d5a620977eb465" providerId="LiveId" clId="{7052E085-7E63-4898-80EF-85EBC509972C}" dt="2026-07-02T00:09:41.619" v="11034" actId="20577"/>
      <pc:docMkLst>
        <pc:docMk/>
      </pc:docMkLst>
      <pc:sldChg chg="delSp modSp mod modNotesTx">
        <pc:chgData name="Evie Kim" userId="18d5a620977eb465" providerId="LiveId" clId="{7052E085-7E63-4898-80EF-85EBC509972C}" dt="2026-07-01T20:37:39.979" v="10812" actId="20577"/>
        <pc:sldMkLst>
          <pc:docMk/>
          <pc:sldMk cId="0" sldId="256"/>
        </pc:sldMkLst>
        <pc:spChg chg="mod">
          <ac:chgData name="Evie Kim" userId="18d5a620977eb465" providerId="LiveId" clId="{7052E085-7E63-4898-80EF-85EBC509972C}" dt="2026-07-01T20:37:39.979" v="10812" actId="20577"/>
          <ac:spMkLst>
            <pc:docMk/>
            <pc:sldMk cId="0" sldId="256"/>
            <ac:spMk id="4" creationId="{00000000-0000-0000-0000-000000000000}"/>
          </ac:spMkLst>
        </pc:spChg>
        <pc:spChg chg="del mod">
          <ac:chgData name="Evie Kim" userId="18d5a620977eb465" providerId="LiveId" clId="{7052E085-7E63-4898-80EF-85EBC509972C}" dt="2026-07-01T19:47:06.629" v="737" actId="478"/>
          <ac:spMkLst>
            <pc:docMk/>
            <pc:sldMk cId="0" sldId="256"/>
            <ac:spMk id="7" creationId="{00000000-0000-0000-0000-000000000000}"/>
          </ac:spMkLst>
        </pc:spChg>
      </pc:sldChg>
      <pc:sldChg chg="modSp mod modNotesTx">
        <pc:chgData name="Evie Kim" userId="18d5a620977eb465" providerId="LiveId" clId="{7052E085-7E63-4898-80EF-85EBC509972C}" dt="2026-07-01T20:38:45.242" v="10830" actId="20577"/>
        <pc:sldMkLst>
          <pc:docMk/>
          <pc:sldMk cId="0" sldId="257"/>
        </pc:sldMkLst>
        <pc:spChg chg="mod">
          <ac:chgData name="Evie Kim" userId="18d5a620977eb465" providerId="LiveId" clId="{7052E085-7E63-4898-80EF-85EBC509972C}" dt="2026-07-01T20:38:45.242" v="10830" actId="20577"/>
          <ac:spMkLst>
            <pc:docMk/>
            <pc:sldMk cId="0" sldId="257"/>
            <ac:spMk id="6" creationId="{00000000-0000-0000-0000-000000000000}"/>
          </ac:spMkLst>
        </pc:spChg>
        <pc:spChg chg="mod">
          <ac:chgData name="Evie Kim" userId="18d5a620977eb465" providerId="LiveId" clId="{7052E085-7E63-4898-80EF-85EBC509972C}" dt="2026-07-01T20:38:26.577" v="10826" actId="20577"/>
          <ac:spMkLst>
            <pc:docMk/>
            <pc:sldMk cId="0" sldId="257"/>
            <ac:spMk id="14" creationId="{00000000-0000-0000-0000-000000000000}"/>
          </ac:spMkLst>
        </pc:spChg>
      </pc:sldChg>
      <pc:sldChg chg="modSp mod modNotesTx">
        <pc:chgData name="Evie Kim" userId="18d5a620977eb465" providerId="LiveId" clId="{7052E085-7E63-4898-80EF-85EBC509972C}" dt="2026-07-01T20:39:44.432" v="10856" actId="20577"/>
        <pc:sldMkLst>
          <pc:docMk/>
          <pc:sldMk cId="0" sldId="258"/>
        </pc:sldMkLst>
        <pc:spChg chg="mod">
          <ac:chgData name="Evie Kim" userId="18d5a620977eb465" providerId="LiveId" clId="{7052E085-7E63-4898-80EF-85EBC509972C}" dt="2026-07-01T20:39:44.432" v="10856" actId="20577"/>
          <ac:spMkLst>
            <pc:docMk/>
            <pc:sldMk cId="0" sldId="258"/>
            <ac:spMk id="4" creationId="{00000000-0000-0000-0000-000000000000}"/>
          </ac:spMkLst>
        </pc:spChg>
        <pc:spChg chg="mod">
          <ac:chgData name="Evie Kim" userId="18d5a620977eb465" providerId="LiveId" clId="{7052E085-7E63-4898-80EF-85EBC509972C}" dt="2026-07-01T19:50:21.064" v="1236" actId="20577"/>
          <ac:spMkLst>
            <pc:docMk/>
            <pc:sldMk cId="0" sldId="258"/>
            <ac:spMk id="8" creationId="{00000000-0000-0000-0000-000000000000}"/>
          </ac:spMkLst>
        </pc:spChg>
        <pc:spChg chg="mod">
          <ac:chgData name="Evie Kim" userId="18d5a620977eb465" providerId="LiveId" clId="{7052E085-7E63-4898-80EF-85EBC509972C}" dt="2026-07-01T19:50:23.023" v="1238" actId="20577"/>
          <ac:spMkLst>
            <pc:docMk/>
            <pc:sldMk cId="0" sldId="258"/>
            <ac:spMk id="11" creationId="{00000000-0000-0000-0000-000000000000}"/>
          </ac:spMkLst>
        </pc:spChg>
      </pc:sldChg>
      <pc:sldChg chg="modSp mod modNotesTx">
        <pc:chgData name="Evie Kim" userId="18d5a620977eb465" providerId="LiveId" clId="{7052E085-7E63-4898-80EF-85EBC509972C}" dt="2026-07-01T20:44:09.811" v="11028" actId="20577"/>
        <pc:sldMkLst>
          <pc:docMk/>
          <pc:sldMk cId="0" sldId="259"/>
        </pc:sldMkLst>
        <pc:spChg chg="mod">
          <ac:chgData name="Evie Kim" userId="18d5a620977eb465" providerId="LiveId" clId="{7052E085-7E63-4898-80EF-85EBC509972C}" dt="2026-07-01T20:44:09.811" v="11028" actId="20577"/>
          <ac:spMkLst>
            <pc:docMk/>
            <pc:sldMk cId="0" sldId="259"/>
            <ac:spMk id="4" creationId="{00000000-0000-0000-0000-000000000000}"/>
          </ac:spMkLst>
        </pc:spChg>
        <pc:spChg chg="mod">
          <ac:chgData name="Evie Kim" userId="18d5a620977eb465" providerId="LiveId" clId="{7052E085-7E63-4898-80EF-85EBC509972C}" dt="2026-07-01T19:53:49.636" v="1834" actId="20577"/>
          <ac:spMkLst>
            <pc:docMk/>
            <pc:sldMk cId="0" sldId="259"/>
            <ac:spMk id="9" creationId="{00000000-0000-0000-0000-000000000000}"/>
          </ac:spMkLst>
        </pc:spChg>
        <pc:spChg chg="mod">
          <ac:chgData name="Evie Kim" userId="18d5a620977eb465" providerId="LiveId" clId="{7052E085-7E63-4898-80EF-85EBC509972C}" dt="2026-07-01T19:53:54.760" v="1844" actId="20577"/>
          <ac:spMkLst>
            <pc:docMk/>
            <pc:sldMk cId="0" sldId="259"/>
            <ac:spMk id="14" creationId="{00000000-0000-0000-0000-000000000000}"/>
          </ac:spMkLst>
        </pc:spChg>
        <pc:spChg chg="mod">
          <ac:chgData name="Evie Kim" userId="18d5a620977eb465" providerId="LiveId" clId="{7052E085-7E63-4898-80EF-85EBC509972C}" dt="2026-07-01T20:39:21.499" v="10835" actId="20577"/>
          <ac:spMkLst>
            <pc:docMk/>
            <pc:sldMk cId="0" sldId="259"/>
            <ac:spMk id="23" creationId="{00000000-0000-0000-0000-000000000000}"/>
          </ac:spMkLst>
        </pc:spChg>
      </pc:sldChg>
      <pc:sldChg chg="modSp mod modNotesTx">
        <pc:chgData name="Evie Kim" userId="18d5a620977eb465" providerId="LiveId" clId="{7052E085-7E63-4898-80EF-85EBC509972C}" dt="2026-07-01T20:39:56.860" v="10857" actId="20577"/>
        <pc:sldMkLst>
          <pc:docMk/>
          <pc:sldMk cId="0" sldId="260"/>
        </pc:sldMkLst>
        <pc:spChg chg="mod">
          <ac:chgData name="Evie Kim" userId="18d5a620977eb465" providerId="LiveId" clId="{7052E085-7E63-4898-80EF-85EBC509972C}" dt="2026-07-01T20:39:56.860" v="10857" actId="20577"/>
          <ac:spMkLst>
            <pc:docMk/>
            <pc:sldMk cId="0" sldId="260"/>
            <ac:spMk id="4" creationId="{00000000-0000-0000-0000-000000000000}"/>
          </ac:spMkLst>
        </pc:spChg>
        <pc:spChg chg="mod">
          <ac:chgData name="Evie Kim" userId="18d5a620977eb465" providerId="LiveId" clId="{7052E085-7E63-4898-80EF-85EBC509972C}" dt="2026-07-01T20:00:32.518" v="2878" actId="20577"/>
          <ac:spMkLst>
            <pc:docMk/>
            <pc:sldMk cId="0" sldId="260"/>
            <ac:spMk id="24" creationId="{00000000-0000-0000-0000-000000000000}"/>
          </ac:spMkLst>
        </pc:spChg>
      </pc:sldChg>
      <pc:sldChg chg="modSp mod modNotesTx">
        <pc:chgData name="Evie Kim" userId="18d5a620977eb465" providerId="LiveId" clId="{7052E085-7E63-4898-80EF-85EBC509972C}" dt="2026-07-01T20:43:59.751" v="11010" actId="20577"/>
        <pc:sldMkLst>
          <pc:docMk/>
          <pc:sldMk cId="0" sldId="261"/>
        </pc:sldMkLst>
        <pc:spChg chg="mod">
          <ac:chgData name="Evie Kim" userId="18d5a620977eb465" providerId="LiveId" clId="{7052E085-7E63-4898-80EF-85EBC509972C}" dt="2026-07-01T20:43:59.751" v="11010" actId="20577"/>
          <ac:spMkLst>
            <pc:docMk/>
            <pc:sldMk cId="0" sldId="261"/>
            <ac:spMk id="4" creationId="{00000000-0000-0000-0000-000000000000}"/>
          </ac:spMkLst>
        </pc:spChg>
        <pc:spChg chg="mod">
          <ac:chgData name="Evie Kim" userId="18d5a620977eb465" providerId="LiveId" clId="{7052E085-7E63-4898-80EF-85EBC509972C}" dt="2026-07-01T20:04:30.191" v="3745" actId="20577"/>
          <ac:spMkLst>
            <pc:docMk/>
            <pc:sldMk cId="0" sldId="261"/>
            <ac:spMk id="8" creationId="{00000000-0000-0000-0000-000000000000}"/>
          </ac:spMkLst>
        </pc:spChg>
        <pc:spChg chg="mod">
          <ac:chgData name="Evie Kim" userId="18d5a620977eb465" providerId="LiveId" clId="{7052E085-7E63-4898-80EF-85EBC509972C}" dt="2026-07-01T20:04:36.801" v="3750" actId="20577"/>
          <ac:spMkLst>
            <pc:docMk/>
            <pc:sldMk cId="0" sldId="261"/>
            <ac:spMk id="16" creationId="{00000000-0000-0000-0000-000000000000}"/>
          </ac:spMkLst>
        </pc:spChg>
      </pc:sldChg>
      <pc:sldChg chg="modSp mod modNotesTx">
        <pc:chgData name="Evie Kim" userId="18d5a620977eb465" providerId="LiveId" clId="{7052E085-7E63-4898-80EF-85EBC509972C}" dt="2026-07-02T00:09:41.619" v="11034" actId="20577"/>
        <pc:sldMkLst>
          <pc:docMk/>
          <pc:sldMk cId="0" sldId="262"/>
        </pc:sldMkLst>
        <pc:spChg chg="mod">
          <ac:chgData name="Evie Kim" userId="18d5a620977eb465" providerId="LiveId" clId="{7052E085-7E63-4898-80EF-85EBC509972C}" dt="2026-07-01T20:40:26.574" v="10860" actId="20577"/>
          <ac:spMkLst>
            <pc:docMk/>
            <pc:sldMk cId="0" sldId="262"/>
            <ac:spMk id="4" creationId="{00000000-0000-0000-0000-000000000000}"/>
          </ac:spMkLst>
        </pc:spChg>
        <pc:spChg chg="mod">
          <ac:chgData name="Evie Kim" userId="18d5a620977eb465" providerId="LiveId" clId="{7052E085-7E63-4898-80EF-85EBC509972C}" dt="2026-07-01T20:38:09.534" v="10816" actId="20577"/>
          <ac:spMkLst>
            <pc:docMk/>
            <pc:sldMk cId="0" sldId="262"/>
            <ac:spMk id="8" creationId="{00000000-0000-0000-0000-000000000000}"/>
          </ac:spMkLst>
        </pc:spChg>
        <pc:spChg chg="mod">
          <ac:chgData name="Evie Kim" userId="18d5a620977eb465" providerId="LiveId" clId="{7052E085-7E63-4898-80EF-85EBC509972C}" dt="2026-07-01T20:38:07.202" v="10814" actId="20577"/>
          <ac:spMkLst>
            <pc:docMk/>
            <pc:sldMk cId="0" sldId="262"/>
            <ac:spMk id="13" creationId="{00000000-0000-0000-0000-000000000000}"/>
          </ac:spMkLst>
        </pc:spChg>
        <pc:spChg chg="mod">
          <ac:chgData name="Evie Kim" userId="18d5a620977eb465" providerId="LiveId" clId="{7052E085-7E63-4898-80EF-85EBC509972C}" dt="2026-07-01T20:38:12.641" v="10818" actId="20577"/>
          <ac:spMkLst>
            <pc:docMk/>
            <pc:sldMk cId="0" sldId="262"/>
            <ac:spMk id="18" creationId="{00000000-0000-0000-0000-000000000000}"/>
          </ac:spMkLst>
        </pc:spChg>
      </pc:sldChg>
      <pc:sldChg chg="del">
        <pc:chgData name="Evie Kim" userId="18d5a620977eb465" providerId="LiveId" clId="{7052E085-7E63-4898-80EF-85EBC509972C}" dt="2026-07-01T20:12:41.176" v="5151" actId="47"/>
        <pc:sldMkLst>
          <pc:docMk/>
          <pc:sldMk cId="0" sldId="263"/>
        </pc:sldMkLst>
      </pc:sldChg>
      <pc:sldChg chg="modSp mod modNotesTx">
        <pc:chgData name="Evie Kim" userId="18d5a620977eb465" providerId="LiveId" clId="{7052E085-7E63-4898-80EF-85EBC509972C}" dt="2026-07-01T20:44:29.426" v="11032" actId="20577"/>
        <pc:sldMkLst>
          <pc:docMk/>
          <pc:sldMk cId="0" sldId="264"/>
        </pc:sldMkLst>
        <pc:spChg chg="mod">
          <ac:chgData name="Evie Kim" userId="18d5a620977eb465" providerId="LiveId" clId="{7052E085-7E63-4898-80EF-85EBC509972C}" dt="2026-07-01T20:44:29.426" v="11032" actId="20577"/>
          <ac:spMkLst>
            <pc:docMk/>
            <pc:sldMk cId="0" sldId="264"/>
            <ac:spMk id="4" creationId="{00000000-0000-0000-0000-000000000000}"/>
          </ac:spMkLst>
        </pc:spChg>
        <pc:spChg chg="mod">
          <ac:chgData name="Evie Kim" userId="18d5a620977eb465" providerId="LiveId" clId="{7052E085-7E63-4898-80EF-85EBC509972C}" dt="2026-07-01T20:12:54.312" v="5156" actId="20577"/>
          <ac:spMkLst>
            <pc:docMk/>
            <pc:sldMk cId="0" sldId="264"/>
            <ac:spMk id="8" creationId="{00000000-0000-0000-0000-000000000000}"/>
          </ac:spMkLst>
        </pc:spChg>
        <pc:spChg chg="mod">
          <ac:chgData name="Evie Kim" userId="18d5a620977eb465" providerId="LiveId" clId="{7052E085-7E63-4898-80EF-85EBC509972C}" dt="2026-07-01T20:13:01.097" v="5161" actId="20577"/>
          <ac:spMkLst>
            <pc:docMk/>
            <pc:sldMk cId="0" sldId="264"/>
            <ac:spMk id="10" creationId="{00000000-0000-0000-0000-000000000000}"/>
          </ac:spMkLst>
        </pc:spChg>
        <pc:spChg chg="mod">
          <ac:chgData name="Evie Kim" userId="18d5a620977eb465" providerId="LiveId" clId="{7052E085-7E63-4898-80EF-85EBC509972C}" dt="2026-07-01T20:40:54.557" v="10867" actId="20577"/>
          <ac:spMkLst>
            <pc:docMk/>
            <pc:sldMk cId="0" sldId="264"/>
            <ac:spMk id="24" creationId="{00000000-0000-0000-0000-000000000000}"/>
          </ac:spMkLst>
        </pc:spChg>
      </pc:sldChg>
      <pc:sldChg chg="modSp mod modNotesTx">
        <pc:chgData name="Evie Kim" userId="18d5a620977eb465" providerId="LiveId" clId="{7052E085-7E63-4898-80EF-85EBC509972C}" dt="2026-07-01T20:41:18.283" v="10889" actId="20577"/>
        <pc:sldMkLst>
          <pc:docMk/>
          <pc:sldMk cId="0" sldId="265"/>
        </pc:sldMkLst>
        <pc:spChg chg="mod">
          <ac:chgData name="Evie Kim" userId="18d5a620977eb465" providerId="LiveId" clId="{7052E085-7E63-4898-80EF-85EBC509972C}" dt="2026-07-01T20:41:18.283" v="10889" actId="20577"/>
          <ac:spMkLst>
            <pc:docMk/>
            <pc:sldMk cId="0" sldId="265"/>
            <ac:spMk id="27" creationId="{00000000-0000-0000-0000-000000000000}"/>
          </ac:spMkLst>
        </pc:spChg>
        <pc:spChg chg="mod">
          <ac:chgData name="Evie Kim" userId="18d5a620977eb465" providerId="LiveId" clId="{7052E085-7E63-4898-80EF-85EBC509972C}" dt="2026-07-01T20:15:44.134" v="5822" actId="20577"/>
          <ac:spMkLst>
            <pc:docMk/>
            <pc:sldMk cId="0" sldId="265"/>
            <ac:spMk id="34" creationId="{00000000-0000-0000-0000-000000000000}"/>
          </ac:spMkLst>
        </pc:spChg>
      </pc:sldChg>
      <pc:sldChg chg="modSp mod modNotesTx">
        <pc:chgData name="Evie Kim" userId="18d5a620977eb465" providerId="LiveId" clId="{7052E085-7E63-4898-80EF-85EBC509972C}" dt="2026-07-01T20:41:38.169" v="10901" actId="20577"/>
        <pc:sldMkLst>
          <pc:docMk/>
          <pc:sldMk cId="0" sldId="266"/>
        </pc:sldMkLst>
        <pc:spChg chg="mod">
          <ac:chgData name="Evie Kim" userId="18d5a620977eb465" providerId="LiveId" clId="{7052E085-7E63-4898-80EF-85EBC509972C}" dt="2026-07-01T20:37:26.871" v="10793" actId="20577"/>
          <ac:spMkLst>
            <pc:docMk/>
            <pc:sldMk cId="0" sldId="266"/>
            <ac:spMk id="4" creationId="{00000000-0000-0000-0000-000000000000}"/>
          </ac:spMkLst>
        </pc:spChg>
        <pc:spChg chg="mod">
          <ac:chgData name="Evie Kim" userId="18d5a620977eb465" providerId="LiveId" clId="{7052E085-7E63-4898-80EF-85EBC509972C}" dt="2026-07-01T20:41:31.322" v="10892" actId="20577"/>
          <ac:spMkLst>
            <pc:docMk/>
            <pc:sldMk cId="0" sldId="266"/>
            <ac:spMk id="7" creationId="{00000000-0000-0000-0000-000000000000}"/>
          </ac:spMkLst>
        </pc:spChg>
        <pc:spChg chg="mod">
          <ac:chgData name="Evie Kim" userId="18d5a620977eb465" providerId="LiveId" clId="{7052E085-7E63-4898-80EF-85EBC509972C}" dt="2026-07-01T20:41:34.006" v="10895" actId="20577"/>
          <ac:spMkLst>
            <pc:docMk/>
            <pc:sldMk cId="0" sldId="266"/>
            <ac:spMk id="12" creationId="{00000000-0000-0000-0000-000000000000}"/>
          </ac:spMkLst>
        </pc:spChg>
        <pc:spChg chg="mod">
          <ac:chgData name="Evie Kim" userId="18d5a620977eb465" providerId="LiveId" clId="{7052E085-7E63-4898-80EF-85EBC509972C}" dt="2026-07-01T20:41:36.238" v="10898" actId="20577"/>
          <ac:spMkLst>
            <pc:docMk/>
            <pc:sldMk cId="0" sldId="266"/>
            <ac:spMk id="17" creationId="{00000000-0000-0000-0000-000000000000}"/>
          </ac:spMkLst>
        </pc:spChg>
        <pc:spChg chg="mod">
          <ac:chgData name="Evie Kim" userId="18d5a620977eb465" providerId="LiveId" clId="{7052E085-7E63-4898-80EF-85EBC509972C}" dt="2026-07-01T20:18:42.948" v="6550" actId="20577"/>
          <ac:spMkLst>
            <pc:docMk/>
            <pc:sldMk cId="0" sldId="266"/>
            <ac:spMk id="18" creationId="{00000000-0000-0000-0000-000000000000}"/>
          </ac:spMkLst>
        </pc:spChg>
        <pc:spChg chg="mod">
          <ac:chgData name="Evie Kim" userId="18d5a620977eb465" providerId="LiveId" clId="{7052E085-7E63-4898-80EF-85EBC509972C}" dt="2026-07-01T20:41:38.169" v="10901" actId="20577"/>
          <ac:spMkLst>
            <pc:docMk/>
            <pc:sldMk cId="0" sldId="266"/>
            <ac:spMk id="22" creationId="{00000000-0000-0000-0000-000000000000}"/>
          </ac:spMkLst>
        </pc:spChg>
        <pc:spChg chg="mod">
          <ac:chgData name="Evie Kim" userId="18d5a620977eb465" providerId="LiveId" clId="{7052E085-7E63-4898-80EF-85EBC509972C}" dt="2026-07-01T20:18:33.886" v="6543" actId="20577"/>
          <ac:spMkLst>
            <pc:docMk/>
            <pc:sldMk cId="0" sldId="266"/>
            <ac:spMk id="25" creationId="{00000000-0000-0000-0000-000000000000}"/>
          </ac:spMkLst>
        </pc:spChg>
      </pc:sldChg>
      <pc:sldChg chg="modSp mod modNotesTx">
        <pc:chgData name="Evie Kim" userId="18d5a620977eb465" providerId="LiveId" clId="{7052E085-7E63-4898-80EF-85EBC509972C}" dt="2026-07-01T20:41:55.770" v="10927" actId="20577"/>
        <pc:sldMkLst>
          <pc:docMk/>
          <pc:sldMk cId="0" sldId="267"/>
        </pc:sldMkLst>
        <pc:spChg chg="mod">
          <ac:chgData name="Evie Kim" userId="18d5a620977eb465" providerId="LiveId" clId="{7052E085-7E63-4898-80EF-85EBC509972C}" dt="2026-07-01T20:41:55.770" v="10927" actId="20577"/>
          <ac:spMkLst>
            <pc:docMk/>
            <pc:sldMk cId="0" sldId="267"/>
            <ac:spMk id="4" creationId="{00000000-0000-0000-0000-000000000000}"/>
          </ac:spMkLst>
        </pc:spChg>
        <pc:spChg chg="mod">
          <ac:chgData name="Evie Kim" userId="18d5a620977eb465" providerId="LiveId" clId="{7052E085-7E63-4898-80EF-85EBC509972C}" dt="2026-07-01T20:21:55.796" v="7310" actId="20577"/>
          <ac:spMkLst>
            <pc:docMk/>
            <pc:sldMk cId="0" sldId="267"/>
            <ac:spMk id="20" creationId="{00000000-0000-0000-0000-000000000000}"/>
          </ac:spMkLst>
        </pc:spChg>
        <pc:spChg chg="mod">
          <ac:chgData name="Evie Kim" userId="18d5a620977eb465" providerId="LiveId" clId="{7052E085-7E63-4898-80EF-85EBC509972C}" dt="2026-07-01T20:22:01.695" v="7317" actId="20577"/>
          <ac:spMkLst>
            <pc:docMk/>
            <pc:sldMk cId="0" sldId="267"/>
            <ac:spMk id="24" creationId="{00000000-0000-0000-0000-000000000000}"/>
          </ac:spMkLst>
        </pc:spChg>
      </pc:sldChg>
      <pc:sldChg chg="modNotesTx">
        <pc:chgData name="Evie Kim" userId="18d5a620977eb465" providerId="LiveId" clId="{7052E085-7E63-4898-80EF-85EBC509972C}" dt="2026-07-01T20:42:29.287" v="10952" actId="20577"/>
        <pc:sldMkLst>
          <pc:docMk/>
          <pc:sldMk cId="0" sldId="268"/>
        </pc:sldMkLst>
      </pc:sldChg>
      <pc:sldChg chg="modSp del mod modNotesTx">
        <pc:chgData name="Evie Kim" userId="18d5a620977eb465" providerId="LiveId" clId="{7052E085-7E63-4898-80EF-85EBC509972C}" dt="2026-07-01T20:27:16.527" v="8383" actId="47"/>
        <pc:sldMkLst>
          <pc:docMk/>
          <pc:sldMk cId="0" sldId="269"/>
        </pc:sldMkLst>
        <pc:spChg chg="mod">
          <ac:chgData name="Evie Kim" userId="18d5a620977eb465" providerId="LiveId" clId="{7052E085-7E63-4898-80EF-85EBC509972C}" dt="2026-07-01T20:26:29.848" v="8350" actId="20577"/>
          <ac:spMkLst>
            <pc:docMk/>
            <pc:sldMk cId="0" sldId="269"/>
            <ac:spMk id="4" creationId="{00000000-0000-0000-0000-000000000000}"/>
          </ac:spMkLst>
        </pc:spChg>
        <pc:spChg chg="mod">
          <ac:chgData name="Evie Kim" userId="18d5a620977eb465" providerId="LiveId" clId="{7052E085-7E63-4898-80EF-85EBC509972C}" dt="2026-07-01T20:27:00.896" v="8357" actId="20577"/>
          <ac:spMkLst>
            <pc:docMk/>
            <pc:sldMk cId="0" sldId="269"/>
            <ac:spMk id="26" creationId="{00000000-0000-0000-0000-000000000000}"/>
          </ac:spMkLst>
        </pc:spChg>
      </pc:sldChg>
      <pc:sldChg chg="delSp modSp mod modNotesTx">
        <pc:chgData name="Evie Kim" userId="18d5a620977eb465" providerId="LiveId" clId="{7052E085-7E63-4898-80EF-85EBC509972C}" dt="2026-07-01T20:42:56.785" v="10973" actId="20577"/>
        <pc:sldMkLst>
          <pc:docMk/>
          <pc:sldMk cId="0" sldId="270"/>
        </pc:sldMkLst>
        <pc:spChg chg="mod">
          <ac:chgData name="Evie Kim" userId="18d5a620977eb465" providerId="LiveId" clId="{7052E085-7E63-4898-80EF-85EBC509972C}" dt="2026-07-01T20:42:33.260" v="10957" actId="20577"/>
          <ac:spMkLst>
            <pc:docMk/>
            <pc:sldMk cId="0" sldId="270"/>
            <ac:spMk id="3" creationId="{00000000-0000-0000-0000-000000000000}"/>
          </ac:spMkLst>
        </pc:spChg>
        <pc:spChg chg="del">
          <ac:chgData name="Evie Kim" userId="18d5a620977eb465" providerId="LiveId" clId="{7052E085-7E63-4898-80EF-85EBC509972C}" dt="2026-07-01T20:26:37.056" v="8351" actId="478"/>
          <ac:spMkLst>
            <pc:docMk/>
            <pc:sldMk cId="0" sldId="270"/>
            <ac:spMk id="4" creationId="{00000000-0000-0000-0000-000000000000}"/>
          </ac:spMkLst>
        </pc:spChg>
        <pc:spChg chg="del">
          <ac:chgData name="Evie Kim" userId="18d5a620977eb465" providerId="LiveId" clId="{7052E085-7E63-4898-80EF-85EBC509972C}" dt="2026-07-01T20:26:41.446" v="8353" actId="478"/>
          <ac:spMkLst>
            <pc:docMk/>
            <pc:sldMk cId="0" sldId="270"/>
            <ac:spMk id="5" creationId="{00000000-0000-0000-0000-000000000000}"/>
          </ac:spMkLst>
        </pc:spChg>
        <pc:spChg chg="mod">
          <ac:chgData name="Evie Kim" userId="18d5a620977eb465" providerId="LiveId" clId="{7052E085-7E63-4898-80EF-85EBC509972C}" dt="2026-07-01T20:42:56.785" v="10973" actId="20577"/>
          <ac:spMkLst>
            <pc:docMk/>
            <pc:sldMk cId="0" sldId="270"/>
            <ac:spMk id="7" creationId="{00000000-0000-0000-0000-000000000000}"/>
          </ac:spMkLst>
        </pc:spChg>
        <pc:picChg chg="del">
          <ac:chgData name="Evie Kim" userId="18d5a620977eb465" providerId="LiveId" clId="{7052E085-7E63-4898-80EF-85EBC509972C}" dt="2026-07-01T20:26:40.306" v="8352" actId="478"/>
          <ac:picMkLst>
            <pc:docMk/>
            <pc:sldMk cId="0" sldId="270"/>
            <ac:picMk id="6" creationId="{00000000-0000-0000-0000-000000000000}"/>
          </ac:picMkLst>
        </pc:picChg>
      </pc:sldChg>
      <pc:sldChg chg="del">
        <pc:chgData name="Evie Kim" userId="18d5a620977eb465" providerId="LiveId" clId="{7052E085-7E63-4898-80EF-85EBC509972C}" dt="2026-07-01T20:29:16.032" v="8913" actId="47"/>
        <pc:sldMkLst>
          <pc:docMk/>
          <pc:sldMk cId="0" sldId="271"/>
        </pc:sldMkLst>
      </pc:sldChg>
      <pc:sldChg chg="modNotesTx">
        <pc:chgData name="Evie Kim" userId="18d5a620977eb465" providerId="LiveId" clId="{7052E085-7E63-4898-80EF-85EBC509972C}" dt="2026-07-01T20:31:47.420" v="9695" actId="20577"/>
        <pc:sldMkLst>
          <pc:docMk/>
          <pc:sldMk cId="0" sldId="272"/>
        </pc:sldMkLst>
      </pc:sldChg>
      <pc:sldChg chg="modSp mod modNotesTx">
        <pc:chgData name="Evie Kim" userId="18d5a620977eb465" providerId="LiveId" clId="{7052E085-7E63-4898-80EF-85EBC509972C}" dt="2026-07-01T20:43:23.784" v="10989" actId="20577"/>
        <pc:sldMkLst>
          <pc:docMk/>
          <pc:sldMk cId="0" sldId="273"/>
        </pc:sldMkLst>
        <pc:spChg chg="mod">
          <ac:chgData name="Evie Kim" userId="18d5a620977eb465" providerId="LiveId" clId="{7052E085-7E63-4898-80EF-85EBC509972C}" dt="2026-07-01T20:43:23.784" v="10989" actId="20577"/>
          <ac:spMkLst>
            <pc:docMk/>
            <pc:sldMk cId="0" sldId="273"/>
            <ac:spMk id="4" creationId="{00000000-0000-0000-0000-000000000000}"/>
          </ac:spMkLst>
        </pc:spChg>
      </pc:sldChg>
      <pc:sldChg chg="del">
        <pc:chgData name="Evie Kim" userId="18d5a620977eb465" providerId="LiveId" clId="{7052E085-7E63-4898-80EF-85EBC509972C}" dt="2026-07-01T20:35:35.559" v="10538" actId="47"/>
        <pc:sldMkLst>
          <pc:docMk/>
          <pc:sldMk cId="0" sldId="274"/>
        </pc:sldMkLst>
      </pc:sldChg>
      <pc:sldChg chg="delSp mod modNotesTx">
        <pc:chgData name="Evie Kim" userId="18d5a620977eb465" providerId="LiveId" clId="{7052E085-7E63-4898-80EF-85EBC509972C}" dt="2026-07-01T20:36:49.638" v="10789" actId="20577"/>
        <pc:sldMkLst>
          <pc:docMk/>
          <pc:sldMk cId="0" sldId="275"/>
        </pc:sldMkLst>
        <pc:spChg chg="del">
          <ac:chgData name="Evie Kim" userId="18d5a620977eb465" providerId="LiveId" clId="{7052E085-7E63-4898-80EF-85EBC509972C}" dt="2026-07-01T20:35:43.470" v="10539" actId="478"/>
          <ac:spMkLst>
            <pc:docMk/>
            <pc:sldMk cId="0" sldId="275"/>
            <ac:spMk id="13" creationId="{00000000-0000-0000-0000-000000000000}"/>
          </ac:spMkLst>
        </pc:spChg>
      </pc:sldChg>
    </pc:docChg>
  </pc:docChgLst>
  <pc:docChgLst>
    <pc:chgData name="Evie Kim" userId="18d5a620977eb465" providerId="LiveId" clId="{B7F8BB23-3DF8-4569-846E-E27067E88342}"/>
    <pc:docChg chg="modSld">
      <pc:chgData name="Evie Kim" userId="18d5a620977eb465" providerId="LiveId" clId="{B7F8BB23-3DF8-4569-846E-E27067E88342}" dt="2026-07-02T00:24:59.766" v="1" actId="20577"/>
      <pc:docMkLst>
        <pc:docMk/>
      </pc:docMkLst>
      <pc:sldChg chg="modNotesTx">
        <pc:chgData name="Evie Kim" userId="18d5a620977eb465" providerId="LiveId" clId="{B7F8BB23-3DF8-4569-846E-E27067E88342}" dt="2026-07-02T00:24:59.766" v="1" actId="20577"/>
        <pc:sldMkLst>
          <pc:docMk/>
          <pc:sldMk cId="0" sldId="256"/>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_102_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2026</c:v>
                </c:pt>
              </c:strCache>
            </c:strRef>
          </c:tx>
          <c:spPr>
            <a:solidFill>
              <a:srgbClr val="6C4FD6"/>
            </a:solidFill>
            <a:effectLst/>
          </c:spPr>
          <c:invertIfNegative val="0"/>
          <c:dLbls>
            <c:numFmt formatCode="&quot;$&quot;0.00&quot;B&quot;"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Clinical NLP
Platforms</c:v>
                </c:pt>
                <c:pt idx="1">
                  <c:v>NLP in
Healthcare</c:v>
                </c:pt>
              </c:strCache>
            </c:strRef>
          </c:cat>
          <c:val>
            <c:numRef>
              <c:f>Sheet1!$B$2:$B$3</c:f>
              <c:numCache>
                <c:formatCode>General</c:formatCode>
                <c:ptCount val="2"/>
                <c:pt idx="0">
                  <c:v>2.46</c:v>
                </c:pt>
                <c:pt idx="1">
                  <c:v>5.62</c:v>
                </c:pt>
              </c:numCache>
            </c:numRef>
          </c:val>
          <c:extLst>
            <c:ext xmlns:c16="http://schemas.microsoft.com/office/drawing/2014/chart" uri="{C3380CC4-5D6E-409C-BE32-E72D297353CC}">
              <c16:uniqueId val="{00000000-980E-4ACB-8B14-8D891E224DE3}"/>
            </c:ext>
          </c:extLst>
        </c:ser>
        <c:ser>
          <c:idx val="1"/>
          <c:order val="1"/>
          <c:tx>
            <c:strRef>
              <c:f>Sheet1!$C$1</c:f>
              <c:strCache>
                <c:ptCount val="1"/>
                <c:pt idx="0">
                  <c:v>2034</c:v>
                </c:pt>
              </c:strCache>
            </c:strRef>
          </c:tx>
          <c:spPr>
            <a:solidFill>
              <a:srgbClr val="2D8FCF"/>
            </a:solidFill>
            <a:effectLst/>
          </c:spPr>
          <c:invertIfNegative val="0"/>
          <c:dLbls>
            <c:numFmt formatCode="&quot;$&quot;0.00&quot;B&quot;"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Clinical NLP
Platforms</c:v>
                </c:pt>
                <c:pt idx="1">
                  <c:v>NLP in
Healthcare</c:v>
                </c:pt>
              </c:strCache>
            </c:strRef>
          </c:cat>
          <c:val>
            <c:numRef>
              <c:f>Sheet1!$C$2:$C$3</c:f>
              <c:numCache>
                <c:formatCode>General</c:formatCode>
                <c:ptCount val="2"/>
                <c:pt idx="0">
                  <c:v>13.15</c:v>
                </c:pt>
                <c:pt idx="1">
                  <c:v>36.71</c:v>
                </c:pt>
              </c:numCache>
            </c:numRef>
          </c:val>
          <c:extLst>
            <c:ext xmlns:c16="http://schemas.microsoft.com/office/drawing/2014/chart" uri="{C3380CC4-5D6E-409C-BE32-E72D297353CC}">
              <c16:uniqueId val="{00000001-980E-4ACB-8B14-8D891E224DE3}"/>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2E2E45"/>
            </a:solidFill>
            <a:prstDash val="solid"/>
            <a:round/>
          </a:ln>
        </c:spPr>
        <c:txPr>
          <a:bodyPr/>
          <a:lstStyle/>
          <a:p>
            <a:pPr>
              <a:defRPr sz="1000" b="0" i="0" u="none" strike="noStrike">
                <a:solidFill>
                  <a:srgbClr val="C9CCE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A2A3D"/>
              </a:solidFill>
              <a:prstDash val="solid"/>
              <a:round/>
            </a:ln>
          </c:spPr>
        </c:majorGridlines>
        <c:numFmt formatCode="General" sourceLinked="0"/>
        <c:majorTickMark val="out"/>
        <c:minorTickMark val="none"/>
        <c:tickLblPos val="nextTo"/>
        <c:spPr>
          <a:ln w="12700" cap="flat">
            <a:solidFill>
              <a:srgbClr val="2E2E45"/>
            </a:solidFill>
            <a:prstDash val="solid"/>
            <a:round/>
          </a:ln>
        </c:spPr>
        <c:txPr>
          <a:bodyPr/>
          <a:lstStyle/>
          <a:p>
            <a:pPr>
              <a:defRPr sz="900" b="0" i="0" u="none" strike="noStrike">
                <a:solidFill>
                  <a:srgbClr val="C9CCE6"/>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C9CCE6"/>
              </a:solidFill>
            </a:defRPr>
          </a:pPr>
          <a:endParaRPr lang="en-US"/>
        </a:p>
      </c:txPr>
    </c:legend>
    <c:plotVisOnly val="1"/>
    <c:dispBlanksAs val="span"/>
    <c:showDLblsOverMax val="1"/>
  </c:chart>
  <c:spPr>
    <a:solidFill>
      <a:srgbClr val="131320"/>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1209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Hello, my name is Evie and I will be discussing my research on how clinical Natural Language Processing is evolving and what it means strategically for Cotiviti.</a:t>
            </a:r>
          </a:p>
          <a:p>
            <a:endParaRPr lang="en-US"/>
          </a:p>
          <a:p>
            <a:r>
              <a:rPr lang="en-US"/>
              <a:t>Along with an overview of my written report, I will also talk about my working prototype of a retrieval-augmented generation system that helps medical coders find and justify ICD-10 codes in real time.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first we have to ask the question, “Why does Clinical NLP matter”. To start with the big number on the screen, roughly 80% of healthcare data lives in unstructured text. This includes physician notes, discharge summaries, and lab reports.</a:t>
            </a:r>
          </a:p>
          <a:p>
            <a:endParaRPr lang="en-US"/>
          </a:p>
          <a:p>
            <a:r>
              <a:rPr lang="en-US"/>
              <a:t>Risk adjustment, medical coding, and population health all depend on pulling signal out of that text. How we have solved this problem has changed a lot over time. NLP has moved from rule-based systems, to machine learning, to LLMs today</a:t>
            </a:r>
          </a:p>
          <a:p>
            <a:endParaRPr lang="en-US"/>
          </a:p>
          <a:p>
            <a:r>
              <a:rPr lang="en-US"/>
              <a:t>What’s notable about what we have today is that the LLMs can extract, summarize, and reason with very minimal fine-tuning. This lowers the barrier to actually using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Clinical NLP platforms market is projected to grow from 2.4 to 13.15 billion dollars by 2034, which is a compound annual growth rate of 23.33 percent.</a:t>
            </a:r>
          </a:p>
          <a:p>
            <a:endParaRPr lang="en-US"/>
          </a:p>
          <a:p>
            <a:r>
              <a:rPr lang="en-US"/>
              <a:t>The broader NLP in Healthcare market is growing from 5.62 to 36.71 billion dollars  by 2034, which is a compound annual growth rate of 26.45 percent. This is an even faster growth!</a:t>
            </a:r>
          </a:p>
          <a:p>
            <a:endParaRPr lang="en-US"/>
          </a:p>
          <a:p>
            <a:r>
              <a:rPr lang="en-US"/>
              <a:t>Whatever Cotiviti invests here is investing into a category that is only accelerating in a positive direction.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Additionally, there are three other trends worth mentioning. First, general-purpose language models with good prompting now match specialized clinical models. And this is without the cost of fine-tuning a custom model, which significantly lowers the barrier to entry.</a:t>
            </a:r>
          </a:p>
          <a:p>
            <a:endParaRPr lang="en-US"/>
          </a:p>
          <a:p>
            <a:r>
              <a:rPr lang="en-US"/>
              <a:t>Second, we are seeing multimodal convergence, which is models that can reason across text, images, and signals together. This allows the opportunity to things like scanned charts and faxed documents, rather than just typed notes.</a:t>
            </a:r>
          </a:p>
          <a:p>
            <a:endParaRPr lang="en-US"/>
          </a:p>
          <a:p>
            <a:r>
              <a:rPr lang="en-US"/>
              <a:t>Finally, Agentic AI are systems that can retrieve evidence, use tools, and complete multi-step tasks. Given that Cotiviti has open job positions that reference agentic AI, I can assume that this is already a direction that the company is looking to grow.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Given that, here are 4 opportunities for Cotiviti. First, we can enhance the NLP in Pre-Visit Prep and Member Suspecting with LLM-based reasoning. This would improve the accuracy and make the output explainable rather than a black box.</a:t>
            </a:r>
          </a:p>
          <a:p>
            <a:endParaRPr lang="en-US"/>
          </a:p>
          <a:p>
            <a:r>
              <a:rPr lang="en-US"/>
              <a:t>We could also look into a multimodal clinical intelligence platform. This would extend into scanned charts, faxes, and images for a more holistic view of the patient.</a:t>
            </a:r>
          </a:p>
          <a:p>
            <a:endParaRPr lang="en-US"/>
          </a:p>
          <a:p>
            <a:r>
              <a:rPr lang="en-US"/>
              <a:t>Third, we could have agentic AI for proactive risk adjustment. These systems would continuously monitor patient populations and flag documentations gaps.</a:t>
            </a:r>
          </a:p>
          <a:p>
            <a:endParaRPr lang="en-US"/>
          </a:p>
          <a:p>
            <a:r>
              <a:rPr lang="en-US"/>
              <a:t>Finally, a real-time RAG-powered coder decision support during chart review. This was the most concrete and buildable idea, so I decided to make this my proof of concept.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I go into the Proof of Concept, I wanted to talk about the risks. First of all, LLMs can generate incorrect answers, so clinician oversight would be required. </a:t>
            </a:r>
          </a:p>
          <a:p>
            <a:endParaRPr lang="en-US"/>
          </a:p>
          <a:p>
            <a:r>
              <a:rPr lang="en-US"/>
              <a:t>Also, training on protected health information would require approaches like differential privacy, federated learning, or on-premise deployment to address privacy concerns.</a:t>
            </a:r>
          </a:p>
          <a:p>
            <a:endParaRPr lang="en-US"/>
          </a:p>
          <a:p>
            <a:r>
              <a:rPr lang="en-US"/>
              <a:t>Third, big tech companies and startups are very rapidly moving into this space, so Cotiviti needs to continue acting on their advantage in domain expertise and existing health plan relationships.</a:t>
            </a:r>
          </a:p>
          <a:p>
            <a:endParaRPr lang="en-US"/>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are my three phased recommendations. Each phase is designed to build on the one before it.</a:t>
            </a:r>
          </a:p>
          <a:p>
            <a:endParaRPr lang="en-US"/>
          </a:p>
          <a:p>
            <a:r>
              <a:rPr lang="en-US"/>
              <a:t>Phase 1 would be the LLM enhancement. This would be upgrading Pre-Visit Prep and Member Suspecting with LLM-based reasoning. It builds directly on pipelines that already exist, so this is a low risk and high return on investment.</a:t>
            </a:r>
          </a:p>
          <a:p>
            <a:endParaRPr lang="en-US"/>
          </a:p>
          <a:p>
            <a:r>
              <a:rPr lang="en-US"/>
              <a:t>Phase 2: the multimodal intelligence platform. We would bring in computer vision for documents and images. This might be through a partnership with a specialized vendor if easiest.</a:t>
            </a:r>
          </a:p>
          <a:p>
            <a:endParaRPr lang="en-US"/>
          </a:p>
          <a:p>
            <a:r>
              <a:rPr lang="en-US"/>
              <a:t>And phase 3: we’d build agentic AI for risk adjustment. The systems that proactively identify opportunities and suggest coding changes with less manual prompting.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my working proof of concept for a RAG-powered coder decision support. It is called the Agentic RAG for Risk Adjustment Decision Support.</a:t>
            </a:r>
          </a:p>
          <a:p>
            <a:endParaRPr lang="en-US"/>
          </a:p>
          <a:p>
            <a:r>
              <a:rPr lang="en-US"/>
              <a:t>The idea is to ground a language models’ answer in evidence it actually retrieves, not just what it knows from training. It ingests unstructured clinical notes, retrieves relevant evidence, and helps a coder reason about ICD-10 capture</a:t>
            </a:r>
          </a:p>
          <a:p>
            <a:endParaRPr lang="en-US"/>
          </a:p>
          <a:p>
            <a:r>
              <a:rPr lang="en-US"/>
              <a:t>It’s not just a chatbot. The retrieval is fully transparent, every answer comes with a confidences score, and it’s human-in-the-loop by design.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End to end, clinical notes first come in as text or PDF. Then, a document processor chunks it and extracts entities like ICD-10 codes, medications, and labs. These chunks get embedded using Sentence-BERT and indexed in a fast similarity-search library by the vector store.</a:t>
            </a:r>
          </a:p>
          <a:p>
            <a:endParaRPr lang="en-US"/>
          </a:p>
          <a:p>
            <a:r>
              <a:rPr lang="en-US"/>
              <a:t>So, when a coder asks a question, the RAG agent retrieves the most relevant chunks, generates an answer, evaluates its own confidence, and suggests next actions.</a:t>
            </a:r>
          </a:p>
          <a:p>
            <a:endParaRPr lang="en-US"/>
          </a:p>
          <a:p>
            <a:r>
              <a:rPr lang="en-US"/>
              <a:t>This is all put together in a </a:t>
            </a:r>
            <a:r>
              <a:rPr lang="en-US" err="1"/>
              <a:t>Gradio</a:t>
            </a:r>
            <a:r>
              <a:rPr lang="en-US"/>
              <a:t> web interface where generation happens fully locally through a local LLM. No cloud API is involved, so this addresses the privacy risk that I mentioned earlier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actual agentic part of the RAG agent runs a four-step loop every time it is asked a question. </a:t>
            </a:r>
          </a:p>
          <a:p>
            <a:endParaRPr lang="en-US"/>
          </a:p>
          <a:p>
            <a:r>
              <a:rPr lang="en-US"/>
              <a:t>It first performs a semantic search to surface the top 3 most relevant chart excerpts.</a:t>
            </a:r>
          </a:p>
          <a:p>
            <a:endParaRPr lang="en-US"/>
          </a:p>
          <a:p>
            <a:r>
              <a:rPr lang="en-US"/>
              <a:t>Then, the local model drafts an answer grounded in that evidence. This is run at a low temperature for consistency</a:t>
            </a:r>
          </a:p>
          <a:p>
            <a:endParaRPr lang="en-US"/>
          </a:p>
          <a:p>
            <a:r>
              <a:rPr lang="en-US"/>
              <a:t>Third, it scores its own confidence by high, medium, or low. This is based on how strong the  retrieval match was.</a:t>
            </a:r>
          </a:p>
          <a:p>
            <a:endParaRPr lang="en-US"/>
          </a:p>
          <a:p>
            <a:r>
              <a:rPr lang="en-US"/>
              <a:t>Finally, it recommends next steps. For example, cross-checking a code or flagging a documentation gap. Every single response ends with a reminder to route back to a human for review. I wanted this model to only support a coder, not replace them.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are a few key design decisions I made for this project. First, I used a general-purpose LLM with prompt engineering rather than fine-tuning a model to mirror the market trend that I mentioned earlier. </a:t>
            </a:r>
          </a:p>
          <a:p>
            <a:endParaRPr lang="en-US"/>
          </a:p>
          <a:p>
            <a:r>
              <a:rPr lang="en-US"/>
              <a:t>Second, entity extraction is done with regex and kept visible so this design can be transparent and auditable.</a:t>
            </a:r>
          </a:p>
          <a:p>
            <a:endParaRPr lang="en-US"/>
          </a:p>
          <a:p>
            <a:r>
              <a:rPr lang="en-US"/>
              <a:t>Third, the LLM runs through </a:t>
            </a:r>
            <a:r>
              <a:rPr lang="en-US" err="1"/>
              <a:t>Ollama</a:t>
            </a:r>
            <a:r>
              <a:rPr lang="en-US"/>
              <a:t>, which is local, so no protected health information ever leaves the local machine.</a:t>
            </a:r>
          </a:p>
          <a:p>
            <a:endParaRPr lang="en-US"/>
          </a:p>
          <a:p>
            <a:r>
              <a:rPr lang="en-US"/>
              <a:t>Also, all of the sample data that I used is synthetic. There is no real PHI involved anywhere in this project.</a:t>
            </a:r>
          </a:p>
          <a:p>
            <a:endParaRPr lang="en-US"/>
          </a:p>
          <a:p>
            <a:r>
              <a:rPr lang="en-US"/>
              <a:t>Finally, as I mentioned before, each answer includes a human-review suggestion.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compared what my written report recommended with what the prototype delivers. This is important to touch on because it shows how well the recommendation and delivery line up through my work.</a:t>
            </a:r>
          </a:p>
          <a:p>
            <a:endParaRPr lang="en-US"/>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I am going to pause this presentation to demo the </a:t>
            </a:r>
            <a:r>
              <a:rPr lang="en-US" err="1"/>
              <a:t>Gradio</a:t>
            </a:r>
            <a:r>
              <a:rPr lang="en-US"/>
              <a:t> interface of my proof of concept. I’ve loaded 5 synthetic patient charts, covering diabetes, COPD, postpartum depression, chronic kidney disease, and atrial fibrillation. I’ll ask a real coding question, so, “what ICD-10 codes apply to the diabetic patient with hypertension” for example.</a:t>
            </a:r>
          </a:p>
          <a:p>
            <a:endParaRPr lang="en-US"/>
          </a:p>
          <a:p>
            <a:r>
              <a:rPr lang="en-US"/>
              <a:t>You can see the agent retrieving evidence, generating an answer, scoring its confidence, and suggesting next actions.</a:t>
            </a:r>
          </a:p>
          <a:p>
            <a:endParaRPr lang="en-US"/>
          </a:p>
          <a:p>
            <a:endParaRPr lang="en-US"/>
          </a:p>
          <a:p>
            <a:r>
              <a:rPr lang="en-US"/>
              <a:t>So every answer traced back to a visible source chunk. The system told you how confident it was, not just what it thought the answer was. And you can see that the response routed back to a human coder for review. This is what human-in-the-loop, agentic AI actually looks like in practice.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project maps directly onto Medical Record Coding. This is a real-time guidance during chart review, which is exactly that solution area.</a:t>
            </a:r>
          </a:p>
          <a:p>
            <a:endParaRPr lang="en-US"/>
          </a:p>
          <a:p>
            <a:r>
              <a:rPr lang="en-US"/>
              <a:t>It also complements Pre-Visit Prep, due to the same underlying idea of surfacing evidence before a human makes a decision. </a:t>
            </a:r>
          </a:p>
          <a:p>
            <a:endParaRPr lang="en-US"/>
          </a:p>
          <a:p>
            <a:r>
              <a:rPr lang="en-US"/>
              <a:t>More broadly, it fits the shift towards agentic workflows.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I close, I wanted to briefly mention the gaps of this project that would need to be addressed if we wanted to turn this into a true company-level deliverable.</a:t>
            </a:r>
          </a:p>
          <a:p>
            <a:endParaRPr lang="en-US"/>
          </a:p>
          <a:p>
            <a:r>
              <a:rPr lang="en-US"/>
              <a:t>First, the data needs to change from synthetic sample notes to production chart data.</a:t>
            </a:r>
          </a:p>
          <a:p>
            <a:endParaRPr lang="en-US"/>
          </a:p>
          <a:p>
            <a:r>
              <a:rPr lang="en-US"/>
              <a:t>Second, the entity extraction should be changed from regex-based to a trained clinical NER model.</a:t>
            </a:r>
          </a:p>
          <a:p>
            <a:endParaRPr lang="en-US"/>
          </a:p>
          <a:p>
            <a:r>
              <a:rPr lang="en-US"/>
              <a:t>Third, we would need OCR for a scanned image. Currently PDF support only works when there’s a text layer.</a:t>
            </a:r>
          </a:p>
          <a:p>
            <a:endParaRPr lang="en-US"/>
          </a:p>
          <a:p>
            <a:r>
              <a:rPr lang="en-US"/>
              <a:t>Finally, this requires a local LLM runtime to generate answers.</a:t>
            </a:r>
          </a:p>
          <a:p>
            <a:endParaRPr lang="en-US"/>
          </a:p>
          <a:p>
            <a:r>
              <a:rPr lang="en-US"/>
              <a:t>As things stand right now, these limitations make sense for a proof of concept.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close, I just wanted to say that I do believe agentic approach is the direction that Cotiviti is already heading in, and I am excited for the chance to help build it. Thank you for listening.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6.jpg"/><Relationship Id="rId7"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21.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6.jpg"/><Relationship Id="rId7"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5.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3.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pic>
        <p:nvPicPr>
          <p:cNvPr id="2" name="Image 0" descr="glow/glow_blue2.jpg"/>
          <p:cNvPicPr>
            <a:picLocks noChangeAspect="1"/>
          </p:cNvPicPr>
          <p:nvPr/>
        </p:nvPicPr>
        <p:blipFill>
          <a:blip r:embed="rId3"/>
          <a:stretch>
            <a:fillRect/>
          </a:stretch>
        </p:blipFill>
        <p:spPr>
          <a:xfrm>
            <a:off x="3931920" y="-1463040"/>
            <a:ext cx="6858000" cy="5852160"/>
          </a:xfrm>
          <a:prstGeom prst="rect">
            <a:avLst/>
          </a:prstGeom>
        </p:spPr>
      </p:pic>
      <p:sp>
        <p:nvSpPr>
          <p:cNvPr id="3" name="Text 0"/>
          <p:cNvSpPr/>
          <p:nvPr/>
        </p:nvSpPr>
        <p:spPr>
          <a:xfrm>
            <a:off x="548640" y="1051560"/>
            <a:ext cx="7589520" cy="1371600"/>
          </a:xfrm>
          <a:prstGeom prst="rect">
            <a:avLst/>
          </a:prstGeom>
          <a:noFill/>
          <a:ln/>
        </p:spPr>
        <p:txBody>
          <a:bodyPr wrap="square" lIns="0" tIns="0" rIns="0" bIns="0" rtlCol="0" anchor="t"/>
          <a:lstStyle/>
          <a:p>
            <a:pPr marL="0" indent="0">
              <a:lnSpc>
                <a:spcPct val="105000"/>
              </a:lnSpc>
              <a:buNone/>
            </a:pPr>
            <a:r>
              <a:rPr lang="en-US" sz="3200" b="1">
                <a:solidFill>
                  <a:srgbClr val="FFFFFF"/>
                </a:solidFill>
                <a:latin typeface="Calibri" pitchFamily="34" charset="0"/>
                <a:ea typeface="Calibri" pitchFamily="34" charset="-122"/>
                <a:cs typeface="Calibri" pitchFamily="34" charset="-120"/>
              </a:rPr>
              <a:t>Clinical Natural Language Technology</a:t>
            </a:r>
            <a:endParaRPr lang="en-US" sz="3200"/>
          </a:p>
          <a:p>
            <a:pPr marL="0" indent="0">
              <a:lnSpc>
                <a:spcPct val="105000"/>
              </a:lnSpc>
              <a:buNone/>
            </a:pPr>
            <a:r>
              <a:rPr lang="en-US" sz="3200" b="1">
                <a:solidFill>
                  <a:srgbClr val="FFFFFF"/>
                </a:solidFill>
                <a:latin typeface="Calibri" pitchFamily="34" charset="0"/>
                <a:ea typeface="Calibri" pitchFamily="34" charset="-122"/>
                <a:cs typeface="Calibri" pitchFamily="34" charset="-120"/>
              </a:rPr>
              <a:t>for Health Care</a:t>
            </a:r>
            <a:endParaRPr lang="en-US" sz="3200"/>
          </a:p>
        </p:txBody>
      </p:sp>
      <p:sp>
        <p:nvSpPr>
          <p:cNvPr id="4" name="Text 1"/>
          <p:cNvSpPr/>
          <p:nvPr/>
        </p:nvSpPr>
        <p:spPr>
          <a:xfrm>
            <a:off x="548640" y="2395728"/>
            <a:ext cx="7315200" cy="457200"/>
          </a:xfrm>
          <a:prstGeom prst="rect">
            <a:avLst/>
          </a:prstGeom>
          <a:noFill/>
          <a:ln/>
        </p:spPr>
        <p:txBody>
          <a:bodyPr wrap="square" lIns="0" tIns="0" rIns="0" bIns="0" rtlCol="0" anchor="ctr"/>
          <a:lstStyle/>
          <a:p>
            <a:pPr marL="0" indent="0">
              <a:buNone/>
            </a:pPr>
            <a:r>
              <a:rPr lang="en-US" sz="1700" i="1">
                <a:solidFill>
                  <a:srgbClr val="2D8FCF"/>
                </a:solidFill>
                <a:latin typeface="Calibri" pitchFamily="34" charset="0"/>
                <a:ea typeface="Calibri" pitchFamily="34" charset="-122"/>
                <a:cs typeface="Calibri" pitchFamily="34" charset="-120"/>
              </a:rPr>
              <a:t>Research, Strategy, and a Working Proof of Concept</a:t>
            </a:r>
            <a:endParaRPr lang="en-US" sz="1700"/>
          </a:p>
        </p:txBody>
      </p:sp>
      <p:sp>
        <p:nvSpPr>
          <p:cNvPr id="5" name="Shape 2"/>
          <p:cNvSpPr/>
          <p:nvPr/>
        </p:nvSpPr>
        <p:spPr>
          <a:xfrm>
            <a:off x="566928" y="3063240"/>
            <a:ext cx="1463040" cy="0"/>
          </a:xfrm>
          <a:prstGeom prst="line">
            <a:avLst/>
          </a:prstGeom>
          <a:noFill/>
          <a:ln w="25400">
            <a:solidFill>
              <a:srgbClr val="2D8FCF"/>
            </a:solidFill>
            <a:prstDash val="solid"/>
          </a:ln>
        </p:spPr>
        <p:txBody>
          <a:bodyPr/>
          <a:lstStyle/>
          <a:p>
            <a:endParaRPr lang="en-US"/>
          </a:p>
        </p:txBody>
      </p:sp>
      <p:sp>
        <p:nvSpPr>
          <p:cNvPr id="6" name="Text 3"/>
          <p:cNvSpPr/>
          <p:nvPr/>
        </p:nvSpPr>
        <p:spPr>
          <a:xfrm>
            <a:off x="548640" y="3246120"/>
            <a:ext cx="6400800" cy="320040"/>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Evelyne (Evie) Kim  |  Johns Hopkins University</a:t>
            </a:r>
            <a:endParaRPr lang="en-US" sz="1400"/>
          </a:p>
        </p:txBody>
      </p:sp>
      <p:sp>
        <p:nvSpPr>
          <p:cNvPr id="9" name="Text 5"/>
          <p:cNvSpPr/>
          <p:nvPr/>
        </p:nvSpPr>
        <p:spPr>
          <a:xfrm>
            <a:off x="8549640" y="4828032"/>
            <a:ext cx="274320" cy="228600"/>
          </a:xfrm>
          <a:prstGeom prst="rect">
            <a:avLst/>
          </a:prstGeom>
          <a:noFill/>
          <a:ln/>
        </p:spPr>
        <p:txBody>
          <a:bodyPr wrap="square" lIns="0" tIns="0" rIns="0" bIns="0" rtlCol="0" anchor="ctr"/>
          <a:lstStyle/>
          <a:p>
            <a:pPr marL="0" indent="0" algn="r">
              <a:buNone/>
            </a:pPr>
            <a:r>
              <a:rPr lang="en-US" sz="900">
                <a:solidFill>
                  <a:srgbClr val="C9CCE6"/>
                </a:solidFill>
                <a:latin typeface="Calibri" pitchFamily="34" charset="0"/>
                <a:ea typeface="Calibri" pitchFamily="34" charset="-122"/>
                <a:cs typeface="Calibri" pitchFamily="34" charset="-120"/>
              </a:rPr>
              <a:t>1</a:t>
            </a:r>
            <a:endParaRPr lang="en-US" sz="9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a:effectLst/>
      </p:bgPr>
    </p:bg>
    <p:spTree>
      <p:nvGrpSpPr>
        <p:cNvPr id="1" name=""/>
        <p:cNvGrpSpPr/>
        <p:nvPr/>
      </p:nvGrpSpPr>
      <p:grpSpPr>
        <a:xfrm>
          <a:off x="0" y="0"/>
          <a:ext cx="0" cy="0"/>
          <a:chOff x="0" y="0"/>
          <a:chExt cx="0" cy="0"/>
        </a:xfrm>
      </p:grpSpPr>
      <p:pic>
        <p:nvPicPr>
          <p:cNvPr id="2" name="Image 0" descr="glow/glow_blue.jpg"/>
          <p:cNvPicPr>
            <a:picLocks noChangeAspect="1"/>
          </p:cNvPicPr>
          <p:nvPr/>
        </p:nvPicPr>
        <p:blipFill>
          <a:blip r:embed="rId3"/>
          <a:stretch>
            <a:fillRect/>
          </a:stretch>
        </p:blipFill>
        <p:spPr>
          <a:xfrm>
            <a:off x="6675120" y="-1188720"/>
            <a:ext cx="4114800" cy="3474720"/>
          </a:xfrm>
          <a:prstGeom prst="rect">
            <a:avLst/>
          </a:prstGeom>
        </p:spPr>
      </p:pic>
      <p:sp>
        <p:nvSpPr>
          <p:cNvPr id="3" name="Text 0"/>
          <p:cNvSpPr/>
          <p:nvPr/>
        </p:nvSpPr>
        <p:spPr>
          <a:xfrm>
            <a:off x="457200" y="292608"/>
            <a:ext cx="6400800" cy="256032"/>
          </a:xfrm>
          <a:prstGeom prst="rect">
            <a:avLst/>
          </a:prstGeom>
          <a:noFill/>
          <a:ln/>
        </p:spPr>
        <p:txBody>
          <a:bodyPr wrap="square" lIns="0" tIns="0" rIns="0" bIns="0" rtlCol="0" anchor="ctr"/>
          <a:lstStyle/>
          <a:p>
            <a:pPr marL="0" indent="0">
              <a:buNone/>
            </a:pPr>
            <a:r>
              <a:rPr lang="en-US" sz="1100" b="1" kern="0" spc="200">
                <a:solidFill>
                  <a:srgbClr val="2D8FCF"/>
                </a:solidFill>
                <a:latin typeface="Calibri" pitchFamily="34" charset="0"/>
                <a:ea typeface="Calibri" pitchFamily="34" charset="-122"/>
                <a:cs typeface="Calibri" pitchFamily="34" charset="-120"/>
              </a:rPr>
              <a:t>RESEARCH OVERVIEW</a:t>
            </a:r>
            <a:endParaRPr lang="en-US" sz="1100"/>
          </a:p>
        </p:txBody>
      </p:sp>
      <p:sp>
        <p:nvSpPr>
          <p:cNvPr id="4" name="Text 1"/>
          <p:cNvSpPr/>
          <p:nvPr/>
        </p:nvSpPr>
        <p:spPr>
          <a:xfrm>
            <a:off x="457200" y="530352"/>
            <a:ext cx="8229600" cy="777240"/>
          </a:xfrm>
          <a:prstGeom prst="rect">
            <a:avLst/>
          </a:prstGeom>
          <a:noFill/>
          <a:ln/>
        </p:spPr>
        <p:txBody>
          <a:bodyPr wrap="square" lIns="0" tIns="0" rIns="0" bIns="0" rtlCol="0" anchor="t"/>
          <a:lstStyle/>
          <a:p>
            <a:pPr marL="0" indent="0">
              <a:lnSpc>
                <a:spcPct val="102000"/>
              </a:lnSpc>
              <a:buNone/>
            </a:pPr>
            <a:r>
              <a:rPr lang="en-US" sz="2700" b="1">
                <a:solidFill>
                  <a:srgbClr val="FFFFFF"/>
                </a:solidFill>
                <a:latin typeface="Calibri" pitchFamily="34" charset="0"/>
                <a:ea typeface="Calibri" pitchFamily="34" charset="-122"/>
                <a:cs typeface="Calibri" pitchFamily="34" charset="-120"/>
              </a:rPr>
              <a:t>Why Clinical NLP Matters for Risk Adjustment</a:t>
            </a:r>
            <a:endParaRPr lang="en-US" sz="2700"/>
          </a:p>
        </p:txBody>
      </p:sp>
      <p:sp>
        <p:nvSpPr>
          <p:cNvPr id="5" name="Text 2"/>
          <p:cNvSpPr/>
          <p:nvPr/>
        </p:nvSpPr>
        <p:spPr>
          <a:xfrm>
            <a:off x="457200" y="1600200"/>
            <a:ext cx="3017520" cy="1188720"/>
          </a:xfrm>
          <a:prstGeom prst="rect">
            <a:avLst/>
          </a:prstGeom>
          <a:noFill/>
          <a:ln/>
        </p:spPr>
        <p:txBody>
          <a:bodyPr wrap="square" lIns="0" tIns="0" rIns="0" bIns="0" rtlCol="0" anchor="ctr"/>
          <a:lstStyle/>
          <a:p>
            <a:pPr marL="0" indent="0" algn="l">
              <a:buNone/>
            </a:pPr>
            <a:r>
              <a:rPr lang="en-US" sz="7200" b="1">
                <a:solidFill>
                  <a:srgbClr val="2D8FCF"/>
                </a:solidFill>
                <a:latin typeface="Calibri" pitchFamily="34" charset="0"/>
                <a:ea typeface="Calibri" pitchFamily="34" charset="-122"/>
                <a:cs typeface="Calibri" pitchFamily="34" charset="-120"/>
              </a:rPr>
              <a:t>~80%</a:t>
            </a:r>
            <a:endParaRPr lang="en-US" sz="7200"/>
          </a:p>
        </p:txBody>
      </p:sp>
      <p:sp>
        <p:nvSpPr>
          <p:cNvPr id="6" name="Text 3"/>
          <p:cNvSpPr/>
          <p:nvPr/>
        </p:nvSpPr>
        <p:spPr>
          <a:xfrm>
            <a:off x="457200" y="2788920"/>
            <a:ext cx="2834640" cy="1097280"/>
          </a:xfrm>
          <a:prstGeom prst="rect">
            <a:avLst/>
          </a:prstGeom>
          <a:noFill/>
          <a:ln/>
        </p:spPr>
        <p:txBody>
          <a:bodyPr wrap="square" lIns="0" tIns="0" rIns="0" bIns="0" rtlCol="0" anchor="ctr"/>
          <a:lstStyle/>
          <a:p>
            <a:pPr marL="0" indent="0">
              <a:lnSpc>
                <a:spcPct val="115000"/>
              </a:lnSpc>
              <a:buNone/>
            </a:pPr>
            <a:r>
              <a:rPr lang="en-US" sz="1300">
                <a:solidFill>
                  <a:srgbClr val="C9CCE6"/>
                </a:solidFill>
                <a:latin typeface="Calibri" pitchFamily="34" charset="0"/>
                <a:ea typeface="Calibri" pitchFamily="34" charset="-122"/>
                <a:cs typeface="Calibri" pitchFamily="34" charset="-120"/>
              </a:rPr>
              <a:t>of healthcare data is unstructured (physician notes, discharge summaries, lab reports).</a:t>
            </a:r>
            <a:endParaRPr lang="en-US" sz="1300"/>
          </a:p>
        </p:txBody>
      </p:sp>
      <p:sp>
        <p:nvSpPr>
          <p:cNvPr id="7" name="Shape 4"/>
          <p:cNvSpPr/>
          <p:nvPr/>
        </p:nvSpPr>
        <p:spPr>
          <a:xfrm>
            <a:off x="3794760" y="1600200"/>
            <a:ext cx="420624" cy="420624"/>
          </a:xfrm>
          <a:prstGeom prst="ellipse">
            <a:avLst/>
          </a:prstGeom>
          <a:solidFill>
            <a:srgbClr val="2D8FCF"/>
          </a:solidFill>
          <a:ln/>
        </p:spPr>
        <p:txBody>
          <a:bodyPr/>
          <a:lstStyle/>
          <a:p>
            <a:endParaRPr lang="en-US"/>
          </a:p>
        </p:txBody>
      </p:sp>
      <p:pic>
        <p:nvPicPr>
          <p:cNvPr id="8" name="Image 1" descr="icons/filealt.png"/>
          <p:cNvPicPr>
            <a:picLocks noChangeAspect="1"/>
          </p:cNvPicPr>
          <p:nvPr/>
        </p:nvPicPr>
        <p:blipFill>
          <a:blip r:embed="rId4"/>
          <a:stretch>
            <a:fillRect/>
          </a:stretch>
        </p:blipFill>
        <p:spPr>
          <a:xfrm>
            <a:off x="3895710" y="1701150"/>
            <a:ext cx="218724" cy="218724"/>
          </a:xfrm>
          <a:prstGeom prst="rect">
            <a:avLst/>
          </a:prstGeom>
        </p:spPr>
      </p:pic>
      <p:sp>
        <p:nvSpPr>
          <p:cNvPr id="9" name="Text 5"/>
          <p:cNvSpPr/>
          <p:nvPr/>
        </p:nvSpPr>
        <p:spPr>
          <a:xfrm>
            <a:off x="4398264" y="1572768"/>
            <a:ext cx="4288536" cy="274320"/>
          </a:xfrm>
          <a:prstGeom prst="rect">
            <a:avLst/>
          </a:prstGeom>
          <a:noFill/>
          <a:ln/>
        </p:spPr>
        <p:txBody>
          <a:bodyPr wrap="square" lIns="0" tIns="0" rIns="0" bIns="0" rtlCol="0" anchor="t"/>
          <a:lstStyle/>
          <a:p>
            <a:pPr marL="0" indent="0">
              <a:buNone/>
            </a:pPr>
            <a:r>
              <a:rPr lang="en-US" sz="1300" b="1">
                <a:solidFill>
                  <a:srgbClr val="FFFFFF"/>
                </a:solidFill>
                <a:latin typeface="Calibri" pitchFamily="34" charset="0"/>
                <a:ea typeface="Calibri" pitchFamily="34" charset="-122"/>
                <a:cs typeface="Calibri" pitchFamily="34" charset="-120"/>
              </a:rPr>
              <a:t>Locked in Free Text</a:t>
            </a:r>
            <a:endParaRPr lang="en-US" sz="1300"/>
          </a:p>
        </p:txBody>
      </p:sp>
      <p:sp>
        <p:nvSpPr>
          <p:cNvPr id="10" name="Text 6"/>
          <p:cNvSpPr/>
          <p:nvPr/>
        </p:nvSpPr>
        <p:spPr>
          <a:xfrm>
            <a:off x="4398264" y="1856232"/>
            <a:ext cx="4288536" cy="667512"/>
          </a:xfrm>
          <a:prstGeom prst="rect">
            <a:avLst/>
          </a:prstGeom>
          <a:noFill/>
          <a:ln/>
        </p:spPr>
        <p:txBody>
          <a:bodyPr wrap="square" lIns="0" tIns="0" rIns="0" bIns="0" rtlCol="0" anchor="t"/>
          <a:lstStyle/>
          <a:p>
            <a:pPr marL="0" indent="0">
              <a:lnSpc>
                <a:spcPct val="108000"/>
              </a:lnSpc>
              <a:buNone/>
            </a:pPr>
            <a:r>
              <a:rPr lang="en-US" sz="1050">
                <a:solidFill>
                  <a:srgbClr val="C9CCE6"/>
                </a:solidFill>
                <a:latin typeface="Calibri" pitchFamily="34" charset="0"/>
                <a:ea typeface="Calibri" pitchFamily="34" charset="-122"/>
                <a:cs typeface="Calibri" pitchFamily="34" charset="-120"/>
              </a:rPr>
              <a:t>Risk adjustment, medical coding, and population health all depend on extracting signal from that text.</a:t>
            </a:r>
            <a:endParaRPr lang="en-US" sz="1050"/>
          </a:p>
        </p:txBody>
      </p:sp>
      <p:sp>
        <p:nvSpPr>
          <p:cNvPr id="11" name="Shape 7"/>
          <p:cNvSpPr/>
          <p:nvPr/>
        </p:nvSpPr>
        <p:spPr>
          <a:xfrm>
            <a:off x="3794760" y="2560320"/>
            <a:ext cx="420624" cy="420624"/>
          </a:xfrm>
          <a:prstGeom prst="ellipse">
            <a:avLst/>
          </a:prstGeom>
          <a:solidFill>
            <a:srgbClr val="2D8FCF"/>
          </a:solidFill>
          <a:ln/>
        </p:spPr>
        <p:txBody>
          <a:bodyPr/>
          <a:lstStyle/>
          <a:p>
            <a:endParaRPr lang="en-US"/>
          </a:p>
        </p:txBody>
      </p:sp>
      <p:pic>
        <p:nvPicPr>
          <p:cNvPr id="12" name="Image 2" descr="icons/brain.png"/>
          <p:cNvPicPr>
            <a:picLocks noChangeAspect="1"/>
          </p:cNvPicPr>
          <p:nvPr/>
        </p:nvPicPr>
        <p:blipFill>
          <a:blip r:embed="rId5"/>
          <a:stretch>
            <a:fillRect/>
          </a:stretch>
        </p:blipFill>
        <p:spPr>
          <a:xfrm>
            <a:off x="3895710" y="2661270"/>
            <a:ext cx="218724" cy="218724"/>
          </a:xfrm>
          <a:prstGeom prst="rect">
            <a:avLst/>
          </a:prstGeom>
        </p:spPr>
      </p:pic>
      <p:sp>
        <p:nvSpPr>
          <p:cNvPr id="13" name="Text 8"/>
          <p:cNvSpPr/>
          <p:nvPr/>
        </p:nvSpPr>
        <p:spPr>
          <a:xfrm>
            <a:off x="4398264" y="2532888"/>
            <a:ext cx="4288536" cy="274320"/>
          </a:xfrm>
          <a:prstGeom prst="rect">
            <a:avLst/>
          </a:prstGeom>
          <a:noFill/>
          <a:ln/>
        </p:spPr>
        <p:txBody>
          <a:bodyPr wrap="square" lIns="0" tIns="0" rIns="0" bIns="0" rtlCol="0" anchor="t"/>
          <a:lstStyle/>
          <a:p>
            <a:pPr marL="0" indent="0">
              <a:buNone/>
            </a:pPr>
            <a:r>
              <a:rPr lang="en-US" sz="1300" b="1">
                <a:solidFill>
                  <a:srgbClr val="FFFFFF"/>
                </a:solidFill>
                <a:latin typeface="Calibri" pitchFamily="34" charset="0"/>
                <a:ea typeface="Calibri" pitchFamily="34" charset="-122"/>
                <a:cs typeface="Calibri" pitchFamily="34" charset="-120"/>
              </a:rPr>
              <a:t>From Rules to Reasoning</a:t>
            </a:r>
            <a:endParaRPr lang="en-US" sz="1300"/>
          </a:p>
        </p:txBody>
      </p:sp>
      <p:sp>
        <p:nvSpPr>
          <p:cNvPr id="14" name="Text 9"/>
          <p:cNvSpPr/>
          <p:nvPr/>
        </p:nvSpPr>
        <p:spPr>
          <a:xfrm>
            <a:off x="4398264" y="2816352"/>
            <a:ext cx="4288536" cy="667512"/>
          </a:xfrm>
          <a:prstGeom prst="rect">
            <a:avLst/>
          </a:prstGeom>
          <a:noFill/>
          <a:ln/>
        </p:spPr>
        <p:txBody>
          <a:bodyPr wrap="square" lIns="0" tIns="0" rIns="0" bIns="0" rtlCol="0" anchor="t"/>
          <a:lstStyle/>
          <a:p>
            <a:pPr marL="0" indent="0">
              <a:lnSpc>
                <a:spcPct val="108000"/>
              </a:lnSpc>
              <a:buNone/>
            </a:pPr>
            <a:r>
              <a:rPr lang="en-US" sz="1050">
                <a:solidFill>
                  <a:srgbClr val="C9CCE6"/>
                </a:solidFill>
                <a:latin typeface="Calibri" pitchFamily="34" charset="0"/>
                <a:ea typeface="Calibri" pitchFamily="34" charset="-122"/>
                <a:cs typeface="Calibri" pitchFamily="34" charset="-120"/>
              </a:rPr>
              <a:t>NLP has evolved: rule-based systems to statistical ML to large language models (LLMs).</a:t>
            </a:r>
            <a:endParaRPr lang="en-US" sz="1050"/>
          </a:p>
        </p:txBody>
      </p:sp>
      <p:sp>
        <p:nvSpPr>
          <p:cNvPr id="15" name="Shape 10"/>
          <p:cNvSpPr/>
          <p:nvPr/>
        </p:nvSpPr>
        <p:spPr>
          <a:xfrm>
            <a:off x="3794760" y="3520440"/>
            <a:ext cx="420624" cy="420624"/>
          </a:xfrm>
          <a:prstGeom prst="ellipse">
            <a:avLst/>
          </a:prstGeom>
          <a:solidFill>
            <a:srgbClr val="2D8FCF"/>
          </a:solidFill>
          <a:ln/>
        </p:spPr>
        <p:txBody>
          <a:bodyPr/>
          <a:lstStyle/>
          <a:p>
            <a:endParaRPr lang="en-US"/>
          </a:p>
        </p:txBody>
      </p:sp>
      <p:pic>
        <p:nvPicPr>
          <p:cNvPr id="16" name="Image 3" descr="icons/checkcircle.png"/>
          <p:cNvPicPr>
            <a:picLocks noChangeAspect="1"/>
          </p:cNvPicPr>
          <p:nvPr/>
        </p:nvPicPr>
        <p:blipFill>
          <a:blip r:embed="rId6"/>
          <a:stretch>
            <a:fillRect/>
          </a:stretch>
        </p:blipFill>
        <p:spPr>
          <a:xfrm>
            <a:off x="3895710" y="3621390"/>
            <a:ext cx="218724" cy="218724"/>
          </a:xfrm>
          <a:prstGeom prst="rect">
            <a:avLst/>
          </a:prstGeom>
        </p:spPr>
      </p:pic>
      <p:sp>
        <p:nvSpPr>
          <p:cNvPr id="17" name="Text 11"/>
          <p:cNvSpPr/>
          <p:nvPr/>
        </p:nvSpPr>
        <p:spPr>
          <a:xfrm>
            <a:off x="4398264" y="3493008"/>
            <a:ext cx="4288536" cy="274320"/>
          </a:xfrm>
          <a:prstGeom prst="rect">
            <a:avLst/>
          </a:prstGeom>
          <a:noFill/>
          <a:ln/>
        </p:spPr>
        <p:txBody>
          <a:bodyPr wrap="square" lIns="0" tIns="0" rIns="0" bIns="0" rtlCol="0" anchor="t"/>
          <a:lstStyle/>
          <a:p>
            <a:pPr marL="0" indent="0">
              <a:buNone/>
            </a:pPr>
            <a:r>
              <a:rPr lang="en-US" sz="1300" b="1">
                <a:solidFill>
                  <a:srgbClr val="FFFFFF"/>
                </a:solidFill>
                <a:latin typeface="Calibri" pitchFamily="34" charset="0"/>
                <a:ea typeface="Calibri" pitchFamily="34" charset="-122"/>
                <a:cs typeface="Calibri" pitchFamily="34" charset="-120"/>
              </a:rPr>
              <a:t>Minimal Fine-Tuning Needed</a:t>
            </a:r>
            <a:endParaRPr lang="en-US" sz="1300"/>
          </a:p>
        </p:txBody>
      </p:sp>
      <p:sp>
        <p:nvSpPr>
          <p:cNvPr id="18" name="Text 12"/>
          <p:cNvSpPr/>
          <p:nvPr/>
        </p:nvSpPr>
        <p:spPr>
          <a:xfrm>
            <a:off x="4398264" y="3776472"/>
            <a:ext cx="4288536" cy="667512"/>
          </a:xfrm>
          <a:prstGeom prst="rect">
            <a:avLst/>
          </a:prstGeom>
          <a:noFill/>
          <a:ln/>
        </p:spPr>
        <p:txBody>
          <a:bodyPr wrap="square" lIns="0" tIns="0" rIns="0" bIns="0" rtlCol="0" anchor="t"/>
          <a:lstStyle/>
          <a:p>
            <a:pPr marL="0" indent="0">
              <a:lnSpc>
                <a:spcPct val="108000"/>
              </a:lnSpc>
              <a:buNone/>
            </a:pPr>
            <a:r>
              <a:rPr lang="en-US" sz="1050">
                <a:solidFill>
                  <a:srgbClr val="C9CCE6"/>
                </a:solidFill>
                <a:latin typeface="Calibri" pitchFamily="34" charset="0"/>
                <a:ea typeface="Calibri" pitchFamily="34" charset="-122"/>
                <a:cs typeface="Calibri" pitchFamily="34" charset="-120"/>
              </a:rPr>
              <a:t>Today's LLMs extract, summarize, and reason with little to no fine-tuning.</a:t>
            </a:r>
            <a:endParaRPr lang="en-US" sz="1050"/>
          </a:p>
        </p:txBody>
      </p:sp>
      <p:sp>
        <p:nvSpPr>
          <p:cNvPr id="20" name="Text 13"/>
          <p:cNvSpPr/>
          <p:nvPr/>
        </p:nvSpPr>
        <p:spPr>
          <a:xfrm>
            <a:off x="8549640" y="4828032"/>
            <a:ext cx="274320" cy="228600"/>
          </a:xfrm>
          <a:prstGeom prst="rect">
            <a:avLst/>
          </a:prstGeom>
          <a:noFill/>
          <a:ln/>
        </p:spPr>
        <p:txBody>
          <a:bodyPr wrap="square" lIns="0" tIns="0" rIns="0" bIns="0" rtlCol="0" anchor="ctr"/>
          <a:lstStyle/>
          <a:p>
            <a:pPr marL="0" indent="0" algn="r">
              <a:buNone/>
            </a:pPr>
            <a:r>
              <a:rPr lang="en-US" sz="900">
                <a:solidFill>
                  <a:srgbClr val="C9CCE6"/>
                </a:solidFill>
                <a:latin typeface="Calibri" pitchFamily="34" charset="0"/>
                <a:ea typeface="Calibri" pitchFamily="34" charset="-122"/>
                <a:cs typeface="Calibri" pitchFamily="34" charset="-120"/>
              </a:rPr>
              <a:t>2</a:t>
            </a:r>
            <a:endParaRPr lang="en-US" sz="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a:effectLst/>
      </p:bgPr>
    </p:bg>
    <p:spTree>
      <p:nvGrpSpPr>
        <p:cNvPr id="1" name=""/>
        <p:cNvGrpSpPr/>
        <p:nvPr/>
      </p:nvGrpSpPr>
      <p:grpSpPr>
        <a:xfrm>
          <a:off x="0" y="0"/>
          <a:ext cx="0" cy="0"/>
          <a:chOff x="0" y="0"/>
          <a:chExt cx="0" cy="0"/>
        </a:xfrm>
      </p:grpSpPr>
      <p:pic>
        <p:nvPicPr>
          <p:cNvPr id="2" name="Image 0" descr="glow/glow_purple.jpg"/>
          <p:cNvPicPr>
            <a:picLocks noChangeAspect="1"/>
          </p:cNvPicPr>
          <p:nvPr/>
        </p:nvPicPr>
        <p:blipFill>
          <a:blip r:embed="rId3"/>
          <a:stretch>
            <a:fillRect/>
          </a:stretch>
        </p:blipFill>
        <p:spPr>
          <a:xfrm>
            <a:off x="-1828800" y="1828800"/>
            <a:ext cx="4572000" cy="3749040"/>
          </a:xfrm>
          <a:prstGeom prst="rect">
            <a:avLst/>
          </a:prstGeom>
        </p:spPr>
      </p:pic>
      <p:sp>
        <p:nvSpPr>
          <p:cNvPr id="3" name="Text 0"/>
          <p:cNvSpPr/>
          <p:nvPr/>
        </p:nvSpPr>
        <p:spPr>
          <a:xfrm>
            <a:off x="457200" y="292608"/>
            <a:ext cx="6400800" cy="256032"/>
          </a:xfrm>
          <a:prstGeom prst="rect">
            <a:avLst/>
          </a:prstGeom>
          <a:noFill/>
          <a:ln/>
        </p:spPr>
        <p:txBody>
          <a:bodyPr wrap="square" lIns="0" tIns="0" rIns="0" bIns="0" rtlCol="0" anchor="ctr"/>
          <a:lstStyle/>
          <a:p>
            <a:pPr marL="0" indent="0">
              <a:buNone/>
            </a:pPr>
            <a:r>
              <a:rPr lang="en-US" sz="1100" b="1" kern="0" spc="200">
                <a:solidFill>
                  <a:srgbClr val="2D8FCF"/>
                </a:solidFill>
                <a:latin typeface="Calibri" pitchFamily="34" charset="0"/>
                <a:ea typeface="Calibri" pitchFamily="34" charset="-122"/>
                <a:cs typeface="Calibri" pitchFamily="34" charset="-120"/>
              </a:rPr>
              <a:t>RESEARCH OVERVIEW</a:t>
            </a:r>
            <a:endParaRPr lang="en-US" sz="1100"/>
          </a:p>
        </p:txBody>
      </p:sp>
      <p:sp>
        <p:nvSpPr>
          <p:cNvPr id="4" name="Text 1"/>
          <p:cNvSpPr/>
          <p:nvPr/>
        </p:nvSpPr>
        <p:spPr>
          <a:xfrm>
            <a:off x="457200" y="530352"/>
            <a:ext cx="8229600" cy="777240"/>
          </a:xfrm>
          <a:prstGeom prst="rect">
            <a:avLst/>
          </a:prstGeom>
          <a:noFill/>
          <a:ln/>
        </p:spPr>
        <p:txBody>
          <a:bodyPr wrap="square" lIns="0" tIns="0" rIns="0" bIns="0" rtlCol="0" anchor="t"/>
          <a:lstStyle/>
          <a:p>
            <a:pPr marL="0" indent="0">
              <a:lnSpc>
                <a:spcPct val="102000"/>
              </a:lnSpc>
              <a:buNone/>
            </a:pPr>
            <a:r>
              <a:rPr lang="en-US" sz="2700" b="1">
                <a:solidFill>
                  <a:srgbClr val="FFFFFF"/>
                </a:solidFill>
                <a:latin typeface="Calibri" pitchFamily="34" charset="0"/>
                <a:ea typeface="Calibri" pitchFamily="34" charset="-122"/>
                <a:cs typeface="Calibri" pitchFamily="34" charset="-120"/>
              </a:rPr>
              <a:t>The Market Is Moving Fast!</a:t>
            </a:r>
            <a:endParaRPr lang="en-US" sz="2700"/>
          </a:p>
        </p:txBody>
      </p:sp>
      <p:graphicFrame>
        <p:nvGraphicFramePr>
          <p:cNvPr id="5" name="Chart 0"/>
          <p:cNvGraphicFramePr/>
          <p:nvPr/>
        </p:nvGraphicFramePr>
        <p:xfrm>
          <a:off x="411480" y="1417320"/>
          <a:ext cx="5257800" cy="288036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5943600" y="1463040"/>
            <a:ext cx="2743200" cy="1371600"/>
          </a:xfrm>
          <a:prstGeom prst="roundRect">
            <a:avLst>
              <a:gd name="adj" fmla="val 4667"/>
            </a:avLst>
          </a:prstGeom>
          <a:solidFill>
            <a:srgbClr val="131320"/>
          </a:solidFill>
          <a:ln w="12700">
            <a:solidFill>
              <a:srgbClr val="2E2E45"/>
            </a:solidFill>
            <a:prstDash val="solid"/>
          </a:ln>
        </p:spPr>
        <p:txBody>
          <a:bodyPr/>
          <a:lstStyle/>
          <a:p>
            <a:endParaRPr lang="en-US"/>
          </a:p>
        </p:txBody>
      </p:sp>
      <p:sp>
        <p:nvSpPr>
          <p:cNvPr id="7" name="Text 3"/>
          <p:cNvSpPr/>
          <p:nvPr/>
        </p:nvSpPr>
        <p:spPr>
          <a:xfrm>
            <a:off x="5943600" y="1600200"/>
            <a:ext cx="2743200" cy="594360"/>
          </a:xfrm>
          <a:prstGeom prst="rect">
            <a:avLst/>
          </a:prstGeom>
          <a:noFill/>
          <a:ln/>
        </p:spPr>
        <p:txBody>
          <a:bodyPr wrap="square" lIns="0" tIns="0" rIns="0" bIns="0" rtlCol="0" anchor="ctr"/>
          <a:lstStyle/>
          <a:p>
            <a:pPr marL="0" indent="0" algn="ctr">
              <a:buNone/>
            </a:pPr>
            <a:r>
              <a:rPr lang="en-US" sz="3000" b="1">
                <a:solidFill>
                  <a:srgbClr val="2D8FCF"/>
                </a:solidFill>
                <a:latin typeface="Calibri" pitchFamily="34" charset="0"/>
                <a:ea typeface="Calibri" pitchFamily="34" charset="-122"/>
                <a:cs typeface="Calibri" pitchFamily="34" charset="-120"/>
              </a:rPr>
              <a:t>23.33%</a:t>
            </a:r>
            <a:endParaRPr lang="en-US" sz="3000"/>
          </a:p>
        </p:txBody>
      </p:sp>
      <p:sp>
        <p:nvSpPr>
          <p:cNvPr id="8" name="Text 4"/>
          <p:cNvSpPr/>
          <p:nvPr/>
        </p:nvSpPr>
        <p:spPr>
          <a:xfrm>
            <a:off x="6080760" y="2212848"/>
            <a:ext cx="2468880" cy="548640"/>
          </a:xfrm>
          <a:prstGeom prst="rect">
            <a:avLst/>
          </a:prstGeom>
          <a:noFill/>
          <a:ln/>
        </p:spPr>
        <p:txBody>
          <a:bodyPr wrap="square" lIns="0" tIns="0" rIns="0" bIns="0" rtlCol="0" anchor="ctr"/>
          <a:lstStyle/>
          <a:p>
            <a:pPr marL="0" indent="0" algn="ctr">
              <a:lnSpc>
                <a:spcPct val="105000"/>
              </a:lnSpc>
              <a:buNone/>
            </a:pPr>
            <a:r>
              <a:rPr lang="en-US" sz="1000">
                <a:solidFill>
                  <a:srgbClr val="FFFFFF"/>
                </a:solidFill>
                <a:latin typeface="Calibri" pitchFamily="34" charset="0"/>
                <a:ea typeface="Calibri" pitchFamily="34" charset="-122"/>
                <a:cs typeface="Calibri" pitchFamily="34" charset="-120"/>
              </a:rPr>
              <a:t>CAGR - Clinical NLP Platforms Market</a:t>
            </a:r>
            <a:endParaRPr lang="en-US" sz="1000"/>
          </a:p>
        </p:txBody>
      </p:sp>
      <p:sp>
        <p:nvSpPr>
          <p:cNvPr id="9" name="Shape 5"/>
          <p:cNvSpPr/>
          <p:nvPr/>
        </p:nvSpPr>
        <p:spPr>
          <a:xfrm>
            <a:off x="5943600" y="3017520"/>
            <a:ext cx="2743200" cy="1371600"/>
          </a:xfrm>
          <a:prstGeom prst="roundRect">
            <a:avLst>
              <a:gd name="adj" fmla="val 4667"/>
            </a:avLst>
          </a:prstGeom>
          <a:solidFill>
            <a:srgbClr val="131320"/>
          </a:solidFill>
          <a:ln w="12700">
            <a:solidFill>
              <a:srgbClr val="2E2E45"/>
            </a:solidFill>
            <a:prstDash val="solid"/>
          </a:ln>
        </p:spPr>
        <p:txBody>
          <a:bodyPr/>
          <a:lstStyle/>
          <a:p>
            <a:endParaRPr lang="en-US"/>
          </a:p>
        </p:txBody>
      </p:sp>
      <p:sp>
        <p:nvSpPr>
          <p:cNvPr id="10" name="Text 6"/>
          <p:cNvSpPr/>
          <p:nvPr/>
        </p:nvSpPr>
        <p:spPr>
          <a:xfrm>
            <a:off x="5943600" y="3154680"/>
            <a:ext cx="2743200" cy="594360"/>
          </a:xfrm>
          <a:prstGeom prst="rect">
            <a:avLst/>
          </a:prstGeom>
          <a:noFill/>
          <a:ln/>
        </p:spPr>
        <p:txBody>
          <a:bodyPr wrap="square" lIns="0" tIns="0" rIns="0" bIns="0" rtlCol="0" anchor="ctr"/>
          <a:lstStyle/>
          <a:p>
            <a:pPr marL="0" indent="0" algn="ctr">
              <a:buNone/>
            </a:pPr>
            <a:r>
              <a:rPr lang="en-US" sz="3000" b="1">
                <a:solidFill>
                  <a:srgbClr val="2D8FCF"/>
                </a:solidFill>
                <a:latin typeface="Calibri" pitchFamily="34" charset="0"/>
                <a:ea typeface="Calibri" pitchFamily="34" charset="-122"/>
                <a:cs typeface="Calibri" pitchFamily="34" charset="-120"/>
              </a:rPr>
              <a:t>26.45%</a:t>
            </a:r>
            <a:endParaRPr lang="en-US" sz="3000"/>
          </a:p>
        </p:txBody>
      </p:sp>
      <p:sp>
        <p:nvSpPr>
          <p:cNvPr id="11" name="Text 7"/>
          <p:cNvSpPr/>
          <p:nvPr/>
        </p:nvSpPr>
        <p:spPr>
          <a:xfrm>
            <a:off x="6080760" y="3767328"/>
            <a:ext cx="2468880" cy="548640"/>
          </a:xfrm>
          <a:prstGeom prst="rect">
            <a:avLst/>
          </a:prstGeom>
          <a:noFill/>
          <a:ln/>
        </p:spPr>
        <p:txBody>
          <a:bodyPr wrap="square" lIns="0" tIns="0" rIns="0" bIns="0" rtlCol="0" anchor="ctr"/>
          <a:lstStyle/>
          <a:p>
            <a:pPr marL="0" indent="0" algn="ctr">
              <a:lnSpc>
                <a:spcPct val="105000"/>
              </a:lnSpc>
              <a:buNone/>
            </a:pPr>
            <a:r>
              <a:rPr lang="en-US" sz="1000">
                <a:solidFill>
                  <a:srgbClr val="FFFFFF"/>
                </a:solidFill>
                <a:latin typeface="Calibri" pitchFamily="34" charset="0"/>
                <a:ea typeface="Calibri" pitchFamily="34" charset="-122"/>
                <a:cs typeface="Calibri" pitchFamily="34" charset="-120"/>
              </a:rPr>
              <a:t>CAGR - Broader NLP in Healthcare Market</a:t>
            </a:r>
            <a:endParaRPr lang="en-US" sz="1000"/>
          </a:p>
        </p:txBody>
      </p:sp>
      <p:sp>
        <p:nvSpPr>
          <p:cNvPr id="12" name="Text 8"/>
          <p:cNvSpPr/>
          <p:nvPr/>
        </p:nvSpPr>
        <p:spPr>
          <a:xfrm>
            <a:off x="457200" y="4434840"/>
            <a:ext cx="4572000" cy="274320"/>
          </a:xfrm>
          <a:prstGeom prst="rect">
            <a:avLst/>
          </a:prstGeom>
          <a:noFill/>
          <a:ln/>
        </p:spPr>
        <p:txBody>
          <a:bodyPr wrap="square" lIns="0" tIns="0" rIns="0" bIns="0" rtlCol="0" anchor="ctr"/>
          <a:lstStyle/>
          <a:p>
            <a:pPr marL="0" indent="0">
              <a:buNone/>
            </a:pPr>
            <a:r>
              <a:rPr lang="en-US" sz="900" i="1">
                <a:solidFill>
                  <a:srgbClr val="C9CCE6"/>
                </a:solidFill>
                <a:latin typeface="Calibri" pitchFamily="34" charset="0"/>
                <a:ea typeface="Calibri" pitchFamily="34" charset="-122"/>
                <a:cs typeface="Calibri" pitchFamily="34" charset="-120"/>
              </a:rPr>
              <a:t>Source: Fortune Business Insights, 2026</a:t>
            </a:r>
            <a:endParaRPr lang="en-US" sz="900"/>
          </a:p>
        </p:txBody>
      </p:sp>
      <p:sp>
        <p:nvSpPr>
          <p:cNvPr id="14" name="Text 9"/>
          <p:cNvSpPr/>
          <p:nvPr/>
        </p:nvSpPr>
        <p:spPr>
          <a:xfrm>
            <a:off x="8549640" y="4828032"/>
            <a:ext cx="274320" cy="228600"/>
          </a:xfrm>
          <a:prstGeom prst="rect">
            <a:avLst/>
          </a:prstGeom>
          <a:noFill/>
          <a:ln/>
        </p:spPr>
        <p:txBody>
          <a:bodyPr wrap="square" lIns="0" tIns="0" rIns="0" bIns="0" rtlCol="0" anchor="ctr"/>
          <a:lstStyle/>
          <a:p>
            <a:pPr marL="0" indent="0" algn="r">
              <a:buNone/>
            </a:pPr>
            <a:r>
              <a:rPr lang="en-US" sz="900">
                <a:solidFill>
                  <a:srgbClr val="C9CCE6"/>
                </a:solidFill>
                <a:latin typeface="Calibri" pitchFamily="34" charset="0"/>
                <a:ea typeface="Calibri" pitchFamily="34" charset="-122"/>
                <a:cs typeface="Calibri" pitchFamily="34" charset="-120"/>
              </a:rPr>
              <a:t>3</a:t>
            </a:r>
            <a:endParaRPr lang="en-US" sz="9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a:effectLst/>
      </p:bgPr>
    </p:bg>
    <p:spTree>
      <p:nvGrpSpPr>
        <p:cNvPr id="1" name=""/>
        <p:cNvGrpSpPr/>
        <p:nvPr/>
      </p:nvGrpSpPr>
      <p:grpSpPr>
        <a:xfrm>
          <a:off x="0" y="0"/>
          <a:ext cx="0" cy="0"/>
          <a:chOff x="0" y="0"/>
          <a:chExt cx="0" cy="0"/>
        </a:xfrm>
      </p:grpSpPr>
      <p:pic>
        <p:nvPicPr>
          <p:cNvPr id="2" name="Image 0" descr="glow/glow_blue.jpg"/>
          <p:cNvPicPr>
            <a:picLocks noChangeAspect="1"/>
          </p:cNvPicPr>
          <p:nvPr/>
        </p:nvPicPr>
        <p:blipFill>
          <a:blip r:embed="rId3"/>
          <a:stretch>
            <a:fillRect/>
          </a:stretch>
        </p:blipFill>
        <p:spPr>
          <a:xfrm>
            <a:off x="-1645920" y="-1463040"/>
            <a:ext cx="4206240" cy="3566160"/>
          </a:xfrm>
          <a:prstGeom prst="rect">
            <a:avLst/>
          </a:prstGeom>
        </p:spPr>
      </p:pic>
      <p:sp>
        <p:nvSpPr>
          <p:cNvPr id="3" name="Text 0"/>
          <p:cNvSpPr/>
          <p:nvPr/>
        </p:nvSpPr>
        <p:spPr>
          <a:xfrm>
            <a:off x="457200" y="292608"/>
            <a:ext cx="6400800" cy="256032"/>
          </a:xfrm>
          <a:prstGeom prst="rect">
            <a:avLst/>
          </a:prstGeom>
          <a:noFill/>
          <a:ln/>
        </p:spPr>
        <p:txBody>
          <a:bodyPr wrap="square" lIns="0" tIns="0" rIns="0" bIns="0" rtlCol="0" anchor="ctr"/>
          <a:lstStyle/>
          <a:p>
            <a:pPr marL="0" indent="0">
              <a:buNone/>
            </a:pPr>
            <a:r>
              <a:rPr lang="en-US" sz="1100" b="1" kern="0" spc="200">
                <a:solidFill>
                  <a:srgbClr val="2D8FCF"/>
                </a:solidFill>
                <a:latin typeface="Calibri" pitchFamily="34" charset="0"/>
                <a:ea typeface="Calibri" pitchFamily="34" charset="-122"/>
                <a:cs typeface="Calibri" pitchFamily="34" charset="-120"/>
              </a:rPr>
              <a:t>RESEARCH OVERVIEW</a:t>
            </a:r>
            <a:endParaRPr lang="en-US" sz="1100"/>
          </a:p>
        </p:txBody>
      </p:sp>
      <p:sp>
        <p:nvSpPr>
          <p:cNvPr id="4" name="Text 1"/>
          <p:cNvSpPr/>
          <p:nvPr/>
        </p:nvSpPr>
        <p:spPr>
          <a:xfrm>
            <a:off x="457200" y="530352"/>
            <a:ext cx="8229600" cy="777240"/>
          </a:xfrm>
          <a:prstGeom prst="rect">
            <a:avLst/>
          </a:prstGeom>
          <a:noFill/>
          <a:ln/>
        </p:spPr>
        <p:txBody>
          <a:bodyPr wrap="square" lIns="0" tIns="0" rIns="0" bIns="0" rtlCol="0" anchor="t"/>
          <a:lstStyle/>
          <a:p>
            <a:pPr marL="0" indent="0">
              <a:lnSpc>
                <a:spcPct val="102000"/>
              </a:lnSpc>
              <a:buNone/>
            </a:pPr>
            <a:r>
              <a:rPr lang="en-US" sz="2700" b="1">
                <a:solidFill>
                  <a:srgbClr val="FFFFFF"/>
                </a:solidFill>
                <a:latin typeface="Calibri" pitchFamily="34" charset="0"/>
                <a:ea typeface="Calibri" pitchFamily="34" charset="-122"/>
                <a:cs typeface="Calibri" pitchFamily="34" charset="-120"/>
              </a:rPr>
              <a:t>Other Trends</a:t>
            </a:r>
            <a:endParaRPr lang="en-US" sz="2700"/>
          </a:p>
        </p:txBody>
      </p:sp>
      <p:sp>
        <p:nvSpPr>
          <p:cNvPr id="5" name="Shape 2"/>
          <p:cNvSpPr/>
          <p:nvPr/>
        </p:nvSpPr>
        <p:spPr>
          <a:xfrm>
            <a:off x="457200" y="1417320"/>
            <a:ext cx="2609088" cy="2148840"/>
          </a:xfrm>
          <a:prstGeom prst="roundRect">
            <a:avLst>
              <a:gd name="adj" fmla="val 2553"/>
            </a:avLst>
          </a:prstGeom>
          <a:solidFill>
            <a:srgbClr val="131320"/>
          </a:solidFill>
          <a:ln w="12700">
            <a:solidFill>
              <a:srgbClr val="2E2E45"/>
            </a:solidFill>
            <a:prstDash val="solid"/>
          </a:ln>
        </p:spPr>
        <p:txBody>
          <a:bodyPr/>
          <a:lstStyle/>
          <a:p>
            <a:endParaRPr lang="en-US"/>
          </a:p>
        </p:txBody>
      </p:sp>
      <p:sp>
        <p:nvSpPr>
          <p:cNvPr id="6" name="Shape 3"/>
          <p:cNvSpPr/>
          <p:nvPr/>
        </p:nvSpPr>
        <p:spPr>
          <a:xfrm>
            <a:off x="658368" y="1600200"/>
            <a:ext cx="402336" cy="402336"/>
          </a:xfrm>
          <a:prstGeom prst="ellipse">
            <a:avLst/>
          </a:prstGeom>
          <a:solidFill>
            <a:srgbClr val="2D8FCF"/>
          </a:solidFill>
          <a:ln/>
        </p:spPr>
        <p:txBody>
          <a:bodyPr/>
          <a:lstStyle/>
          <a:p>
            <a:endParaRPr lang="en-US"/>
          </a:p>
        </p:txBody>
      </p:sp>
      <p:pic>
        <p:nvPicPr>
          <p:cNvPr id="7" name="Image 1" descr="icons/brain.png"/>
          <p:cNvPicPr>
            <a:picLocks noChangeAspect="1"/>
          </p:cNvPicPr>
          <p:nvPr/>
        </p:nvPicPr>
        <p:blipFill>
          <a:blip r:embed="rId4"/>
          <a:stretch>
            <a:fillRect/>
          </a:stretch>
        </p:blipFill>
        <p:spPr>
          <a:xfrm>
            <a:off x="754929" y="1696761"/>
            <a:ext cx="209215" cy="209215"/>
          </a:xfrm>
          <a:prstGeom prst="rect">
            <a:avLst/>
          </a:prstGeom>
        </p:spPr>
      </p:pic>
      <p:sp>
        <p:nvSpPr>
          <p:cNvPr id="8" name="Text 4"/>
          <p:cNvSpPr/>
          <p:nvPr/>
        </p:nvSpPr>
        <p:spPr>
          <a:xfrm>
            <a:off x="658368" y="2093976"/>
            <a:ext cx="2206752" cy="274320"/>
          </a:xfrm>
          <a:prstGeom prst="rect">
            <a:avLst/>
          </a:prstGeom>
          <a:noFill/>
          <a:ln/>
        </p:spPr>
        <p:txBody>
          <a:bodyPr wrap="square" lIns="0" tIns="0" rIns="0" bIns="0" rtlCol="0" anchor="t"/>
          <a:lstStyle/>
          <a:p>
            <a:pPr marL="0" indent="0">
              <a:buNone/>
            </a:pPr>
            <a:r>
              <a:rPr lang="en-US" sz="1250" b="1">
                <a:solidFill>
                  <a:srgbClr val="FFFFFF"/>
                </a:solidFill>
                <a:latin typeface="Calibri" pitchFamily="34" charset="0"/>
                <a:ea typeface="Calibri" pitchFamily="34" charset="-122"/>
                <a:cs typeface="Calibri" pitchFamily="34" charset="-120"/>
              </a:rPr>
              <a:t>General-Purpose Models</a:t>
            </a:r>
            <a:endParaRPr lang="en-US" sz="1250"/>
          </a:p>
        </p:txBody>
      </p:sp>
      <p:sp>
        <p:nvSpPr>
          <p:cNvPr id="9" name="Text 5"/>
          <p:cNvSpPr/>
          <p:nvPr/>
        </p:nvSpPr>
        <p:spPr>
          <a:xfrm>
            <a:off x="658368" y="2386584"/>
            <a:ext cx="2206752" cy="1106424"/>
          </a:xfrm>
          <a:prstGeom prst="rect">
            <a:avLst/>
          </a:prstGeom>
          <a:noFill/>
          <a:ln/>
        </p:spPr>
        <p:txBody>
          <a:bodyPr wrap="square" lIns="0" tIns="0" rIns="0" bIns="0" rtlCol="0" anchor="t"/>
          <a:lstStyle/>
          <a:p>
            <a:pPr marL="0" indent="0">
              <a:lnSpc>
                <a:spcPct val="108000"/>
              </a:lnSpc>
              <a:buNone/>
            </a:pPr>
            <a:r>
              <a:rPr lang="en-US" sz="1000">
                <a:solidFill>
                  <a:srgbClr val="C9CCE6"/>
                </a:solidFill>
                <a:latin typeface="Calibri" pitchFamily="34" charset="0"/>
                <a:ea typeface="Calibri" pitchFamily="34" charset="-122"/>
                <a:cs typeface="Calibri" pitchFamily="34" charset="-120"/>
              </a:rPr>
              <a:t>Good prompting now matches specialized clinical models. No costly fine-tuning required.</a:t>
            </a:r>
            <a:endParaRPr lang="en-US" sz="1000"/>
          </a:p>
        </p:txBody>
      </p:sp>
      <p:sp>
        <p:nvSpPr>
          <p:cNvPr id="10" name="Shape 6"/>
          <p:cNvSpPr/>
          <p:nvPr/>
        </p:nvSpPr>
        <p:spPr>
          <a:xfrm>
            <a:off x="3267456" y="1417320"/>
            <a:ext cx="2609088" cy="2148840"/>
          </a:xfrm>
          <a:prstGeom prst="roundRect">
            <a:avLst>
              <a:gd name="adj" fmla="val 2553"/>
            </a:avLst>
          </a:prstGeom>
          <a:solidFill>
            <a:srgbClr val="131320"/>
          </a:solidFill>
          <a:ln w="12700">
            <a:solidFill>
              <a:srgbClr val="2E2E45"/>
            </a:solidFill>
            <a:prstDash val="solid"/>
          </a:ln>
        </p:spPr>
        <p:txBody>
          <a:bodyPr/>
          <a:lstStyle/>
          <a:p>
            <a:endParaRPr lang="en-US"/>
          </a:p>
        </p:txBody>
      </p:sp>
      <p:sp>
        <p:nvSpPr>
          <p:cNvPr id="11" name="Shape 7"/>
          <p:cNvSpPr/>
          <p:nvPr/>
        </p:nvSpPr>
        <p:spPr>
          <a:xfrm>
            <a:off x="3468624" y="1600200"/>
            <a:ext cx="402336" cy="402336"/>
          </a:xfrm>
          <a:prstGeom prst="ellipse">
            <a:avLst/>
          </a:prstGeom>
          <a:solidFill>
            <a:srgbClr val="2D8FCF"/>
          </a:solidFill>
          <a:ln/>
        </p:spPr>
        <p:txBody>
          <a:bodyPr/>
          <a:lstStyle/>
          <a:p>
            <a:endParaRPr lang="en-US"/>
          </a:p>
        </p:txBody>
      </p:sp>
      <p:pic>
        <p:nvPicPr>
          <p:cNvPr id="12" name="Image 2" descr="icons/images.png"/>
          <p:cNvPicPr>
            <a:picLocks noChangeAspect="1"/>
          </p:cNvPicPr>
          <p:nvPr/>
        </p:nvPicPr>
        <p:blipFill>
          <a:blip r:embed="rId5"/>
          <a:stretch>
            <a:fillRect/>
          </a:stretch>
        </p:blipFill>
        <p:spPr>
          <a:xfrm>
            <a:off x="3565185" y="1696761"/>
            <a:ext cx="209215" cy="209215"/>
          </a:xfrm>
          <a:prstGeom prst="rect">
            <a:avLst/>
          </a:prstGeom>
        </p:spPr>
      </p:pic>
      <p:sp>
        <p:nvSpPr>
          <p:cNvPr id="13" name="Text 8"/>
          <p:cNvSpPr/>
          <p:nvPr/>
        </p:nvSpPr>
        <p:spPr>
          <a:xfrm>
            <a:off x="3468624" y="2093976"/>
            <a:ext cx="2206752" cy="274320"/>
          </a:xfrm>
          <a:prstGeom prst="rect">
            <a:avLst/>
          </a:prstGeom>
          <a:noFill/>
          <a:ln/>
        </p:spPr>
        <p:txBody>
          <a:bodyPr wrap="square" lIns="0" tIns="0" rIns="0" bIns="0" rtlCol="0" anchor="t"/>
          <a:lstStyle/>
          <a:p>
            <a:pPr marL="0" indent="0">
              <a:buNone/>
            </a:pPr>
            <a:r>
              <a:rPr lang="en-US" sz="1250" b="1">
                <a:solidFill>
                  <a:srgbClr val="FFFFFF"/>
                </a:solidFill>
                <a:latin typeface="Calibri" pitchFamily="34" charset="0"/>
                <a:ea typeface="Calibri" pitchFamily="34" charset="-122"/>
                <a:cs typeface="Calibri" pitchFamily="34" charset="-120"/>
              </a:rPr>
              <a:t>Multimodal Convergence</a:t>
            </a:r>
            <a:endParaRPr lang="en-US" sz="1250"/>
          </a:p>
        </p:txBody>
      </p:sp>
      <p:sp>
        <p:nvSpPr>
          <p:cNvPr id="14" name="Text 9"/>
          <p:cNvSpPr/>
          <p:nvPr/>
        </p:nvSpPr>
        <p:spPr>
          <a:xfrm>
            <a:off x="3468624" y="2386584"/>
            <a:ext cx="2206752" cy="1106424"/>
          </a:xfrm>
          <a:prstGeom prst="rect">
            <a:avLst/>
          </a:prstGeom>
          <a:noFill/>
          <a:ln/>
        </p:spPr>
        <p:txBody>
          <a:bodyPr wrap="square" lIns="0" tIns="0" rIns="0" bIns="0" rtlCol="0" anchor="t"/>
          <a:lstStyle/>
          <a:p>
            <a:pPr marL="0" indent="0">
              <a:lnSpc>
                <a:spcPct val="108000"/>
              </a:lnSpc>
              <a:buNone/>
            </a:pPr>
            <a:r>
              <a:rPr lang="en-US" sz="1000">
                <a:solidFill>
                  <a:srgbClr val="C9CCE6"/>
                </a:solidFill>
                <a:latin typeface="Calibri" pitchFamily="34" charset="0"/>
                <a:ea typeface="Calibri" pitchFamily="34" charset="-122"/>
                <a:cs typeface="Calibri" pitchFamily="34" charset="-120"/>
              </a:rPr>
              <a:t>Models reasoning across text, images, and signals. This opens the door to scanned charts and faxes.</a:t>
            </a:r>
            <a:endParaRPr lang="en-US" sz="1000"/>
          </a:p>
        </p:txBody>
      </p:sp>
      <p:sp>
        <p:nvSpPr>
          <p:cNvPr id="15" name="Shape 10"/>
          <p:cNvSpPr/>
          <p:nvPr/>
        </p:nvSpPr>
        <p:spPr>
          <a:xfrm>
            <a:off x="6077712" y="1417320"/>
            <a:ext cx="2609088" cy="2148840"/>
          </a:xfrm>
          <a:prstGeom prst="roundRect">
            <a:avLst>
              <a:gd name="adj" fmla="val 2553"/>
            </a:avLst>
          </a:prstGeom>
          <a:solidFill>
            <a:srgbClr val="131320"/>
          </a:solidFill>
          <a:ln w="12700">
            <a:solidFill>
              <a:srgbClr val="2E2E45"/>
            </a:solidFill>
            <a:prstDash val="solid"/>
          </a:ln>
        </p:spPr>
        <p:txBody>
          <a:bodyPr/>
          <a:lstStyle/>
          <a:p>
            <a:endParaRPr lang="en-US"/>
          </a:p>
        </p:txBody>
      </p:sp>
      <p:sp>
        <p:nvSpPr>
          <p:cNvPr id="16" name="Shape 11"/>
          <p:cNvSpPr/>
          <p:nvPr/>
        </p:nvSpPr>
        <p:spPr>
          <a:xfrm>
            <a:off x="6278880" y="1600200"/>
            <a:ext cx="402336" cy="402336"/>
          </a:xfrm>
          <a:prstGeom prst="ellipse">
            <a:avLst/>
          </a:prstGeom>
          <a:solidFill>
            <a:srgbClr val="2D8FCF"/>
          </a:solidFill>
          <a:ln/>
        </p:spPr>
        <p:txBody>
          <a:bodyPr/>
          <a:lstStyle/>
          <a:p>
            <a:endParaRPr lang="en-US"/>
          </a:p>
        </p:txBody>
      </p:sp>
      <p:pic>
        <p:nvPicPr>
          <p:cNvPr id="17" name="Image 3" descr="icons/robot.png"/>
          <p:cNvPicPr>
            <a:picLocks noChangeAspect="1"/>
          </p:cNvPicPr>
          <p:nvPr/>
        </p:nvPicPr>
        <p:blipFill>
          <a:blip r:embed="rId6"/>
          <a:stretch>
            <a:fillRect/>
          </a:stretch>
        </p:blipFill>
        <p:spPr>
          <a:xfrm>
            <a:off x="6375441" y="1696761"/>
            <a:ext cx="209215" cy="209215"/>
          </a:xfrm>
          <a:prstGeom prst="rect">
            <a:avLst/>
          </a:prstGeom>
        </p:spPr>
      </p:pic>
      <p:sp>
        <p:nvSpPr>
          <p:cNvPr id="18" name="Text 12"/>
          <p:cNvSpPr/>
          <p:nvPr/>
        </p:nvSpPr>
        <p:spPr>
          <a:xfrm>
            <a:off x="6278880" y="2093976"/>
            <a:ext cx="2206752" cy="274320"/>
          </a:xfrm>
          <a:prstGeom prst="rect">
            <a:avLst/>
          </a:prstGeom>
          <a:noFill/>
          <a:ln/>
        </p:spPr>
        <p:txBody>
          <a:bodyPr wrap="square" lIns="0" tIns="0" rIns="0" bIns="0" rtlCol="0" anchor="t"/>
          <a:lstStyle/>
          <a:p>
            <a:pPr marL="0" indent="0">
              <a:buNone/>
            </a:pPr>
            <a:r>
              <a:rPr lang="en-US" sz="1250" b="1">
                <a:solidFill>
                  <a:srgbClr val="FFFFFF"/>
                </a:solidFill>
                <a:latin typeface="Calibri" pitchFamily="34" charset="0"/>
                <a:ea typeface="Calibri" pitchFamily="34" charset="-122"/>
                <a:cs typeface="Calibri" pitchFamily="34" charset="-120"/>
              </a:rPr>
              <a:t>Agentic AI</a:t>
            </a:r>
            <a:endParaRPr lang="en-US" sz="1250"/>
          </a:p>
        </p:txBody>
      </p:sp>
      <p:sp>
        <p:nvSpPr>
          <p:cNvPr id="19" name="Text 13"/>
          <p:cNvSpPr/>
          <p:nvPr/>
        </p:nvSpPr>
        <p:spPr>
          <a:xfrm>
            <a:off x="6278880" y="2386584"/>
            <a:ext cx="2206752" cy="1106424"/>
          </a:xfrm>
          <a:prstGeom prst="rect">
            <a:avLst/>
          </a:prstGeom>
          <a:noFill/>
          <a:ln/>
        </p:spPr>
        <p:txBody>
          <a:bodyPr wrap="square" lIns="0" tIns="0" rIns="0" bIns="0" rtlCol="0" anchor="t"/>
          <a:lstStyle/>
          <a:p>
            <a:pPr marL="0" indent="0">
              <a:lnSpc>
                <a:spcPct val="108000"/>
              </a:lnSpc>
              <a:buNone/>
            </a:pPr>
            <a:r>
              <a:rPr lang="en-US" sz="1000">
                <a:solidFill>
                  <a:srgbClr val="C9CCE6"/>
                </a:solidFill>
                <a:latin typeface="Calibri" pitchFamily="34" charset="0"/>
                <a:ea typeface="Calibri" pitchFamily="34" charset="-122"/>
                <a:cs typeface="Calibri" pitchFamily="34" charset="-120"/>
              </a:rPr>
              <a:t>Systems that retrieve evidence, use tools, and run multi-step workflows autonomously.</a:t>
            </a:r>
            <a:endParaRPr lang="en-US" sz="1000"/>
          </a:p>
        </p:txBody>
      </p:sp>
      <p:sp>
        <p:nvSpPr>
          <p:cNvPr id="20" name="Shape 14"/>
          <p:cNvSpPr/>
          <p:nvPr/>
        </p:nvSpPr>
        <p:spPr>
          <a:xfrm>
            <a:off x="457200" y="3794760"/>
            <a:ext cx="8229600" cy="685800"/>
          </a:xfrm>
          <a:prstGeom prst="roundRect">
            <a:avLst>
              <a:gd name="adj" fmla="val 8000"/>
            </a:avLst>
          </a:prstGeom>
          <a:solidFill>
            <a:srgbClr val="131320"/>
          </a:solidFill>
          <a:ln w="12700">
            <a:solidFill>
              <a:srgbClr val="2E2E45"/>
            </a:solidFill>
            <a:prstDash val="solid"/>
          </a:ln>
        </p:spPr>
        <p:txBody>
          <a:bodyPr/>
          <a:lstStyle/>
          <a:p>
            <a:endParaRPr lang="en-US"/>
          </a:p>
        </p:txBody>
      </p:sp>
      <p:sp>
        <p:nvSpPr>
          <p:cNvPr id="21" name="Shape 15"/>
          <p:cNvSpPr/>
          <p:nvPr/>
        </p:nvSpPr>
        <p:spPr>
          <a:xfrm>
            <a:off x="658368" y="3968496"/>
            <a:ext cx="347472" cy="347472"/>
          </a:xfrm>
          <a:prstGeom prst="ellipse">
            <a:avLst/>
          </a:prstGeom>
          <a:solidFill>
            <a:srgbClr val="2D8FCF"/>
          </a:solidFill>
          <a:ln/>
        </p:spPr>
        <p:txBody>
          <a:bodyPr/>
          <a:lstStyle/>
          <a:p>
            <a:endParaRPr lang="en-US"/>
          </a:p>
        </p:txBody>
      </p:sp>
      <p:pic>
        <p:nvPicPr>
          <p:cNvPr id="22" name="Image 4" descr="icons/quote.png"/>
          <p:cNvPicPr>
            <a:picLocks noChangeAspect="1"/>
          </p:cNvPicPr>
          <p:nvPr/>
        </p:nvPicPr>
        <p:blipFill>
          <a:blip r:embed="rId7"/>
          <a:stretch>
            <a:fillRect/>
          </a:stretch>
        </p:blipFill>
        <p:spPr>
          <a:xfrm>
            <a:off x="741761" y="4051889"/>
            <a:ext cx="180685" cy="180685"/>
          </a:xfrm>
          <a:prstGeom prst="rect">
            <a:avLst/>
          </a:prstGeom>
        </p:spPr>
      </p:pic>
      <p:sp>
        <p:nvSpPr>
          <p:cNvPr id="23" name="Text 16"/>
          <p:cNvSpPr/>
          <p:nvPr/>
        </p:nvSpPr>
        <p:spPr>
          <a:xfrm>
            <a:off x="1143000" y="3794760"/>
            <a:ext cx="7360920" cy="685800"/>
          </a:xfrm>
          <a:prstGeom prst="rect">
            <a:avLst/>
          </a:prstGeom>
          <a:noFill/>
          <a:ln/>
        </p:spPr>
        <p:txBody>
          <a:bodyPr wrap="square" lIns="0" tIns="0" rIns="0" bIns="0" rtlCol="0" anchor="ctr"/>
          <a:lstStyle/>
          <a:p>
            <a:pPr marL="0" indent="0">
              <a:buNone/>
            </a:pPr>
            <a:r>
              <a:rPr lang="en-US" sz="1250" i="1">
                <a:solidFill>
                  <a:srgbClr val="FFFFFF"/>
                </a:solidFill>
                <a:latin typeface="Calibri" pitchFamily="34" charset="0"/>
                <a:ea typeface="Calibri" pitchFamily="34" charset="-122"/>
                <a:cs typeface="Calibri" pitchFamily="34" charset="-120"/>
              </a:rPr>
              <a:t>Cotiviti's job postings reference “Agentic AI” as a strategic direction.</a:t>
            </a:r>
            <a:endParaRPr lang="en-US" sz="1250"/>
          </a:p>
        </p:txBody>
      </p:sp>
      <p:sp>
        <p:nvSpPr>
          <p:cNvPr id="25" name="Text 17"/>
          <p:cNvSpPr/>
          <p:nvPr/>
        </p:nvSpPr>
        <p:spPr>
          <a:xfrm>
            <a:off x="8549640" y="4828032"/>
            <a:ext cx="274320" cy="228600"/>
          </a:xfrm>
          <a:prstGeom prst="rect">
            <a:avLst/>
          </a:prstGeom>
          <a:noFill/>
          <a:ln/>
        </p:spPr>
        <p:txBody>
          <a:bodyPr wrap="square" lIns="0" tIns="0" rIns="0" bIns="0" rtlCol="0" anchor="ctr"/>
          <a:lstStyle/>
          <a:p>
            <a:pPr marL="0" indent="0" algn="r">
              <a:buNone/>
            </a:pPr>
            <a:r>
              <a:rPr lang="en-US" sz="900">
                <a:solidFill>
                  <a:srgbClr val="C9CCE6"/>
                </a:solidFill>
                <a:latin typeface="Calibri" pitchFamily="34" charset="0"/>
                <a:ea typeface="Calibri" pitchFamily="34" charset="-122"/>
                <a:cs typeface="Calibri" pitchFamily="34" charset="-120"/>
              </a:rPr>
              <a:t>4</a:t>
            </a:r>
            <a:endParaRPr lang="en-US" sz="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pic>
        <p:nvPicPr>
          <p:cNvPr id="2" name="Image 0" descr="glow/glow_purple.jpg"/>
          <p:cNvPicPr>
            <a:picLocks noChangeAspect="1"/>
          </p:cNvPicPr>
          <p:nvPr/>
        </p:nvPicPr>
        <p:blipFill>
          <a:blip r:embed="rId3"/>
          <a:stretch>
            <a:fillRect/>
          </a:stretch>
        </p:blipFill>
        <p:spPr>
          <a:xfrm>
            <a:off x="6035040" y="2103120"/>
            <a:ext cx="4389120" cy="3566160"/>
          </a:xfrm>
          <a:prstGeom prst="rect">
            <a:avLst/>
          </a:prstGeom>
        </p:spPr>
      </p:pic>
      <p:sp>
        <p:nvSpPr>
          <p:cNvPr id="3" name="Text 0"/>
          <p:cNvSpPr/>
          <p:nvPr/>
        </p:nvSpPr>
        <p:spPr>
          <a:xfrm>
            <a:off x="457200" y="292608"/>
            <a:ext cx="6400800" cy="256032"/>
          </a:xfrm>
          <a:prstGeom prst="rect">
            <a:avLst/>
          </a:prstGeom>
          <a:noFill/>
          <a:ln/>
        </p:spPr>
        <p:txBody>
          <a:bodyPr wrap="square" lIns="0" tIns="0" rIns="0" bIns="0" rtlCol="0" anchor="ctr"/>
          <a:lstStyle/>
          <a:p>
            <a:pPr marL="0" indent="0">
              <a:buNone/>
            </a:pPr>
            <a:r>
              <a:rPr lang="en-US" sz="1100" b="1" kern="0" spc="200">
                <a:solidFill>
                  <a:srgbClr val="2D8FCF"/>
                </a:solidFill>
                <a:latin typeface="Calibri" pitchFamily="34" charset="0"/>
                <a:ea typeface="Calibri" pitchFamily="34" charset="-122"/>
                <a:cs typeface="Calibri" pitchFamily="34" charset="-120"/>
              </a:rPr>
              <a:t>RESEARCH OVERVIEW</a:t>
            </a:r>
            <a:endParaRPr lang="en-US" sz="1100"/>
          </a:p>
        </p:txBody>
      </p:sp>
      <p:sp>
        <p:nvSpPr>
          <p:cNvPr id="4" name="Text 1"/>
          <p:cNvSpPr/>
          <p:nvPr/>
        </p:nvSpPr>
        <p:spPr>
          <a:xfrm>
            <a:off x="457200" y="530352"/>
            <a:ext cx="8229600" cy="777240"/>
          </a:xfrm>
          <a:prstGeom prst="rect">
            <a:avLst/>
          </a:prstGeom>
          <a:noFill/>
          <a:ln/>
        </p:spPr>
        <p:txBody>
          <a:bodyPr wrap="square" lIns="0" tIns="0" rIns="0" bIns="0" rtlCol="0" anchor="t"/>
          <a:lstStyle/>
          <a:p>
            <a:pPr marL="0" indent="0">
              <a:lnSpc>
                <a:spcPct val="102000"/>
              </a:lnSpc>
              <a:buNone/>
            </a:pPr>
            <a:r>
              <a:rPr lang="en-US" sz="2700" b="1">
                <a:solidFill>
                  <a:srgbClr val="FFFFFF"/>
                </a:solidFill>
                <a:latin typeface="Calibri" pitchFamily="34" charset="0"/>
                <a:ea typeface="Calibri" pitchFamily="34" charset="-122"/>
                <a:cs typeface="Calibri" pitchFamily="34" charset="-120"/>
              </a:rPr>
              <a:t>Opportunity for Cotiviti</a:t>
            </a:r>
            <a:endParaRPr lang="en-US" sz="2700"/>
          </a:p>
        </p:txBody>
      </p:sp>
      <p:sp>
        <p:nvSpPr>
          <p:cNvPr id="5" name="Shape 2"/>
          <p:cNvSpPr/>
          <p:nvPr/>
        </p:nvSpPr>
        <p:spPr>
          <a:xfrm>
            <a:off x="457200" y="1417320"/>
            <a:ext cx="4014216" cy="1522476"/>
          </a:xfrm>
          <a:prstGeom prst="roundRect">
            <a:avLst>
              <a:gd name="adj" fmla="val 3604"/>
            </a:avLst>
          </a:prstGeom>
          <a:solidFill>
            <a:srgbClr val="131320"/>
          </a:solidFill>
          <a:ln w="12700">
            <a:solidFill>
              <a:srgbClr val="2E2E45"/>
            </a:solidFill>
            <a:prstDash val="solid"/>
          </a:ln>
        </p:spPr>
        <p:txBody>
          <a:bodyPr/>
          <a:lstStyle/>
          <a:p>
            <a:endParaRPr lang="en-US"/>
          </a:p>
        </p:txBody>
      </p:sp>
      <p:sp>
        <p:nvSpPr>
          <p:cNvPr id="6" name="Shape 3"/>
          <p:cNvSpPr/>
          <p:nvPr/>
        </p:nvSpPr>
        <p:spPr>
          <a:xfrm>
            <a:off x="658368" y="1600200"/>
            <a:ext cx="402336" cy="402336"/>
          </a:xfrm>
          <a:prstGeom prst="ellipse">
            <a:avLst/>
          </a:prstGeom>
          <a:solidFill>
            <a:srgbClr val="2D8FCF"/>
          </a:solidFill>
          <a:ln/>
        </p:spPr>
        <p:txBody>
          <a:bodyPr/>
          <a:lstStyle/>
          <a:p>
            <a:endParaRPr lang="en-US"/>
          </a:p>
        </p:txBody>
      </p:sp>
      <p:pic>
        <p:nvPicPr>
          <p:cNvPr id="7" name="Image 1" descr="icons/chartline.png"/>
          <p:cNvPicPr>
            <a:picLocks noChangeAspect="1"/>
          </p:cNvPicPr>
          <p:nvPr/>
        </p:nvPicPr>
        <p:blipFill>
          <a:blip r:embed="rId4"/>
          <a:stretch>
            <a:fillRect/>
          </a:stretch>
        </p:blipFill>
        <p:spPr>
          <a:xfrm>
            <a:off x="754929" y="1696761"/>
            <a:ext cx="209215" cy="209215"/>
          </a:xfrm>
          <a:prstGeom prst="rect">
            <a:avLst/>
          </a:prstGeom>
        </p:spPr>
      </p:pic>
      <p:sp>
        <p:nvSpPr>
          <p:cNvPr id="8" name="Text 4"/>
          <p:cNvSpPr/>
          <p:nvPr/>
        </p:nvSpPr>
        <p:spPr>
          <a:xfrm>
            <a:off x="658368" y="2093976"/>
            <a:ext cx="3611880" cy="274320"/>
          </a:xfrm>
          <a:prstGeom prst="rect">
            <a:avLst/>
          </a:prstGeom>
          <a:noFill/>
          <a:ln/>
        </p:spPr>
        <p:txBody>
          <a:bodyPr wrap="square" lIns="0" tIns="0" rIns="0" bIns="0" rtlCol="0" anchor="t"/>
          <a:lstStyle/>
          <a:p>
            <a:pPr marL="0" indent="0">
              <a:buNone/>
            </a:pPr>
            <a:r>
              <a:rPr lang="en-US" sz="1250" b="1">
                <a:solidFill>
                  <a:srgbClr val="FFFFFF"/>
                </a:solidFill>
                <a:latin typeface="Calibri" pitchFamily="34" charset="0"/>
                <a:ea typeface="Calibri" pitchFamily="34" charset="-122"/>
                <a:cs typeface="Calibri" pitchFamily="34" charset="-120"/>
              </a:rPr>
              <a:t>Enhance Existing NLP</a:t>
            </a:r>
            <a:endParaRPr lang="en-US" sz="1250"/>
          </a:p>
        </p:txBody>
      </p:sp>
      <p:sp>
        <p:nvSpPr>
          <p:cNvPr id="9" name="Text 5"/>
          <p:cNvSpPr/>
          <p:nvPr/>
        </p:nvSpPr>
        <p:spPr>
          <a:xfrm>
            <a:off x="658368" y="2386584"/>
            <a:ext cx="3611880" cy="480060"/>
          </a:xfrm>
          <a:prstGeom prst="rect">
            <a:avLst/>
          </a:prstGeom>
          <a:noFill/>
          <a:ln/>
        </p:spPr>
        <p:txBody>
          <a:bodyPr wrap="square" lIns="0" tIns="0" rIns="0" bIns="0" rtlCol="0" anchor="t"/>
          <a:lstStyle/>
          <a:p>
            <a:pPr marL="0" indent="0">
              <a:lnSpc>
                <a:spcPct val="108000"/>
              </a:lnSpc>
              <a:buNone/>
            </a:pPr>
            <a:r>
              <a:rPr lang="en-US" sz="1000">
                <a:solidFill>
                  <a:srgbClr val="C9CCE6"/>
                </a:solidFill>
                <a:latin typeface="Calibri" pitchFamily="34" charset="0"/>
                <a:ea typeface="Calibri" pitchFamily="34" charset="-122"/>
                <a:cs typeface="Calibri" pitchFamily="34" charset="-120"/>
              </a:rPr>
              <a:t>LLM reasoning improves Pre-Visit Prep &amp; Member Suspecting accuracy and explainability.</a:t>
            </a:r>
            <a:endParaRPr lang="en-US" sz="1000"/>
          </a:p>
        </p:txBody>
      </p:sp>
      <p:sp>
        <p:nvSpPr>
          <p:cNvPr id="10" name="Shape 6"/>
          <p:cNvSpPr/>
          <p:nvPr/>
        </p:nvSpPr>
        <p:spPr>
          <a:xfrm>
            <a:off x="4672584" y="1417320"/>
            <a:ext cx="4014216" cy="1522476"/>
          </a:xfrm>
          <a:prstGeom prst="roundRect">
            <a:avLst>
              <a:gd name="adj" fmla="val 3604"/>
            </a:avLst>
          </a:prstGeom>
          <a:solidFill>
            <a:srgbClr val="131320"/>
          </a:solidFill>
          <a:ln w="12700">
            <a:solidFill>
              <a:srgbClr val="2E2E45"/>
            </a:solidFill>
            <a:prstDash val="solid"/>
          </a:ln>
        </p:spPr>
        <p:txBody>
          <a:bodyPr/>
          <a:lstStyle/>
          <a:p>
            <a:endParaRPr lang="en-US"/>
          </a:p>
        </p:txBody>
      </p:sp>
      <p:sp>
        <p:nvSpPr>
          <p:cNvPr id="11" name="Shape 7"/>
          <p:cNvSpPr/>
          <p:nvPr/>
        </p:nvSpPr>
        <p:spPr>
          <a:xfrm>
            <a:off x="4873752" y="1600200"/>
            <a:ext cx="402336" cy="402336"/>
          </a:xfrm>
          <a:prstGeom prst="ellipse">
            <a:avLst/>
          </a:prstGeom>
          <a:solidFill>
            <a:srgbClr val="2D8FCF"/>
          </a:solidFill>
          <a:ln/>
        </p:spPr>
        <p:txBody>
          <a:bodyPr/>
          <a:lstStyle/>
          <a:p>
            <a:endParaRPr lang="en-US"/>
          </a:p>
        </p:txBody>
      </p:sp>
      <p:pic>
        <p:nvPicPr>
          <p:cNvPr id="12" name="Image 2" descr="icons/images.png"/>
          <p:cNvPicPr>
            <a:picLocks noChangeAspect="1"/>
          </p:cNvPicPr>
          <p:nvPr/>
        </p:nvPicPr>
        <p:blipFill>
          <a:blip r:embed="rId5"/>
          <a:stretch>
            <a:fillRect/>
          </a:stretch>
        </p:blipFill>
        <p:spPr>
          <a:xfrm>
            <a:off x="4970313" y="1696761"/>
            <a:ext cx="209215" cy="209215"/>
          </a:xfrm>
          <a:prstGeom prst="rect">
            <a:avLst/>
          </a:prstGeom>
        </p:spPr>
      </p:pic>
      <p:sp>
        <p:nvSpPr>
          <p:cNvPr id="13" name="Text 8"/>
          <p:cNvSpPr/>
          <p:nvPr/>
        </p:nvSpPr>
        <p:spPr>
          <a:xfrm>
            <a:off x="4873752" y="2093976"/>
            <a:ext cx="3611880" cy="274320"/>
          </a:xfrm>
          <a:prstGeom prst="rect">
            <a:avLst/>
          </a:prstGeom>
          <a:noFill/>
          <a:ln/>
        </p:spPr>
        <p:txBody>
          <a:bodyPr wrap="square" lIns="0" tIns="0" rIns="0" bIns="0" rtlCol="0" anchor="t"/>
          <a:lstStyle/>
          <a:p>
            <a:pPr marL="0" indent="0">
              <a:buNone/>
            </a:pPr>
            <a:r>
              <a:rPr lang="en-US" sz="1250" b="1">
                <a:solidFill>
                  <a:srgbClr val="FFFFFF"/>
                </a:solidFill>
                <a:latin typeface="Calibri" pitchFamily="34" charset="0"/>
                <a:ea typeface="Calibri" pitchFamily="34" charset="-122"/>
                <a:cs typeface="Calibri" pitchFamily="34" charset="-120"/>
              </a:rPr>
              <a:t>Multimodal Intelligence</a:t>
            </a:r>
            <a:endParaRPr lang="en-US" sz="1250"/>
          </a:p>
        </p:txBody>
      </p:sp>
      <p:sp>
        <p:nvSpPr>
          <p:cNvPr id="14" name="Text 9"/>
          <p:cNvSpPr/>
          <p:nvPr/>
        </p:nvSpPr>
        <p:spPr>
          <a:xfrm>
            <a:off x="4873752" y="2386584"/>
            <a:ext cx="3611880" cy="480060"/>
          </a:xfrm>
          <a:prstGeom prst="rect">
            <a:avLst/>
          </a:prstGeom>
          <a:noFill/>
          <a:ln/>
        </p:spPr>
        <p:txBody>
          <a:bodyPr wrap="square" lIns="0" tIns="0" rIns="0" bIns="0" rtlCol="0" anchor="t"/>
          <a:lstStyle/>
          <a:p>
            <a:pPr marL="0" indent="0">
              <a:lnSpc>
                <a:spcPct val="108000"/>
              </a:lnSpc>
              <a:buNone/>
            </a:pPr>
            <a:r>
              <a:rPr lang="en-US" sz="1000">
                <a:solidFill>
                  <a:srgbClr val="C9CCE6"/>
                </a:solidFill>
                <a:latin typeface="Calibri" pitchFamily="34" charset="0"/>
                <a:ea typeface="Calibri" pitchFamily="34" charset="-122"/>
                <a:cs typeface="Calibri" pitchFamily="34" charset="-120"/>
              </a:rPr>
              <a:t>Extend into scanned charts, faxes, and images for a fuller patient view.</a:t>
            </a:r>
            <a:endParaRPr lang="en-US" sz="1000"/>
          </a:p>
        </p:txBody>
      </p:sp>
      <p:sp>
        <p:nvSpPr>
          <p:cNvPr id="15" name="Shape 10"/>
          <p:cNvSpPr/>
          <p:nvPr/>
        </p:nvSpPr>
        <p:spPr>
          <a:xfrm>
            <a:off x="457200" y="3140964"/>
            <a:ext cx="4014216" cy="1522476"/>
          </a:xfrm>
          <a:prstGeom prst="roundRect">
            <a:avLst>
              <a:gd name="adj" fmla="val 3604"/>
            </a:avLst>
          </a:prstGeom>
          <a:solidFill>
            <a:srgbClr val="131320"/>
          </a:solidFill>
          <a:ln w="12700">
            <a:solidFill>
              <a:srgbClr val="2E2E45"/>
            </a:solidFill>
            <a:prstDash val="solid"/>
          </a:ln>
        </p:spPr>
        <p:txBody>
          <a:bodyPr/>
          <a:lstStyle/>
          <a:p>
            <a:endParaRPr lang="en-US"/>
          </a:p>
        </p:txBody>
      </p:sp>
      <p:sp>
        <p:nvSpPr>
          <p:cNvPr id="16" name="Shape 11"/>
          <p:cNvSpPr/>
          <p:nvPr/>
        </p:nvSpPr>
        <p:spPr>
          <a:xfrm>
            <a:off x="658368" y="3323844"/>
            <a:ext cx="402336" cy="402336"/>
          </a:xfrm>
          <a:prstGeom prst="ellipse">
            <a:avLst/>
          </a:prstGeom>
          <a:solidFill>
            <a:srgbClr val="2D8FCF"/>
          </a:solidFill>
          <a:ln/>
        </p:spPr>
        <p:txBody>
          <a:bodyPr/>
          <a:lstStyle/>
          <a:p>
            <a:endParaRPr lang="en-US"/>
          </a:p>
        </p:txBody>
      </p:sp>
      <p:pic>
        <p:nvPicPr>
          <p:cNvPr id="17" name="Image 3" descr="icons/robot.png"/>
          <p:cNvPicPr>
            <a:picLocks noChangeAspect="1"/>
          </p:cNvPicPr>
          <p:nvPr/>
        </p:nvPicPr>
        <p:blipFill>
          <a:blip r:embed="rId6"/>
          <a:stretch>
            <a:fillRect/>
          </a:stretch>
        </p:blipFill>
        <p:spPr>
          <a:xfrm>
            <a:off x="754929" y="3420405"/>
            <a:ext cx="209215" cy="209215"/>
          </a:xfrm>
          <a:prstGeom prst="rect">
            <a:avLst/>
          </a:prstGeom>
        </p:spPr>
      </p:pic>
      <p:sp>
        <p:nvSpPr>
          <p:cNvPr id="18" name="Text 12"/>
          <p:cNvSpPr/>
          <p:nvPr/>
        </p:nvSpPr>
        <p:spPr>
          <a:xfrm>
            <a:off x="658368" y="3817620"/>
            <a:ext cx="3611880" cy="274320"/>
          </a:xfrm>
          <a:prstGeom prst="rect">
            <a:avLst/>
          </a:prstGeom>
          <a:noFill/>
          <a:ln/>
        </p:spPr>
        <p:txBody>
          <a:bodyPr wrap="square" lIns="0" tIns="0" rIns="0" bIns="0" rtlCol="0" anchor="t"/>
          <a:lstStyle/>
          <a:p>
            <a:pPr marL="0" indent="0">
              <a:buNone/>
            </a:pPr>
            <a:r>
              <a:rPr lang="en-US" sz="1250" b="1">
                <a:solidFill>
                  <a:srgbClr val="FFFFFF"/>
                </a:solidFill>
                <a:latin typeface="Calibri" pitchFamily="34" charset="0"/>
                <a:ea typeface="Calibri" pitchFamily="34" charset="-122"/>
                <a:cs typeface="Calibri" pitchFamily="34" charset="-120"/>
              </a:rPr>
              <a:t>Proactive Risk Adjustment</a:t>
            </a:r>
            <a:endParaRPr lang="en-US" sz="1250"/>
          </a:p>
        </p:txBody>
      </p:sp>
      <p:sp>
        <p:nvSpPr>
          <p:cNvPr id="19" name="Text 13"/>
          <p:cNvSpPr/>
          <p:nvPr/>
        </p:nvSpPr>
        <p:spPr>
          <a:xfrm>
            <a:off x="658368" y="4110228"/>
            <a:ext cx="3611880" cy="480060"/>
          </a:xfrm>
          <a:prstGeom prst="rect">
            <a:avLst/>
          </a:prstGeom>
          <a:noFill/>
          <a:ln/>
        </p:spPr>
        <p:txBody>
          <a:bodyPr wrap="square" lIns="0" tIns="0" rIns="0" bIns="0" rtlCol="0" anchor="t"/>
          <a:lstStyle/>
          <a:p>
            <a:pPr marL="0" indent="0">
              <a:lnSpc>
                <a:spcPct val="108000"/>
              </a:lnSpc>
              <a:buNone/>
            </a:pPr>
            <a:r>
              <a:rPr lang="en-US" sz="1000">
                <a:solidFill>
                  <a:srgbClr val="C9CCE6"/>
                </a:solidFill>
                <a:latin typeface="Calibri" pitchFamily="34" charset="0"/>
                <a:ea typeface="Calibri" pitchFamily="34" charset="-122"/>
                <a:cs typeface="Calibri" pitchFamily="34" charset="-120"/>
              </a:rPr>
              <a:t>Agentic systems continuously monitor populations and flag documentation gaps.</a:t>
            </a:r>
            <a:endParaRPr lang="en-US" sz="1000"/>
          </a:p>
        </p:txBody>
      </p:sp>
      <p:sp>
        <p:nvSpPr>
          <p:cNvPr id="20" name="Shape 14"/>
          <p:cNvSpPr/>
          <p:nvPr/>
        </p:nvSpPr>
        <p:spPr>
          <a:xfrm>
            <a:off x="4672584" y="3140964"/>
            <a:ext cx="4014216" cy="1522476"/>
          </a:xfrm>
          <a:prstGeom prst="roundRect">
            <a:avLst>
              <a:gd name="adj" fmla="val 3604"/>
            </a:avLst>
          </a:prstGeom>
          <a:solidFill>
            <a:srgbClr val="2D8FCF"/>
          </a:solidFill>
          <a:ln w="12700">
            <a:solidFill>
              <a:srgbClr val="2D8FCF"/>
            </a:solidFill>
            <a:prstDash val="solid"/>
          </a:ln>
        </p:spPr>
        <p:txBody>
          <a:bodyPr/>
          <a:lstStyle/>
          <a:p>
            <a:endParaRPr lang="en-US"/>
          </a:p>
        </p:txBody>
      </p:sp>
      <p:sp>
        <p:nvSpPr>
          <p:cNvPr id="21" name="Shape 15"/>
          <p:cNvSpPr/>
          <p:nvPr/>
        </p:nvSpPr>
        <p:spPr>
          <a:xfrm>
            <a:off x="4873752" y="3323844"/>
            <a:ext cx="402336" cy="402336"/>
          </a:xfrm>
          <a:prstGeom prst="ellipse">
            <a:avLst/>
          </a:prstGeom>
          <a:solidFill>
            <a:srgbClr val="FFFFFF"/>
          </a:solidFill>
          <a:ln/>
        </p:spPr>
        <p:txBody>
          <a:bodyPr/>
          <a:lstStyle/>
          <a:p>
            <a:endParaRPr lang="en-US"/>
          </a:p>
        </p:txBody>
      </p:sp>
      <p:pic>
        <p:nvPicPr>
          <p:cNvPr id="22" name="Image 4" descr="icons/search.png"/>
          <p:cNvPicPr>
            <a:picLocks noChangeAspect="1"/>
          </p:cNvPicPr>
          <p:nvPr/>
        </p:nvPicPr>
        <p:blipFill>
          <a:blip r:embed="rId7"/>
          <a:stretch>
            <a:fillRect/>
          </a:stretch>
        </p:blipFill>
        <p:spPr>
          <a:xfrm>
            <a:off x="4970313" y="3420405"/>
            <a:ext cx="209215" cy="209215"/>
          </a:xfrm>
          <a:prstGeom prst="rect">
            <a:avLst/>
          </a:prstGeom>
        </p:spPr>
      </p:pic>
      <p:sp>
        <p:nvSpPr>
          <p:cNvPr id="23" name="Text 16"/>
          <p:cNvSpPr/>
          <p:nvPr/>
        </p:nvSpPr>
        <p:spPr>
          <a:xfrm>
            <a:off x="4873752" y="3817620"/>
            <a:ext cx="3611880" cy="274320"/>
          </a:xfrm>
          <a:prstGeom prst="rect">
            <a:avLst/>
          </a:prstGeom>
          <a:noFill/>
          <a:ln/>
        </p:spPr>
        <p:txBody>
          <a:bodyPr wrap="square" lIns="0" tIns="0" rIns="0" bIns="0" rtlCol="0" anchor="t"/>
          <a:lstStyle/>
          <a:p>
            <a:pPr marL="0" indent="0">
              <a:buNone/>
            </a:pPr>
            <a:r>
              <a:rPr lang="en-US" sz="1250" b="1">
                <a:solidFill>
                  <a:srgbClr val="FFFFFF"/>
                </a:solidFill>
                <a:latin typeface="Calibri" pitchFamily="34" charset="0"/>
                <a:ea typeface="Calibri" pitchFamily="34" charset="-122"/>
                <a:cs typeface="Calibri" pitchFamily="34" charset="-120"/>
              </a:rPr>
              <a:t>RAG Coder Decision Support</a:t>
            </a:r>
            <a:endParaRPr lang="en-US" sz="1250"/>
          </a:p>
        </p:txBody>
      </p:sp>
      <p:sp>
        <p:nvSpPr>
          <p:cNvPr id="24" name="Text 17"/>
          <p:cNvSpPr/>
          <p:nvPr/>
        </p:nvSpPr>
        <p:spPr>
          <a:xfrm>
            <a:off x="4873752" y="4110228"/>
            <a:ext cx="3611880" cy="480060"/>
          </a:xfrm>
          <a:prstGeom prst="rect">
            <a:avLst/>
          </a:prstGeom>
          <a:noFill/>
          <a:ln/>
        </p:spPr>
        <p:txBody>
          <a:bodyPr wrap="square" lIns="0" tIns="0" rIns="0" bIns="0" rtlCol="0" anchor="t"/>
          <a:lstStyle/>
          <a:p>
            <a:pPr marL="0" indent="0">
              <a:lnSpc>
                <a:spcPct val="108000"/>
              </a:lnSpc>
              <a:buNone/>
            </a:pPr>
            <a:r>
              <a:rPr lang="en-US" sz="1000">
                <a:solidFill>
                  <a:srgbClr val="EAF1FA"/>
                </a:solidFill>
                <a:latin typeface="Calibri" pitchFamily="34" charset="0"/>
                <a:ea typeface="Calibri" pitchFamily="34" charset="-122"/>
                <a:cs typeface="Calibri" pitchFamily="34" charset="-120"/>
              </a:rPr>
              <a:t>Proof of Concept: real-time guidance during chart review.</a:t>
            </a:r>
            <a:endParaRPr lang="en-US" sz="1000"/>
          </a:p>
        </p:txBody>
      </p:sp>
      <p:sp>
        <p:nvSpPr>
          <p:cNvPr id="26" name="Text 18"/>
          <p:cNvSpPr/>
          <p:nvPr/>
        </p:nvSpPr>
        <p:spPr>
          <a:xfrm>
            <a:off x="8549640" y="4828032"/>
            <a:ext cx="274320" cy="228600"/>
          </a:xfrm>
          <a:prstGeom prst="rect">
            <a:avLst/>
          </a:prstGeom>
          <a:noFill/>
          <a:ln/>
        </p:spPr>
        <p:txBody>
          <a:bodyPr wrap="square" lIns="0" tIns="0" rIns="0" bIns="0" rtlCol="0" anchor="ctr"/>
          <a:lstStyle/>
          <a:p>
            <a:pPr marL="0" indent="0" algn="r">
              <a:buNone/>
            </a:pPr>
            <a:r>
              <a:rPr lang="en-US" sz="900">
                <a:solidFill>
                  <a:srgbClr val="C9CCE6"/>
                </a:solidFill>
                <a:latin typeface="Calibri" pitchFamily="34" charset="0"/>
                <a:ea typeface="Calibri" pitchFamily="34" charset="-122"/>
                <a:cs typeface="Calibri" pitchFamily="34" charset="-120"/>
              </a:rPr>
              <a:t>5</a:t>
            </a:r>
            <a:endParaRPr lang="en-US" sz="9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a:effectLst/>
      </p:bgPr>
    </p:bg>
    <p:spTree>
      <p:nvGrpSpPr>
        <p:cNvPr id="1" name=""/>
        <p:cNvGrpSpPr/>
        <p:nvPr/>
      </p:nvGrpSpPr>
      <p:grpSpPr>
        <a:xfrm>
          <a:off x="0" y="0"/>
          <a:ext cx="0" cy="0"/>
          <a:chOff x="0" y="0"/>
          <a:chExt cx="0" cy="0"/>
        </a:xfrm>
      </p:grpSpPr>
      <p:pic>
        <p:nvPicPr>
          <p:cNvPr id="2" name="Image 0" descr="glow/glow_purple.jpg"/>
          <p:cNvPicPr>
            <a:picLocks noChangeAspect="1"/>
          </p:cNvPicPr>
          <p:nvPr/>
        </p:nvPicPr>
        <p:blipFill>
          <a:blip r:embed="rId3"/>
          <a:stretch>
            <a:fillRect/>
          </a:stretch>
        </p:blipFill>
        <p:spPr>
          <a:xfrm>
            <a:off x="6400800" y="-1554480"/>
            <a:ext cx="4023360" cy="3291840"/>
          </a:xfrm>
          <a:prstGeom prst="rect">
            <a:avLst/>
          </a:prstGeom>
        </p:spPr>
      </p:pic>
      <p:sp>
        <p:nvSpPr>
          <p:cNvPr id="3" name="Text 0"/>
          <p:cNvSpPr/>
          <p:nvPr/>
        </p:nvSpPr>
        <p:spPr>
          <a:xfrm>
            <a:off x="457200" y="292608"/>
            <a:ext cx="6400800" cy="256032"/>
          </a:xfrm>
          <a:prstGeom prst="rect">
            <a:avLst/>
          </a:prstGeom>
          <a:noFill/>
          <a:ln/>
        </p:spPr>
        <p:txBody>
          <a:bodyPr wrap="square" lIns="0" tIns="0" rIns="0" bIns="0" rtlCol="0" anchor="ctr"/>
          <a:lstStyle/>
          <a:p>
            <a:pPr marL="0" indent="0">
              <a:buNone/>
            </a:pPr>
            <a:r>
              <a:rPr lang="en-US" sz="1100" b="1" kern="0" spc="200">
                <a:solidFill>
                  <a:srgbClr val="2D8FCF"/>
                </a:solidFill>
                <a:latin typeface="Calibri" pitchFamily="34" charset="0"/>
                <a:ea typeface="Calibri" pitchFamily="34" charset="-122"/>
                <a:cs typeface="Calibri" pitchFamily="34" charset="-120"/>
              </a:rPr>
              <a:t>RESEARCH OVERVIEW</a:t>
            </a:r>
            <a:endParaRPr lang="en-US" sz="1100"/>
          </a:p>
        </p:txBody>
      </p:sp>
      <p:sp>
        <p:nvSpPr>
          <p:cNvPr id="4" name="Text 1"/>
          <p:cNvSpPr/>
          <p:nvPr/>
        </p:nvSpPr>
        <p:spPr>
          <a:xfrm>
            <a:off x="457200" y="530352"/>
            <a:ext cx="8229600" cy="777240"/>
          </a:xfrm>
          <a:prstGeom prst="rect">
            <a:avLst/>
          </a:prstGeom>
          <a:noFill/>
          <a:ln/>
        </p:spPr>
        <p:txBody>
          <a:bodyPr wrap="square" lIns="0" tIns="0" rIns="0" bIns="0" rtlCol="0" anchor="t"/>
          <a:lstStyle/>
          <a:p>
            <a:pPr marL="0" indent="0">
              <a:lnSpc>
                <a:spcPct val="102000"/>
              </a:lnSpc>
              <a:buNone/>
            </a:pPr>
            <a:r>
              <a:rPr lang="en-US" sz="2700" b="1">
                <a:solidFill>
                  <a:srgbClr val="FFFFFF"/>
                </a:solidFill>
                <a:latin typeface="Calibri" pitchFamily="34" charset="0"/>
                <a:ea typeface="Calibri" pitchFamily="34" charset="-122"/>
                <a:cs typeface="Calibri" pitchFamily="34" charset="-120"/>
              </a:rPr>
              <a:t>Threats &amp; Risks</a:t>
            </a:r>
            <a:endParaRPr lang="en-US" sz="2700"/>
          </a:p>
        </p:txBody>
      </p:sp>
      <p:sp>
        <p:nvSpPr>
          <p:cNvPr id="5" name="Shape 2"/>
          <p:cNvSpPr/>
          <p:nvPr/>
        </p:nvSpPr>
        <p:spPr>
          <a:xfrm>
            <a:off x="457200" y="1463040"/>
            <a:ext cx="420624" cy="420624"/>
          </a:xfrm>
          <a:prstGeom prst="ellipse">
            <a:avLst/>
          </a:prstGeom>
          <a:solidFill>
            <a:srgbClr val="6C4FD6"/>
          </a:solidFill>
          <a:ln/>
        </p:spPr>
        <p:txBody>
          <a:bodyPr/>
          <a:lstStyle/>
          <a:p>
            <a:endParaRPr lang="en-US"/>
          </a:p>
        </p:txBody>
      </p:sp>
      <p:pic>
        <p:nvPicPr>
          <p:cNvPr id="6" name="Image 1" descr="icons/exclaim.png"/>
          <p:cNvPicPr>
            <a:picLocks noChangeAspect="1"/>
          </p:cNvPicPr>
          <p:nvPr/>
        </p:nvPicPr>
        <p:blipFill>
          <a:blip r:embed="rId4"/>
          <a:stretch>
            <a:fillRect/>
          </a:stretch>
        </p:blipFill>
        <p:spPr>
          <a:xfrm>
            <a:off x="558150" y="1563990"/>
            <a:ext cx="218724" cy="218724"/>
          </a:xfrm>
          <a:prstGeom prst="rect">
            <a:avLst/>
          </a:prstGeom>
        </p:spPr>
      </p:pic>
      <p:sp>
        <p:nvSpPr>
          <p:cNvPr id="7" name="Text 3"/>
          <p:cNvSpPr/>
          <p:nvPr/>
        </p:nvSpPr>
        <p:spPr>
          <a:xfrm>
            <a:off x="1060704" y="1435608"/>
            <a:ext cx="7626096" cy="274320"/>
          </a:xfrm>
          <a:prstGeom prst="rect">
            <a:avLst/>
          </a:prstGeom>
          <a:noFill/>
          <a:ln/>
        </p:spPr>
        <p:txBody>
          <a:bodyPr wrap="square" lIns="0" tIns="0" rIns="0" bIns="0" rtlCol="0" anchor="t"/>
          <a:lstStyle/>
          <a:p>
            <a:pPr marL="0" indent="0">
              <a:buNone/>
            </a:pPr>
            <a:r>
              <a:rPr lang="en-US" sz="1300" b="1">
                <a:solidFill>
                  <a:srgbClr val="FFFFFF"/>
                </a:solidFill>
                <a:latin typeface="Calibri" pitchFamily="34" charset="0"/>
                <a:ea typeface="Calibri" pitchFamily="34" charset="-122"/>
                <a:cs typeface="Calibri" pitchFamily="34" charset="-120"/>
              </a:rPr>
              <a:t>Hallucination Risk</a:t>
            </a:r>
            <a:endParaRPr lang="en-US" sz="1300"/>
          </a:p>
        </p:txBody>
      </p:sp>
      <p:sp>
        <p:nvSpPr>
          <p:cNvPr id="8" name="Text 4"/>
          <p:cNvSpPr/>
          <p:nvPr/>
        </p:nvSpPr>
        <p:spPr>
          <a:xfrm>
            <a:off x="1060704" y="1719072"/>
            <a:ext cx="7626096" cy="758952"/>
          </a:xfrm>
          <a:prstGeom prst="rect">
            <a:avLst/>
          </a:prstGeom>
          <a:noFill/>
          <a:ln/>
        </p:spPr>
        <p:txBody>
          <a:bodyPr wrap="square" lIns="0" tIns="0" rIns="0" bIns="0" rtlCol="0" anchor="t"/>
          <a:lstStyle/>
          <a:p>
            <a:pPr marL="0" indent="0">
              <a:lnSpc>
                <a:spcPct val="108000"/>
              </a:lnSpc>
              <a:buNone/>
            </a:pPr>
            <a:r>
              <a:rPr lang="en-US" sz="1050">
                <a:solidFill>
                  <a:srgbClr val="C9CCE6"/>
                </a:solidFill>
                <a:latin typeface="Calibri" pitchFamily="34" charset="0"/>
                <a:ea typeface="Calibri" pitchFamily="34" charset="-122"/>
                <a:cs typeface="Calibri" pitchFamily="34" charset="-120"/>
              </a:rPr>
              <a:t>LLMs can produce plausible-but-wrong clinical claims. Clinician oversight is non-negotiable.</a:t>
            </a:r>
            <a:endParaRPr lang="en-US" sz="1050"/>
          </a:p>
        </p:txBody>
      </p:sp>
      <p:sp>
        <p:nvSpPr>
          <p:cNvPr id="9" name="Shape 5"/>
          <p:cNvSpPr/>
          <p:nvPr/>
        </p:nvSpPr>
        <p:spPr>
          <a:xfrm>
            <a:off x="457200" y="2514600"/>
            <a:ext cx="420624" cy="420624"/>
          </a:xfrm>
          <a:prstGeom prst="ellipse">
            <a:avLst/>
          </a:prstGeom>
          <a:solidFill>
            <a:srgbClr val="6C4FD6"/>
          </a:solidFill>
          <a:ln/>
        </p:spPr>
        <p:txBody>
          <a:bodyPr/>
          <a:lstStyle/>
          <a:p>
            <a:endParaRPr lang="en-US"/>
          </a:p>
        </p:txBody>
      </p:sp>
      <p:pic>
        <p:nvPicPr>
          <p:cNvPr id="10" name="Image 2" descr="icons/lock.png"/>
          <p:cNvPicPr>
            <a:picLocks noChangeAspect="1"/>
          </p:cNvPicPr>
          <p:nvPr/>
        </p:nvPicPr>
        <p:blipFill>
          <a:blip r:embed="rId5"/>
          <a:stretch>
            <a:fillRect/>
          </a:stretch>
        </p:blipFill>
        <p:spPr>
          <a:xfrm>
            <a:off x="558150" y="2615550"/>
            <a:ext cx="218724" cy="218724"/>
          </a:xfrm>
          <a:prstGeom prst="rect">
            <a:avLst/>
          </a:prstGeom>
        </p:spPr>
      </p:pic>
      <p:sp>
        <p:nvSpPr>
          <p:cNvPr id="11" name="Text 6"/>
          <p:cNvSpPr/>
          <p:nvPr/>
        </p:nvSpPr>
        <p:spPr>
          <a:xfrm>
            <a:off x="1060704" y="2487168"/>
            <a:ext cx="7626096" cy="274320"/>
          </a:xfrm>
          <a:prstGeom prst="rect">
            <a:avLst/>
          </a:prstGeom>
          <a:noFill/>
          <a:ln/>
        </p:spPr>
        <p:txBody>
          <a:bodyPr wrap="square" lIns="0" tIns="0" rIns="0" bIns="0" rtlCol="0" anchor="t"/>
          <a:lstStyle/>
          <a:p>
            <a:pPr marL="0" indent="0">
              <a:buNone/>
            </a:pPr>
            <a:r>
              <a:rPr lang="en-US" sz="1300" b="1">
                <a:solidFill>
                  <a:srgbClr val="FFFFFF"/>
                </a:solidFill>
                <a:latin typeface="Calibri" pitchFamily="34" charset="0"/>
                <a:ea typeface="Calibri" pitchFamily="34" charset="-122"/>
                <a:cs typeface="Calibri" pitchFamily="34" charset="-120"/>
              </a:rPr>
              <a:t>Privacy &amp; PHI</a:t>
            </a:r>
            <a:endParaRPr lang="en-US" sz="1300"/>
          </a:p>
        </p:txBody>
      </p:sp>
      <p:sp>
        <p:nvSpPr>
          <p:cNvPr id="12" name="Text 7"/>
          <p:cNvSpPr/>
          <p:nvPr/>
        </p:nvSpPr>
        <p:spPr>
          <a:xfrm>
            <a:off x="1060704" y="2770632"/>
            <a:ext cx="7626096" cy="758952"/>
          </a:xfrm>
          <a:prstGeom prst="rect">
            <a:avLst/>
          </a:prstGeom>
          <a:noFill/>
          <a:ln/>
        </p:spPr>
        <p:txBody>
          <a:bodyPr wrap="square" lIns="0" tIns="0" rIns="0" bIns="0" rtlCol="0" anchor="t"/>
          <a:lstStyle/>
          <a:p>
            <a:pPr marL="0" indent="0">
              <a:lnSpc>
                <a:spcPct val="108000"/>
              </a:lnSpc>
              <a:buNone/>
            </a:pPr>
            <a:r>
              <a:rPr lang="en-US" sz="1050">
                <a:solidFill>
                  <a:srgbClr val="C9CCE6"/>
                </a:solidFill>
                <a:latin typeface="Calibri" pitchFamily="34" charset="0"/>
                <a:ea typeface="Calibri" pitchFamily="34" charset="-122"/>
                <a:cs typeface="Calibri" pitchFamily="34" charset="-120"/>
              </a:rPr>
              <a:t>Training on protected health information requires differential privacy, federated learning, or on-prem deployment.</a:t>
            </a:r>
            <a:endParaRPr lang="en-US" sz="1050"/>
          </a:p>
        </p:txBody>
      </p:sp>
      <p:sp>
        <p:nvSpPr>
          <p:cNvPr id="13" name="Shape 8"/>
          <p:cNvSpPr/>
          <p:nvPr/>
        </p:nvSpPr>
        <p:spPr>
          <a:xfrm>
            <a:off x="457200" y="3566160"/>
            <a:ext cx="420624" cy="420624"/>
          </a:xfrm>
          <a:prstGeom prst="ellipse">
            <a:avLst/>
          </a:prstGeom>
          <a:solidFill>
            <a:srgbClr val="6C4FD6"/>
          </a:solidFill>
          <a:ln/>
        </p:spPr>
        <p:txBody>
          <a:bodyPr/>
          <a:lstStyle/>
          <a:p>
            <a:endParaRPr lang="en-US"/>
          </a:p>
        </p:txBody>
      </p:sp>
      <p:pic>
        <p:nvPicPr>
          <p:cNvPr id="14" name="Image 3" descr="icons/users.png"/>
          <p:cNvPicPr>
            <a:picLocks noChangeAspect="1"/>
          </p:cNvPicPr>
          <p:nvPr/>
        </p:nvPicPr>
        <p:blipFill>
          <a:blip r:embed="rId6"/>
          <a:stretch>
            <a:fillRect/>
          </a:stretch>
        </p:blipFill>
        <p:spPr>
          <a:xfrm>
            <a:off x="558150" y="3667110"/>
            <a:ext cx="218724" cy="218724"/>
          </a:xfrm>
          <a:prstGeom prst="rect">
            <a:avLst/>
          </a:prstGeom>
        </p:spPr>
      </p:pic>
      <p:sp>
        <p:nvSpPr>
          <p:cNvPr id="15" name="Text 9"/>
          <p:cNvSpPr/>
          <p:nvPr/>
        </p:nvSpPr>
        <p:spPr>
          <a:xfrm>
            <a:off x="1060704" y="3538728"/>
            <a:ext cx="7626096" cy="274320"/>
          </a:xfrm>
          <a:prstGeom prst="rect">
            <a:avLst/>
          </a:prstGeom>
          <a:noFill/>
          <a:ln/>
        </p:spPr>
        <p:txBody>
          <a:bodyPr wrap="square" lIns="0" tIns="0" rIns="0" bIns="0" rtlCol="0" anchor="t"/>
          <a:lstStyle/>
          <a:p>
            <a:pPr marL="0" indent="0">
              <a:buNone/>
            </a:pPr>
            <a:r>
              <a:rPr lang="en-US" sz="1300" b="1">
                <a:solidFill>
                  <a:srgbClr val="FFFFFF"/>
                </a:solidFill>
                <a:latin typeface="Calibri" pitchFamily="34" charset="0"/>
                <a:ea typeface="Calibri" pitchFamily="34" charset="-122"/>
                <a:cs typeface="Calibri" pitchFamily="34" charset="-120"/>
              </a:rPr>
              <a:t>Competitive Pressure</a:t>
            </a:r>
            <a:endParaRPr lang="en-US" sz="1300"/>
          </a:p>
        </p:txBody>
      </p:sp>
      <p:sp>
        <p:nvSpPr>
          <p:cNvPr id="16" name="Text 10"/>
          <p:cNvSpPr/>
          <p:nvPr/>
        </p:nvSpPr>
        <p:spPr>
          <a:xfrm>
            <a:off x="1060704" y="3822192"/>
            <a:ext cx="7626096" cy="758952"/>
          </a:xfrm>
          <a:prstGeom prst="rect">
            <a:avLst/>
          </a:prstGeom>
          <a:noFill/>
          <a:ln/>
        </p:spPr>
        <p:txBody>
          <a:bodyPr wrap="square" lIns="0" tIns="0" rIns="0" bIns="0" rtlCol="0" anchor="t"/>
          <a:lstStyle/>
          <a:p>
            <a:pPr marL="0" indent="0">
              <a:lnSpc>
                <a:spcPct val="108000"/>
              </a:lnSpc>
              <a:buNone/>
            </a:pPr>
            <a:r>
              <a:rPr lang="en-US" sz="1050">
                <a:solidFill>
                  <a:srgbClr val="C9CCE6"/>
                </a:solidFill>
                <a:latin typeface="Calibri" pitchFamily="34" charset="0"/>
                <a:ea typeface="Calibri" pitchFamily="34" charset="-122"/>
                <a:cs typeface="Calibri" pitchFamily="34" charset="-120"/>
              </a:rPr>
              <a:t>Big tech and startups are moving fast. Cotiviti's edge is domain expertise, but that edge isn't permanent.</a:t>
            </a:r>
            <a:endParaRPr lang="en-US" sz="1050"/>
          </a:p>
        </p:txBody>
      </p:sp>
      <p:sp>
        <p:nvSpPr>
          <p:cNvPr id="18" name="Text 11"/>
          <p:cNvSpPr/>
          <p:nvPr/>
        </p:nvSpPr>
        <p:spPr>
          <a:xfrm>
            <a:off x="8549640" y="4828032"/>
            <a:ext cx="274320" cy="228600"/>
          </a:xfrm>
          <a:prstGeom prst="rect">
            <a:avLst/>
          </a:prstGeom>
          <a:noFill/>
          <a:ln/>
        </p:spPr>
        <p:txBody>
          <a:bodyPr wrap="square" lIns="0" tIns="0" rIns="0" bIns="0" rtlCol="0" anchor="ctr"/>
          <a:lstStyle/>
          <a:p>
            <a:pPr marL="0" indent="0" algn="r">
              <a:buNone/>
            </a:pPr>
            <a:r>
              <a:rPr lang="en-US" sz="900">
                <a:solidFill>
                  <a:srgbClr val="C9CCE6"/>
                </a:solidFill>
                <a:latin typeface="Calibri" pitchFamily="34" charset="0"/>
                <a:ea typeface="Calibri" pitchFamily="34" charset="-122"/>
                <a:cs typeface="Calibri" pitchFamily="34" charset="-120"/>
              </a:rPr>
              <a:t>6</a:t>
            </a:r>
            <a:endParaRPr lang="en-US" sz="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a:effectLst/>
      </p:bgPr>
    </p:bg>
    <p:spTree>
      <p:nvGrpSpPr>
        <p:cNvPr id="1" name=""/>
        <p:cNvGrpSpPr/>
        <p:nvPr/>
      </p:nvGrpSpPr>
      <p:grpSpPr>
        <a:xfrm>
          <a:off x="0" y="0"/>
          <a:ext cx="0" cy="0"/>
          <a:chOff x="0" y="0"/>
          <a:chExt cx="0" cy="0"/>
        </a:xfrm>
      </p:grpSpPr>
      <p:pic>
        <p:nvPicPr>
          <p:cNvPr id="2" name="Image 0" descr="glow/glow_blue.jpg"/>
          <p:cNvPicPr>
            <a:picLocks noChangeAspect="1"/>
          </p:cNvPicPr>
          <p:nvPr/>
        </p:nvPicPr>
        <p:blipFill>
          <a:blip r:embed="rId3"/>
          <a:stretch>
            <a:fillRect/>
          </a:stretch>
        </p:blipFill>
        <p:spPr>
          <a:xfrm>
            <a:off x="-1737360" y="1645920"/>
            <a:ext cx="4206240" cy="3566160"/>
          </a:xfrm>
          <a:prstGeom prst="rect">
            <a:avLst/>
          </a:prstGeom>
        </p:spPr>
      </p:pic>
      <p:sp>
        <p:nvSpPr>
          <p:cNvPr id="3" name="Text 0"/>
          <p:cNvSpPr/>
          <p:nvPr/>
        </p:nvSpPr>
        <p:spPr>
          <a:xfrm>
            <a:off x="457200" y="292608"/>
            <a:ext cx="6400800" cy="256032"/>
          </a:xfrm>
          <a:prstGeom prst="rect">
            <a:avLst/>
          </a:prstGeom>
          <a:noFill/>
          <a:ln/>
        </p:spPr>
        <p:txBody>
          <a:bodyPr wrap="square" lIns="0" tIns="0" rIns="0" bIns="0" rtlCol="0" anchor="ctr"/>
          <a:lstStyle/>
          <a:p>
            <a:pPr marL="0" indent="0">
              <a:buNone/>
            </a:pPr>
            <a:r>
              <a:rPr lang="en-US" sz="1100" b="1" kern="0" spc="200">
                <a:solidFill>
                  <a:srgbClr val="2D8FCF"/>
                </a:solidFill>
                <a:latin typeface="Calibri" pitchFamily="34" charset="0"/>
                <a:ea typeface="Calibri" pitchFamily="34" charset="-122"/>
                <a:cs typeface="Calibri" pitchFamily="34" charset="-120"/>
              </a:rPr>
              <a:t>RESEARCH OVERVIEW</a:t>
            </a:r>
            <a:endParaRPr lang="en-US" sz="1100"/>
          </a:p>
        </p:txBody>
      </p:sp>
      <p:sp>
        <p:nvSpPr>
          <p:cNvPr id="4" name="Text 1"/>
          <p:cNvSpPr/>
          <p:nvPr/>
        </p:nvSpPr>
        <p:spPr>
          <a:xfrm>
            <a:off x="457200" y="530352"/>
            <a:ext cx="8229600" cy="777240"/>
          </a:xfrm>
          <a:prstGeom prst="rect">
            <a:avLst/>
          </a:prstGeom>
          <a:noFill/>
          <a:ln/>
        </p:spPr>
        <p:txBody>
          <a:bodyPr wrap="square" lIns="0" tIns="0" rIns="0" bIns="0" rtlCol="0" anchor="t"/>
          <a:lstStyle/>
          <a:p>
            <a:pPr marL="0" indent="0">
              <a:lnSpc>
                <a:spcPct val="102000"/>
              </a:lnSpc>
              <a:buNone/>
            </a:pPr>
            <a:r>
              <a:rPr lang="en-US" sz="2400" b="1">
                <a:solidFill>
                  <a:srgbClr val="FFFFFF"/>
                </a:solidFill>
                <a:latin typeface="Calibri" pitchFamily="34" charset="0"/>
                <a:ea typeface="Calibri" pitchFamily="34" charset="-122"/>
                <a:cs typeface="Calibri" pitchFamily="34" charset="-120"/>
              </a:rPr>
              <a:t>Roadmap</a:t>
            </a:r>
            <a:endParaRPr lang="en-US" sz="2400"/>
          </a:p>
        </p:txBody>
      </p:sp>
      <p:sp>
        <p:nvSpPr>
          <p:cNvPr id="5" name="Shape 2"/>
          <p:cNvSpPr/>
          <p:nvPr/>
        </p:nvSpPr>
        <p:spPr>
          <a:xfrm>
            <a:off x="1828800" y="2148840"/>
            <a:ext cx="5486400" cy="0"/>
          </a:xfrm>
          <a:prstGeom prst="line">
            <a:avLst/>
          </a:prstGeom>
          <a:noFill/>
          <a:ln w="25400">
            <a:solidFill>
              <a:srgbClr val="35354D"/>
            </a:solidFill>
            <a:prstDash val="solid"/>
          </a:ln>
        </p:spPr>
        <p:txBody>
          <a:bodyPr/>
          <a:lstStyle/>
          <a:p>
            <a:endParaRPr lang="en-US"/>
          </a:p>
        </p:txBody>
      </p:sp>
      <p:sp>
        <p:nvSpPr>
          <p:cNvPr id="6" name="Shape 3"/>
          <p:cNvSpPr/>
          <p:nvPr/>
        </p:nvSpPr>
        <p:spPr>
          <a:xfrm>
            <a:off x="1463040" y="1783080"/>
            <a:ext cx="731520" cy="731520"/>
          </a:xfrm>
          <a:prstGeom prst="ellipse">
            <a:avLst/>
          </a:prstGeom>
          <a:solidFill>
            <a:srgbClr val="2D8FCF"/>
          </a:solidFill>
          <a:ln/>
        </p:spPr>
        <p:txBody>
          <a:bodyPr/>
          <a:lstStyle/>
          <a:p>
            <a:endParaRPr lang="en-US"/>
          </a:p>
        </p:txBody>
      </p:sp>
      <p:sp>
        <p:nvSpPr>
          <p:cNvPr id="7" name="Text 4"/>
          <p:cNvSpPr/>
          <p:nvPr/>
        </p:nvSpPr>
        <p:spPr>
          <a:xfrm>
            <a:off x="1463040" y="1783080"/>
            <a:ext cx="731520" cy="731520"/>
          </a:xfrm>
          <a:prstGeom prst="rect">
            <a:avLst/>
          </a:prstGeom>
          <a:noFill/>
          <a:ln/>
        </p:spPr>
        <p:txBody>
          <a:bodyPr wrap="square" lIns="0" tIns="0" rIns="0" bIns="0" rtlCol="0" anchor="ctr"/>
          <a:lstStyle/>
          <a:p>
            <a:pPr marL="0" indent="0" algn="ctr">
              <a:buNone/>
            </a:pPr>
            <a:r>
              <a:rPr lang="en-US" sz="2600" b="1">
                <a:solidFill>
                  <a:srgbClr val="FFFFFF"/>
                </a:solidFill>
                <a:latin typeface="Calibri" pitchFamily="34" charset="0"/>
                <a:ea typeface="Calibri" pitchFamily="34" charset="-122"/>
                <a:cs typeface="Calibri" pitchFamily="34" charset="-120"/>
              </a:rPr>
              <a:t>1</a:t>
            </a:r>
            <a:endParaRPr lang="en-US" sz="2600"/>
          </a:p>
        </p:txBody>
      </p:sp>
      <p:sp>
        <p:nvSpPr>
          <p:cNvPr id="8" name="Text 5"/>
          <p:cNvSpPr/>
          <p:nvPr/>
        </p:nvSpPr>
        <p:spPr>
          <a:xfrm>
            <a:off x="594360" y="2697480"/>
            <a:ext cx="2468880" cy="274320"/>
          </a:xfrm>
          <a:prstGeom prst="rect">
            <a:avLst/>
          </a:prstGeom>
          <a:noFill/>
          <a:ln/>
        </p:spPr>
        <p:txBody>
          <a:bodyPr wrap="square" lIns="0" tIns="0" rIns="0" bIns="0" rtlCol="0" anchor="ctr"/>
          <a:lstStyle/>
          <a:p>
            <a:pPr marL="0" indent="0" algn="ctr">
              <a:buNone/>
            </a:pPr>
            <a:r>
              <a:rPr lang="en-US" sz="1000" b="1" kern="0" spc="50">
                <a:solidFill>
                  <a:srgbClr val="2D8FCF"/>
                </a:solidFill>
                <a:latin typeface="Calibri" pitchFamily="34" charset="0"/>
                <a:ea typeface="Calibri" pitchFamily="34" charset="-122"/>
                <a:cs typeface="Calibri" pitchFamily="34" charset="-120"/>
              </a:rPr>
              <a:t>PHASE 1  ·  0-12 MONTHS</a:t>
            </a:r>
            <a:endParaRPr lang="en-US" sz="1000"/>
          </a:p>
        </p:txBody>
      </p:sp>
      <p:sp>
        <p:nvSpPr>
          <p:cNvPr id="9" name="Text 6"/>
          <p:cNvSpPr/>
          <p:nvPr/>
        </p:nvSpPr>
        <p:spPr>
          <a:xfrm>
            <a:off x="594360" y="2962656"/>
            <a:ext cx="2468880" cy="548640"/>
          </a:xfrm>
          <a:prstGeom prst="rect">
            <a:avLst/>
          </a:prstGeom>
          <a:noFill/>
          <a:ln/>
        </p:spPr>
        <p:txBody>
          <a:bodyPr wrap="square" lIns="0" tIns="0" rIns="0" bIns="0" rtlCol="0" anchor="ctr"/>
          <a:lstStyle/>
          <a:p>
            <a:pPr marL="0" indent="0" algn="ctr">
              <a:lnSpc>
                <a:spcPct val="105000"/>
              </a:lnSpc>
              <a:buNone/>
            </a:pPr>
            <a:r>
              <a:rPr lang="en-US" sz="1350" b="1">
                <a:solidFill>
                  <a:srgbClr val="FFFFFF"/>
                </a:solidFill>
                <a:latin typeface="Calibri" pitchFamily="34" charset="0"/>
                <a:ea typeface="Calibri" pitchFamily="34" charset="-122"/>
                <a:cs typeface="Calibri" pitchFamily="34" charset="-120"/>
              </a:rPr>
              <a:t>LLM Enhancement</a:t>
            </a:r>
            <a:endParaRPr lang="en-US" sz="1350"/>
          </a:p>
        </p:txBody>
      </p:sp>
      <p:sp>
        <p:nvSpPr>
          <p:cNvPr id="10" name="Text 7"/>
          <p:cNvSpPr/>
          <p:nvPr/>
        </p:nvSpPr>
        <p:spPr>
          <a:xfrm>
            <a:off x="640080" y="3520440"/>
            <a:ext cx="2377440" cy="914400"/>
          </a:xfrm>
          <a:prstGeom prst="rect">
            <a:avLst/>
          </a:prstGeom>
          <a:noFill/>
          <a:ln/>
        </p:spPr>
        <p:txBody>
          <a:bodyPr wrap="square" lIns="0" tIns="0" rIns="0" bIns="0" rtlCol="0" anchor="ctr"/>
          <a:lstStyle/>
          <a:p>
            <a:pPr marL="0" indent="0" algn="ctr">
              <a:lnSpc>
                <a:spcPct val="110000"/>
              </a:lnSpc>
              <a:buNone/>
            </a:pPr>
            <a:r>
              <a:rPr lang="en-US" sz="1050">
                <a:solidFill>
                  <a:srgbClr val="C9CCE6"/>
                </a:solidFill>
                <a:latin typeface="Calibri" pitchFamily="34" charset="0"/>
                <a:ea typeface="Calibri" pitchFamily="34" charset="-122"/>
                <a:cs typeface="Calibri" pitchFamily="34" charset="-120"/>
              </a:rPr>
              <a:t>Upgrade Pre-Visit Prep &amp; Member Suspecting. Low-risk, high-ROI, builds on existing pipelines.</a:t>
            </a:r>
            <a:endParaRPr lang="en-US" sz="1050"/>
          </a:p>
        </p:txBody>
      </p:sp>
      <p:sp>
        <p:nvSpPr>
          <p:cNvPr id="11" name="Shape 8"/>
          <p:cNvSpPr/>
          <p:nvPr/>
        </p:nvSpPr>
        <p:spPr>
          <a:xfrm>
            <a:off x="4206240" y="1783080"/>
            <a:ext cx="731520" cy="731520"/>
          </a:xfrm>
          <a:prstGeom prst="ellipse">
            <a:avLst/>
          </a:prstGeom>
          <a:solidFill>
            <a:srgbClr val="2D8FCF"/>
          </a:solidFill>
          <a:ln/>
        </p:spPr>
        <p:txBody>
          <a:bodyPr/>
          <a:lstStyle/>
          <a:p>
            <a:endParaRPr lang="en-US"/>
          </a:p>
        </p:txBody>
      </p:sp>
      <p:sp>
        <p:nvSpPr>
          <p:cNvPr id="12" name="Text 9"/>
          <p:cNvSpPr/>
          <p:nvPr/>
        </p:nvSpPr>
        <p:spPr>
          <a:xfrm>
            <a:off x="4206240" y="1783080"/>
            <a:ext cx="731520" cy="731520"/>
          </a:xfrm>
          <a:prstGeom prst="rect">
            <a:avLst/>
          </a:prstGeom>
          <a:noFill/>
          <a:ln/>
        </p:spPr>
        <p:txBody>
          <a:bodyPr wrap="square" lIns="0" tIns="0" rIns="0" bIns="0" rtlCol="0" anchor="ctr"/>
          <a:lstStyle/>
          <a:p>
            <a:pPr marL="0" indent="0" algn="ctr">
              <a:buNone/>
            </a:pPr>
            <a:r>
              <a:rPr lang="en-US" sz="2600" b="1">
                <a:solidFill>
                  <a:srgbClr val="FFFFFF"/>
                </a:solidFill>
                <a:latin typeface="Calibri" pitchFamily="34" charset="0"/>
                <a:ea typeface="Calibri" pitchFamily="34" charset="-122"/>
                <a:cs typeface="Calibri" pitchFamily="34" charset="-120"/>
              </a:rPr>
              <a:t>2</a:t>
            </a:r>
            <a:endParaRPr lang="en-US" sz="2600"/>
          </a:p>
        </p:txBody>
      </p:sp>
      <p:sp>
        <p:nvSpPr>
          <p:cNvPr id="13" name="Text 10"/>
          <p:cNvSpPr/>
          <p:nvPr/>
        </p:nvSpPr>
        <p:spPr>
          <a:xfrm>
            <a:off x="3337560" y="2697480"/>
            <a:ext cx="2468880" cy="274320"/>
          </a:xfrm>
          <a:prstGeom prst="rect">
            <a:avLst/>
          </a:prstGeom>
          <a:noFill/>
          <a:ln/>
        </p:spPr>
        <p:txBody>
          <a:bodyPr wrap="square" lIns="0" tIns="0" rIns="0" bIns="0" rtlCol="0" anchor="ctr"/>
          <a:lstStyle/>
          <a:p>
            <a:pPr marL="0" indent="0" algn="ctr">
              <a:buNone/>
            </a:pPr>
            <a:r>
              <a:rPr lang="en-US" sz="1000" b="1" kern="0" spc="50">
                <a:solidFill>
                  <a:srgbClr val="2D8FCF"/>
                </a:solidFill>
                <a:latin typeface="Calibri" pitchFamily="34" charset="0"/>
                <a:ea typeface="Calibri" pitchFamily="34" charset="-122"/>
                <a:cs typeface="Calibri" pitchFamily="34" charset="-120"/>
              </a:rPr>
              <a:t>PHASE 2  ·  12-24 MONTHS</a:t>
            </a:r>
            <a:endParaRPr lang="en-US" sz="1000"/>
          </a:p>
        </p:txBody>
      </p:sp>
      <p:sp>
        <p:nvSpPr>
          <p:cNvPr id="14" name="Text 11"/>
          <p:cNvSpPr/>
          <p:nvPr/>
        </p:nvSpPr>
        <p:spPr>
          <a:xfrm>
            <a:off x="3337560" y="2962656"/>
            <a:ext cx="2468880" cy="548640"/>
          </a:xfrm>
          <a:prstGeom prst="rect">
            <a:avLst/>
          </a:prstGeom>
          <a:noFill/>
          <a:ln/>
        </p:spPr>
        <p:txBody>
          <a:bodyPr wrap="square" lIns="0" tIns="0" rIns="0" bIns="0" rtlCol="0" anchor="ctr"/>
          <a:lstStyle/>
          <a:p>
            <a:pPr marL="0" indent="0" algn="ctr">
              <a:lnSpc>
                <a:spcPct val="105000"/>
              </a:lnSpc>
              <a:buNone/>
            </a:pPr>
            <a:r>
              <a:rPr lang="en-US" sz="1350" b="1">
                <a:solidFill>
                  <a:srgbClr val="FFFFFF"/>
                </a:solidFill>
                <a:latin typeface="Calibri" pitchFamily="34" charset="0"/>
                <a:ea typeface="Calibri" pitchFamily="34" charset="-122"/>
                <a:cs typeface="Calibri" pitchFamily="34" charset="-120"/>
              </a:rPr>
              <a:t>Multimodal Intelligence Platform</a:t>
            </a:r>
            <a:endParaRPr lang="en-US" sz="1350"/>
          </a:p>
        </p:txBody>
      </p:sp>
      <p:sp>
        <p:nvSpPr>
          <p:cNvPr id="15" name="Text 12"/>
          <p:cNvSpPr/>
          <p:nvPr/>
        </p:nvSpPr>
        <p:spPr>
          <a:xfrm>
            <a:off x="3383280" y="3520440"/>
            <a:ext cx="2377440" cy="914400"/>
          </a:xfrm>
          <a:prstGeom prst="rect">
            <a:avLst/>
          </a:prstGeom>
          <a:noFill/>
          <a:ln/>
        </p:spPr>
        <p:txBody>
          <a:bodyPr wrap="square" lIns="0" tIns="0" rIns="0" bIns="0" rtlCol="0" anchor="ctr"/>
          <a:lstStyle/>
          <a:p>
            <a:pPr marL="0" indent="0" algn="ctr">
              <a:lnSpc>
                <a:spcPct val="110000"/>
              </a:lnSpc>
              <a:buNone/>
            </a:pPr>
            <a:r>
              <a:rPr lang="en-US" sz="1050">
                <a:solidFill>
                  <a:srgbClr val="C9CCE6"/>
                </a:solidFill>
                <a:latin typeface="Calibri" pitchFamily="34" charset="0"/>
                <a:ea typeface="Calibri" pitchFamily="34" charset="-122"/>
                <a:cs typeface="Calibri" pitchFamily="34" charset="-120"/>
              </a:rPr>
              <a:t>Computer vision for documents &amp; images, possibly via vendor partnership.</a:t>
            </a:r>
            <a:endParaRPr lang="en-US" sz="1050"/>
          </a:p>
        </p:txBody>
      </p:sp>
      <p:sp>
        <p:nvSpPr>
          <p:cNvPr id="16" name="Shape 13"/>
          <p:cNvSpPr/>
          <p:nvPr/>
        </p:nvSpPr>
        <p:spPr>
          <a:xfrm>
            <a:off x="6949440" y="1783080"/>
            <a:ext cx="731520" cy="731520"/>
          </a:xfrm>
          <a:prstGeom prst="ellipse">
            <a:avLst/>
          </a:prstGeom>
          <a:solidFill>
            <a:srgbClr val="6C4FD6"/>
          </a:solidFill>
          <a:ln/>
        </p:spPr>
        <p:txBody>
          <a:bodyPr/>
          <a:lstStyle/>
          <a:p>
            <a:endParaRPr lang="en-US"/>
          </a:p>
        </p:txBody>
      </p:sp>
      <p:sp>
        <p:nvSpPr>
          <p:cNvPr id="17" name="Text 14"/>
          <p:cNvSpPr/>
          <p:nvPr/>
        </p:nvSpPr>
        <p:spPr>
          <a:xfrm>
            <a:off x="6949440" y="1783080"/>
            <a:ext cx="731520" cy="731520"/>
          </a:xfrm>
          <a:prstGeom prst="rect">
            <a:avLst/>
          </a:prstGeom>
          <a:noFill/>
          <a:ln/>
        </p:spPr>
        <p:txBody>
          <a:bodyPr wrap="square" lIns="0" tIns="0" rIns="0" bIns="0" rtlCol="0" anchor="ctr"/>
          <a:lstStyle/>
          <a:p>
            <a:pPr marL="0" indent="0" algn="ctr">
              <a:buNone/>
            </a:pPr>
            <a:r>
              <a:rPr lang="en-US" sz="2600" b="1">
                <a:solidFill>
                  <a:srgbClr val="FFFFFF"/>
                </a:solidFill>
                <a:latin typeface="Calibri" pitchFamily="34" charset="0"/>
                <a:ea typeface="Calibri" pitchFamily="34" charset="-122"/>
                <a:cs typeface="Calibri" pitchFamily="34" charset="-120"/>
              </a:rPr>
              <a:t>3</a:t>
            </a:r>
            <a:endParaRPr lang="en-US" sz="2600"/>
          </a:p>
        </p:txBody>
      </p:sp>
      <p:sp>
        <p:nvSpPr>
          <p:cNvPr id="18" name="Text 15"/>
          <p:cNvSpPr/>
          <p:nvPr/>
        </p:nvSpPr>
        <p:spPr>
          <a:xfrm>
            <a:off x="6080760" y="2697480"/>
            <a:ext cx="2468880" cy="274320"/>
          </a:xfrm>
          <a:prstGeom prst="rect">
            <a:avLst/>
          </a:prstGeom>
          <a:noFill/>
          <a:ln/>
        </p:spPr>
        <p:txBody>
          <a:bodyPr wrap="square" lIns="0" tIns="0" rIns="0" bIns="0" rtlCol="0" anchor="ctr"/>
          <a:lstStyle/>
          <a:p>
            <a:pPr marL="0" indent="0" algn="ctr">
              <a:buNone/>
            </a:pPr>
            <a:r>
              <a:rPr lang="en-US" sz="1000" b="1" kern="0" spc="50">
                <a:solidFill>
                  <a:srgbClr val="2D8FCF"/>
                </a:solidFill>
                <a:latin typeface="Calibri" pitchFamily="34" charset="0"/>
                <a:ea typeface="Calibri" pitchFamily="34" charset="-122"/>
                <a:cs typeface="Calibri" pitchFamily="34" charset="-120"/>
              </a:rPr>
              <a:t>PHASE 3  ·  24-36 MONTHS</a:t>
            </a:r>
            <a:endParaRPr lang="en-US" sz="1000"/>
          </a:p>
        </p:txBody>
      </p:sp>
      <p:sp>
        <p:nvSpPr>
          <p:cNvPr id="19" name="Text 16"/>
          <p:cNvSpPr/>
          <p:nvPr/>
        </p:nvSpPr>
        <p:spPr>
          <a:xfrm>
            <a:off x="6080760" y="2962656"/>
            <a:ext cx="2468880" cy="548640"/>
          </a:xfrm>
          <a:prstGeom prst="rect">
            <a:avLst/>
          </a:prstGeom>
          <a:noFill/>
          <a:ln/>
        </p:spPr>
        <p:txBody>
          <a:bodyPr wrap="square" lIns="0" tIns="0" rIns="0" bIns="0" rtlCol="0" anchor="ctr"/>
          <a:lstStyle/>
          <a:p>
            <a:pPr marL="0" indent="0" algn="ctr">
              <a:lnSpc>
                <a:spcPct val="105000"/>
              </a:lnSpc>
              <a:buNone/>
            </a:pPr>
            <a:r>
              <a:rPr lang="en-US" sz="1350" b="1">
                <a:solidFill>
                  <a:srgbClr val="FFFFFF"/>
                </a:solidFill>
                <a:latin typeface="Calibri" pitchFamily="34" charset="0"/>
                <a:ea typeface="Calibri" pitchFamily="34" charset="-122"/>
                <a:cs typeface="Calibri" pitchFamily="34" charset="-120"/>
              </a:rPr>
              <a:t>Agentic AI for Risk Adjustment</a:t>
            </a:r>
            <a:endParaRPr lang="en-US" sz="1350"/>
          </a:p>
        </p:txBody>
      </p:sp>
      <p:sp>
        <p:nvSpPr>
          <p:cNvPr id="20" name="Text 17"/>
          <p:cNvSpPr/>
          <p:nvPr/>
        </p:nvSpPr>
        <p:spPr>
          <a:xfrm>
            <a:off x="6126480" y="3520440"/>
            <a:ext cx="2377440" cy="914400"/>
          </a:xfrm>
          <a:prstGeom prst="rect">
            <a:avLst/>
          </a:prstGeom>
          <a:noFill/>
          <a:ln/>
        </p:spPr>
        <p:txBody>
          <a:bodyPr wrap="square" lIns="0" tIns="0" rIns="0" bIns="0" rtlCol="0" anchor="ctr"/>
          <a:lstStyle/>
          <a:p>
            <a:pPr marL="0" indent="0" algn="ctr">
              <a:lnSpc>
                <a:spcPct val="110000"/>
              </a:lnSpc>
              <a:buNone/>
            </a:pPr>
            <a:r>
              <a:rPr lang="en-US" sz="1050">
                <a:solidFill>
                  <a:srgbClr val="C9CCE6"/>
                </a:solidFill>
                <a:latin typeface="Calibri" pitchFamily="34" charset="0"/>
                <a:ea typeface="Calibri" pitchFamily="34" charset="-122"/>
                <a:cs typeface="Calibri" pitchFamily="34" charset="-120"/>
              </a:rPr>
              <a:t>Proactive, autonomous coding-change suggestions.</a:t>
            </a:r>
            <a:endParaRPr lang="en-US" sz="1050"/>
          </a:p>
        </p:txBody>
      </p:sp>
      <p:sp>
        <p:nvSpPr>
          <p:cNvPr id="22" name="Text 18"/>
          <p:cNvSpPr/>
          <p:nvPr/>
        </p:nvSpPr>
        <p:spPr>
          <a:xfrm>
            <a:off x="8549640" y="4828032"/>
            <a:ext cx="274320" cy="228600"/>
          </a:xfrm>
          <a:prstGeom prst="rect">
            <a:avLst/>
          </a:prstGeom>
          <a:noFill/>
          <a:ln/>
        </p:spPr>
        <p:txBody>
          <a:bodyPr wrap="square" lIns="0" tIns="0" rIns="0" bIns="0" rtlCol="0" anchor="ctr"/>
          <a:lstStyle/>
          <a:p>
            <a:pPr marL="0" indent="0" algn="r">
              <a:buNone/>
            </a:pPr>
            <a:r>
              <a:rPr lang="en-US" sz="900">
                <a:solidFill>
                  <a:srgbClr val="C9CCE6"/>
                </a:solidFill>
                <a:latin typeface="Calibri" pitchFamily="34" charset="0"/>
                <a:ea typeface="Calibri" pitchFamily="34" charset="-122"/>
                <a:cs typeface="Calibri" pitchFamily="34" charset="-120"/>
              </a:rPr>
              <a:t>7</a:t>
            </a:r>
            <a:endParaRPr lang="en-US" sz="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00000"/>
        </a:solidFill>
        <a:effectLst/>
      </p:bgPr>
    </p:bg>
    <p:spTree>
      <p:nvGrpSpPr>
        <p:cNvPr id="1" name=""/>
        <p:cNvGrpSpPr/>
        <p:nvPr/>
      </p:nvGrpSpPr>
      <p:grpSpPr>
        <a:xfrm>
          <a:off x="0" y="0"/>
          <a:ext cx="0" cy="0"/>
          <a:chOff x="0" y="0"/>
          <a:chExt cx="0" cy="0"/>
        </a:xfrm>
      </p:grpSpPr>
      <p:pic>
        <p:nvPicPr>
          <p:cNvPr id="2" name="Image 0" descr="glow/glow_blue.jpg"/>
          <p:cNvPicPr>
            <a:picLocks noChangeAspect="1"/>
          </p:cNvPicPr>
          <p:nvPr/>
        </p:nvPicPr>
        <p:blipFill>
          <a:blip r:embed="rId3"/>
          <a:stretch>
            <a:fillRect/>
          </a:stretch>
        </p:blipFill>
        <p:spPr>
          <a:xfrm>
            <a:off x="6583680" y="2011680"/>
            <a:ext cx="3840480" cy="3291840"/>
          </a:xfrm>
          <a:prstGeom prst="rect">
            <a:avLst/>
          </a:prstGeom>
        </p:spPr>
      </p:pic>
      <p:sp>
        <p:nvSpPr>
          <p:cNvPr id="3" name="Text 0"/>
          <p:cNvSpPr/>
          <p:nvPr/>
        </p:nvSpPr>
        <p:spPr>
          <a:xfrm>
            <a:off x="457200" y="292608"/>
            <a:ext cx="6400800" cy="256032"/>
          </a:xfrm>
          <a:prstGeom prst="rect">
            <a:avLst/>
          </a:prstGeom>
          <a:noFill/>
          <a:ln/>
        </p:spPr>
        <p:txBody>
          <a:bodyPr wrap="square" lIns="0" tIns="0" rIns="0" bIns="0" rtlCol="0" anchor="ctr"/>
          <a:lstStyle/>
          <a:p>
            <a:pPr marL="0" indent="0">
              <a:buNone/>
            </a:pPr>
            <a:r>
              <a:rPr lang="en-US" sz="1100" b="1" kern="0" spc="200">
                <a:solidFill>
                  <a:srgbClr val="2D8FCF"/>
                </a:solidFill>
                <a:latin typeface="Calibri" pitchFamily="34" charset="0"/>
                <a:ea typeface="Calibri" pitchFamily="34" charset="-122"/>
                <a:cs typeface="Calibri" pitchFamily="34" charset="-120"/>
              </a:rPr>
              <a:t>PROOF OF CONCEPT</a:t>
            </a:r>
            <a:endParaRPr lang="en-US" sz="1100"/>
          </a:p>
        </p:txBody>
      </p:sp>
      <p:sp>
        <p:nvSpPr>
          <p:cNvPr id="4" name="Text 1"/>
          <p:cNvSpPr/>
          <p:nvPr/>
        </p:nvSpPr>
        <p:spPr>
          <a:xfrm>
            <a:off x="457200" y="530352"/>
            <a:ext cx="8229600" cy="777240"/>
          </a:xfrm>
          <a:prstGeom prst="rect">
            <a:avLst/>
          </a:prstGeom>
          <a:noFill/>
          <a:ln/>
        </p:spPr>
        <p:txBody>
          <a:bodyPr wrap="square" lIns="0" tIns="0" rIns="0" bIns="0" rtlCol="0" anchor="t"/>
          <a:lstStyle/>
          <a:p>
            <a:pPr marL="0" indent="0">
              <a:lnSpc>
                <a:spcPct val="102000"/>
              </a:lnSpc>
              <a:buNone/>
            </a:pPr>
            <a:r>
              <a:rPr lang="en-US" sz="2700" b="1">
                <a:solidFill>
                  <a:srgbClr val="FFFFFF"/>
                </a:solidFill>
                <a:latin typeface="Calibri" pitchFamily="34" charset="0"/>
                <a:ea typeface="Calibri" pitchFamily="34" charset="-122"/>
                <a:cs typeface="Calibri" pitchFamily="34" charset="-120"/>
              </a:rPr>
              <a:t>The PoC</a:t>
            </a:r>
            <a:endParaRPr lang="en-US" sz="2700"/>
          </a:p>
        </p:txBody>
      </p:sp>
      <p:sp>
        <p:nvSpPr>
          <p:cNvPr id="5" name="Shape 2"/>
          <p:cNvSpPr/>
          <p:nvPr/>
        </p:nvSpPr>
        <p:spPr>
          <a:xfrm>
            <a:off x="457200" y="1417320"/>
            <a:ext cx="3794760" cy="3200400"/>
          </a:xfrm>
          <a:prstGeom prst="roundRect">
            <a:avLst>
              <a:gd name="adj" fmla="val 2000"/>
            </a:avLst>
          </a:prstGeom>
          <a:solidFill>
            <a:srgbClr val="131320"/>
          </a:solidFill>
          <a:ln w="12700">
            <a:solidFill>
              <a:srgbClr val="2D8FCF"/>
            </a:solidFill>
            <a:prstDash val="solid"/>
          </a:ln>
        </p:spPr>
        <p:txBody>
          <a:bodyPr/>
          <a:lstStyle/>
          <a:p>
            <a:endParaRPr lang="en-US"/>
          </a:p>
        </p:txBody>
      </p:sp>
      <p:sp>
        <p:nvSpPr>
          <p:cNvPr id="6" name="Text 3"/>
          <p:cNvSpPr/>
          <p:nvPr/>
        </p:nvSpPr>
        <p:spPr>
          <a:xfrm>
            <a:off x="685800" y="1627632"/>
            <a:ext cx="3337560" cy="685800"/>
          </a:xfrm>
          <a:prstGeom prst="rect">
            <a:avLst/>
          </a:prstGeom>
          <a:noFill/>
          <a:ln/>
        </p:spPr>
        <p:txBody>
          <a:bodyPr wrap="square" lIns="0" tIns="0" rIns="0" bIns="0" rtlCol="0" anchor="ctr"/>
          <a:lstStyle/>
          <a:p>
            <a:pPr marL="0" indent="0">
              <a:buNone/>
            </a:pPr>
            <a:r>
              <a:rPr lang="en-US" sz="3800" b="1">
                <a:solidFill>
                  <a:srgbClr val="2D8FCF"/>
                </a:solidFill>
                <a:latin typeface="Calibri" pitchFamily="34" charset="0"/>
                <a:ea typeface="Calibri" pitchFamily="34" charset="-122"/>
                <a:cs typeface="Calibri" pitchFamily="34" charset="-120"/>
              </a:rPr>
              <a:t>RAG</a:t>
            </a:r>
            <a:endParaRPr lang="en-US" sz="3800"/>
          </a:p>
        </p:txBody>
      </p:sp>
      <p:sp>
        <p:nvSpPr>
          <p:cNvPr id="7" name="Text 4"/>
          <p:cNvSpPr/>
          <p:nvPr/>
        </p:nvSpPr>
        <p:spPr>
          <a:xfrm>
            <a:off x="685800" y="2286000"/>
            <a:ext cx="3337560" cy="365760"/>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Retrieval-Augmented Generation</a:t>
            </a:r>
            <a:endParaRPr lang="en-US" sz="1400"/>
          </a:p>
        </p:txBody>
      </p:sp>
      <p:sp>
        <p:nvSpPr>
          <p:cNvPr id="8" name="Text 5"/>
          <p:cNvSpPr/>
          <p:nvPr/>
        </p:nvSpPr>
        <p:spPr>
          <a:xfrm>
            <a:off x="685800" y="2697480"/>
            <a:ext cx="3337560" cy="777240"/>
          </a:xfrm>
          <a:prstGeom prst="rect">
            <a:avLst/>
          </a:prstGeom>
          <a:noFill/>
          <a:ln/>
        </p:spPr>
        <p:txBody>
          <a:bodyPr wrap="square" lIns="0" tIns="0" rIns="0" bIns="0" rtlCol="0" anchor="ctr"/>
          <a:lstStyle/>
          <a:p>
            <a:pPr marL="0" indent="0">
              <a:lnSpc>
                <a:spcPct val="120000"/>
              </a:lnSpc>
              <a:buNone/>
            </a:pPr>
            <a:r>
              <a:rPr lang="en-US" sz="1200">
                <a:solidFill>
                  <a:srgbClr val="C9CCE6"/>
                </a:solidFill>
                <a:latin typeface="Calibri" pitchFamily="34" charset="0"/>
                <a:ea typeface="Calibri" pitchFamily="34" charset="-122"/>
                <a:cs typeface="Calibri" pitchFamily="34" charset="-120"/>
              </a:rPr>
              <a:t>Ground an LLM's answer in real retrieved evidence, not just what it memorized in training.</a:t>
            </a:r>
            <a:endParaRPr lang="en-US" sz="1200"/>
          </a:p>
        </p:txBody>
      </p:sp>
      <p:sp>
        <p:nvSpPr>
          <p:cNvPr id="9" name="Shape 6"/>
          <p:cNvSpPr/>
          <p:nvPr/>
        </p:nvSpPr>
        <p:spPr>
          <a:xfrm>
            <a:off x="685800" y="3611880"/>
            <a:ext cx="3337560" cy="822960"/>
          </a:xfrm>
          <a:prstGeom prst="roundRect">
            <a:avLst>
              <a:gd name="adj" fmla="val 6667"/>
            </a:avLst>
          </a:prstGeom>
          <a:solidFill>
            <a:srgbClr val="1A1A2A"/>
          </a:solidFill>
          <a:ln/>
        </p:spPr>
        <p:txBody>
          <a:bodyPr/>
          <a:lstStyle/>
          <a:p>
            <a:endParaRPr lang="en-US"/>
          </a:p>
        </p:txBody>
      </p:sp>
      <p:sp>
        <p:nvSpPr>
          <p:cNvPr id="10" name="Text 7"/>
          <p:cNvSpPr/>
          <p:nvPr/>
        </p:nvSpPr>
        <p:spPr>
          <a:xfrm>
            <a:off x="868680" y="3685032"/>
            <a:ext cx="2971800" cy="694944"/>
          </a:xfrm>
          <a:prstGeom prst="rect">
            <a:avLst/>
          </a:prstGeom>
          <a:noFill/>
          <a:ln/>
        </p:spPr>
        <p:txBody>
          <a:bodyPr wrap="square" lIns="0" tIns="0" rIns="0" bIns="0" rtlCol="0" anchor="ctr"/>
          <a:lstStyle/>
          <a:p>
            <a:pPr marL="0" indent="0">
              <a:lnSpc>
                <a:spcPct val="110000"/>
              </a:lnSpc>
              <a:buNone/>
            </a:pPr>
            <a:r>
              <a:rPr lang="en-US" sz="980" i="1">
                <a:solidFill>
                  <a:srgbClr val="C9CCE6"/>
                </a:solidFill>
                <a:latin typeface="Calibri" pitchFamily="34" charset="0"/>
                <a:ea typeface="Calibri" pitchFamily="34" charset="-122"/>
                <a:cs typeface="Calibri" pitchFamily="34" charset="-120"/>
              </a:rPr>
              <a:t>Agentic RAG for Risk Adjustment Decision Support: ingests unstructured clinical notes, retrieves evidence, and helps coders reason about ICD-10 capture.</a:t>
            </a:r>
            <a:endParaRPr lang="en-US" sz="980"/>
          </a:p>
        </p:txBody>
      </p:sp>
      <p:sp>
        <p:nvSpPr>
          <p:cNvPr id="11" name="Shape 8"/>
          <p:cNvSpPr/>
          <p:nvPr/>
        </p:nvSpPr>
        <p:spPr>
          <a:xfrm>
            <a:off x="4572000" y="1600200"/>
            <a:ext cx="420624" cy="420624"/>
          </a:xfrm>
          <a:prstGeom prst="ellipse">
            <a:avLst/>
          </a:prstGeom>
          <a:solidFill>
            <a:srgbClr val="2D8FCF"/>
          </a:solidFill>
          <a:ln/>
        </p:spPr>
        <p:txBody>
          <a:bodyPr/>
          <a:lstStyle/>
          <a:p>
            <a:endParaRPr lang="en-US"/>
          </a:p>
        </p:txBody>
      </p:sp>
      <p:pic>
        <p:nvPicPr>
          <p:cNvPr id="12" name="Image 1" descr="icons/eye.png"/>
          <p:cNvPicPr>
            <a:picLocks noChangeAspect="1"/>
          </p:cNvPicPr>
          <p:nvPr/>
        </p:nvPicPr>
        <p:blipFill>
          <a:blip r:embed="rId4"/>
          <a:stretch>
            <a:fillRect/>
          </a:stretch>
        </p:blipFill>
        <p:spPr>
          <a:xfrm>
            <a:off x="4672950" y="1701150"/>
            <a:ext cx="218724" cy="218724"/>
          </a:xfrm>
          <a:prstGeom prst="rect">
            <a:avLst/>
          </a:prstGeom>
        </p:spPr>
      </p:pic>
      <p:sp>
        <p:nvSpPr>
          <p:cNvPr id="13" name="Text 9"/>
          <p:cNvSpPr/>
          <p:nvPr/>
        </p:nvSpPr>
        <p:spPr>
          <a:xfrm>
            <a:off x="5175504" y="1572768"/>
            <a:ext cx="3511296" cy="274320"/>
          </a:xfrm>
          <a:prstGeom prst="rect">
            <a:avLst/>
          </a:prstGeom>
          <a:noFill/>
          <a:ln/>
        </p:spPr>
        <p:txBody>
          <a:bodyPr wrap="square" lIns="0" tIns="0" rIns="0" bIns="0" rtlCol="0" anchor="t"/>
          <a:lstStyle/>
          <a:p>
            <a:pPr marL="0" indent="0">
              <a:buNone/>
            </a:pPr>
            <a:r>
              <a:rPr lang="en-US" sz="1300" b="1">
                <a:solidFill>
                  <a:srgbClr val="FFFFFF"/>
                </a:solidFill>
                <a:latin typeface="Calibri" pitchFamily="34" charset="0"/>
                <a:ea typeface="Calibri" pitchFamily="34" charset="-122"/>
                <a:cs typeface="Calibri" pitchFamily="34" charset="-120"/>
              </a:rPr>
              <a:t>Transparent Retrieval</a:t>
            </a:r>
            <a:endParaRPr lang="en-US" sz="1300"/>
          </a:p>
        </p:txBody>
      </p:sp>
      <p:sp>
        <p:nvSpPr>
          <p:cNvPr id="14" name="Text 10"/>
          <p:cNvSpPr/>
          <p:nvPr/>
        </p:nvSpPr>
        <p:spPr>
          <a:xfrm>
            <a:off x="5175504" y="1856232"/>
            <a:ext cx="3511296" cy="621792"/>
          </a:xfrm>
          <a:prstGeom prst="rect">
            <a:avLst/>
          </a:prstGeom>
          <a:noFill/>
          <a:ln/>
        </p:spPr>
        <p:txBody>
          <a:bodyPr wrap="square" lIns="0" tIns="0" rIns="0" bIns="0" rtlCol="0" anchor="t"/>
          <a:lstStyle/>
          <a:p>
            <a:pPr marL="0" indent="0">
              <a:lnSpc>
                <a:spcPct val="108000"/>
              </a:lnSpc>
              <a:buNone/>
            </a:pPr>
            <a:r>
              <a:rPr lang="en-US" sz="1050">
                <a:solidFill>
                  <a:srgbClr val="C9CCE6"/>
                </a:solidFill>
                <a:latin typeface="Calibri" pitchFamily="34" charset="0"/>
                <a:ea typeface="Calibri" pitchFamily="34" charset="-122"/>
                <a:cs typeface="Calibri" pitchFamily="34" charset="-120"/>
              </a:rPr>
              <a:t>Shows the source chunks that grounded every answer.</a:t>
            </a:r>
            <a:endParaRPr lang="en-US" sz="1050"/>
          </a:p>
        </p:txBody>
      </p:sp>
      <p:sp>
        <p:nvSpPr>
          <p:cNvPr id="15" name="Shape 11"/>
          <p:cNvSpPr/>
          <p:nvPr/>
        </p:nvSpPr>
        <p:spPr>
          <a:xfrm>
            <a:off x="4572000" y="2514600"/>
            <a:ext cx="420624" cy="420624"/>
          </a:xfrm>
          <a:prstGeom prst="ellipse">
            <a:avLst/>
          </a:prstGeom>
          <a:solidFill>
            <a:srgbClr val="2D8FCF"/>
          </a:solidFill>
          <a:ln/>
        </p:spPr>
        <p:txBody>
          <a:bodyPr/>
          <a:lstStyle/>
          <a:p>
            <a:endParaRPr lang="en-US"/>
          </a:p>
        </p:txBody>
      </p:sp>
      <p:pic>
        <p:nvPicPr>
          <p:cNvPr id="16" name="Image 2" descr="icons/checkdouble.png"/>
          <p:cNvPicPr>
            <a:picLocks noChangeAspect="1"/>
          </p:cNvPicPr>
          <p:nvPr/>
        </p:nvPicPr>
        <p:blipFill>
          <a:blip r:embed="rId5"/>
          <a:stretch>
            <a:fillRect/>
          </a:stretch>
        </p:blipFill>
        <p:spPr>
          <a:xfrm>
            <a:off x="4672950" y="2615550"/>
            <a:ext cx="218724" cy="218724"/>
          </a:xfrm>
          <a:prstGeom prst="rect">
            <a:avLst/>
          </a:prstGeom>
        </p:spPr>
      </p:pic>
      <p:sp>
        <p:nvSpPr>
          <p:cNvPr id="17" name="Text 12"/>
          <p:cNvSpPr/>
          <p:nvPr/>
        </p:nvSpPr>
        <p:spPr>
          <a:xfrm>
            <a:off x="5175504" y="2487168"/>
            <a:ext cx="3511296" cy="274320"/>
          </a:xfrm>
          <a:prstGeom prst="rect">
            <a:avLst/>
          </a:prstGeom>
          <a:noFill/>
          <a:ln/>
        </p:spPr>
        <p:txBody>
          <a:bodyPr wrap="square" lIns="0" tIns="0" rIns="0" bIns="0" rtlCol="0" anchor="t"/>
          <a:lstStyle/>
          <a:p>
            <a:pPr marL="0" indent="0">
              <a:buNone/>
            </a:pPr>
            <a:r>
              <a:rPr lang="en-US" sz="1300" b="1">
                <a:solidFill>
                  <a:srgbClr val="FFFFFF"/>
                </a:solidFill>
                <a:latin typeface="Calibri" pitchFamily="34" charset="0"/>
                <a:ea typeface="Calibri" pitchFamily="34" charset="-122"/>
                <a:cs typeface="Calibri" pitchFamily="34" charset="-120"/>
              </a:rPr>
              <a:t>Confidence Scoring</a:t>
            </a:r>
            <a:endParaRPr lang="en-US" sz="1300"/>
          </a:p>
        </p:txBody>
      </p:sp>
      <p:sp>
        <p:nvSpPr>
          <p:cNvPr id="18" name="Text 13"/>
          <p:cNvSpPr/>
          <p:nvPr/>
        </p:nvSpPr>
        <p:spPr>
          <a:xfrm>
            <a:off x="5175504" y="2770632"/>
            <a:ext cx="3511296" cy="621792"/>
          </a:xfrm>
          <a:prstGeom prst="rect">
            <a:avLst/>
          </a:prstGeom>
          <a:noFill/>
          <a:ln/>
        </p:spPr>
        <p:txBody>
          <a:bodyPr wrap="square" lIns="0" tIns="0" rIns="0" bIns="0" rtlCol="0" anchor="t"/>
          <a:lstStyle/>
          <a:p>
            <a:pPr marL="0" indent="0">
              <a:lnSpc>
                <a:spcPct val="108000"/>
              </a:lnSpc>
              <a:buNone/>
            </a:pPr>
            <a:r>
              <a:rPr lang="en-US" sz="1050">
                <a:solidFill>
                  <a:srgbClr val="C9CCE6"/>
                </a:solidFill>
                <a:latin typeface="Calibri" pitchFamily="34" charset="0"/>
                <a:ea typeface="Calibri" pitchFamily="34" charset="-122"/>
                <a:cs typeface="Calibri" pitchFamily="34" charset="-120"/>
              </a:rPr>
              <a:t>Every response is labeled High, Medium, or Low confidence.</a:t>
            </a:r>
            <a:endParaRPr lang="en-US" sz="1050"/>
          </a:p>
        </p:txBody>
      </p:sp>
      <p:sp>
        <p:nvSpPr>
          <p:cNvPr id="19" name="Shape 14"/>
          <p:cNvSpPr/>
          <p:nvPr/>
        </p:nvSpPr>
        <p:spPr>
          <a:xfrm>
            <a:off x="4572000" y="3429000"/>
            <a:ext cx="420624" cy="420624"/>
          </a:xfrm>
          <a:prstGeom prst="ellipse">
            <a:avLst/>
          </a:prstGeom>
          <a:solidFill>
            <a:srgbClr val="2D8FCF"/>
          </a:solidFill>
          <a:ln/>
        </p:spPr>
        <p:txBody>
          <a:bodyPr/>
          <a:lstStyle/>
          <a:p>
            <a:endParaRPr lang="en-US"/>
          </a:p>
        </p:txBody>
      </p:sp>
      <p:pic>
        <p:nvPicPr>
          <p:cNvPr id="20" name="Image 3" descr="icons/usercheck.png"/>
          <p:cNvPicPr>
            <a:picLocks noChangeAspect="1"/>
          </p:cNvPicPr>
          <p:nvPr/>
        </p:nvPicPr>
        <p:blipFill>
          <a:blip r:embed="rId6"/>
          <a:stretch>
            <a:fillRect/>
          </a:stretch>
        </p:blipFill>
        <p:spPr>
          <a:xfrm>
            <a:off x="4672950" y="3529950"/>
            <a:ext cx="218724" cy="218724"/>
          </a:xfrm>
          <a:prstGeom prst="rect">
            <a:avLst/>
          </a:prstGeom>
        </p:spPr>
      </p:pic>
      <p:sp>
        <p:nvSpPr>
          <p:cNvPr id="21" name="Text 15"/>
          <p:cNvSpPr/>
          <p:nvPr/>
        </p:nvSpPr>
        <p:spPr>
          <a:xfrm>
            <a:off x="5175504" y="3401568"/>
            <a:ext cx="3511296" cy="274320"/>
          </a:xfrm>
          <a:prstGeom prst="rect">
            <a:avLst/>
          </a:prstGeom>
          <a:noFill/>
          <a:ln/>
        </p:spPr>
        <p:txBody>
          <a:bodyPr wrap="square" lIns="0" tIns="0" rIns="0" bIns="0" rtlCol="0" anchor="t"/>
          <a:lstStyle/>
          <a:p>
            <a:pPr marL="0" indent="0">
              <a:buNone/>
            </a:pPr>
            <a:r>
              <a:rPr lang="en-US" sz="1300" b="1">
                <a:solidFill>
                  <a:srgbClr val="FFFFFF"/>
                </a:solidFill>
                <a:latin typeface="Calibri" pitchFamily="34" charset="0"/>
                <a:ea typeface="Calibri" pitchFamily="34" charset="-122"/>
                <a:cs typeface="Calibri" pitchFamily="34" charset="-120"/>
              </a:rPr>
              <a:t>Human-in-the-Loop</a:t>
            </a:r>
            <a:endParaRPr lang="en-US" sz="1300"/>
          </a:p>
        </p:txBody>
      </p:sp>
      <p:sp>
        <p:nvSpPr>
          <p:cNvPr id="22" name="Text 16"/>
          <p:cNvSpPr/>
          <p:nvPr/>
        </p:nvSpPr>
        <p:spPr>
          <a:xfrm>
            <a:off x="5175504" y="3685032"/>
            <a:ext cx="3511296" cy="621792"/>
          </a:xfrm>
          <a:prstGeom prst="rect">
            <a:avLst/>
          </a:prstGeom>
          <a:noFill/>
          <a:ln/>
        </p:spPr>
        <p:txBody>
          <a:bodyPr wrap="square" lIns="0" tIns="0" rIns="0" bIns="0" rtlCol="0" anchor="t"/>
          <a:lstStyle/>
          <a:p>
            <a:pPr marL="0" indent="0">
              <a:lnSpc>
                <a:spcPct val="108000"/>
              </a:lnSpc>
              <a:buNone/>
            </a:pPr>
            <a:r>
              <a:rPr lang="en-US" sz="1050">
                <a:solidFill>
                  <a:srgbClr val="C9CCE6"/>
                </a:solidFill>
                <a:latin typeface="Calibri" pitchFamily="34" charset="0"/>
                <a:ea typeface="Calibri" pitchFamily="34" charset="-122"/>
                <a:cs typeface="Calibri" pitchFamily="34" charset="-120"/>
              </a:rPr>
              <a:t>Always ends with a suggested review action for a coder.</a:t>
            </a:r>
            <a:endParaRPr lang="en-US" sz="1050"/>
          </a:p>
        </p:txBody>
      </p:sp>
      <p:sp>
        <p:nvSpPr>
          <p:cNvPr id="23" name="Shape 17"/>
          <p:cNvSpPr/>
          <p:nvPr/>
        </p:nvSpPr>
        <p:spPr>
          <a:xfrm>
            <a:off x="4572000" y="4434840"/>
            <a:ext cx="4114800" cy="365760"/>
          </a:xfrm>
          <a:prstGeom prst="roundRect">
            <a:avLst>
              <a:gd name="adj" fmla="val 50000"/>
            </a:avLst>
          </a:prstGeom>
          <a:solidFill>
            <a:srgbClr val="131320"/>
          </a:solidFill>
          <a:ln w="12700">
            <a:solidFill>
              <a:srgbClr val="6C4FD6"/>
            </a:solidFill>
            <a:prstDash val="solid"/>
          </a:ln>
        </p:spPr>
        <p:txBody>
          <a:bodyPr/>
          <a:lstStyle/>
          <a:p>
            <a:endParaRPr lang="en-US"/>
          </a:p>
        </p:txBody>
      </p:sp>
      <p:sp>
        <p:nvSpPr>
          <p:cNvPr id="24" name="Text 18"/>
          <p:cNvSpPr/>
          <p:nvPr/>
        </p:nvSpPr>
        <p:spPr>
          <a:xfrm>
            <a:off x="4572000" y="4434840"/>
            <a:ext cx="4114800" cy="365760"/>
          </a:xfrm>
          <a:prstGeom prst="rect">
            <a:avLst/>
          </a:prstGeom>
          <a:noFill/>
          <a:ln/>
        </p:spPr>
        <p:txBody>
          <a:bodyPr wrap="square" lIns="0" tIns="0" rIns="0" bIns="0" rtlCol="0" anchor="ctr"/>
          <a:lstStyle/>
          <a:p>
            <a:pPr marL="0" indent="0" algn="ctr">
              <a:buNone/>
            </a:pPr>
            <a:r>
              <a:rPr lang="en-US" sz="1000" b="1" i="1">
                <a:solidFill>
                  <a:srgbClr val="B9A6F2"/>
                </a:solidFill>
                <a:latin typeface="Calibri" pitchFamily="34" charset="0"/>
                <a:ea typeface="Calibri" pitchFamily="34" charset="-122"/>
                <a:cs typeface="Calibri" pitchFamily="34" charset="-120"/>
              </a:rPr>
              <a:t>Scoped intentionally for a proof of concept, not a production platform</a:t>
            </a:r>
            <a:endParaRPr lang="en-US" sz="1000"/>
          </a:p>
        </p:txBody>
      </p:sp>
      <p:sp>
        <p:nvSpPr>
          <p:cNvPr id="26" name="Text 19"/>
          <p:cNvSpPr/>
          <p:nvPr/>
        </p:nvSpPr>
        <p:spPr>
          <a:xfrm>
            <a:off x="8549640" y="4828032"/>
            <a:ext cx="274320" cy="228600"/>
          </a:xfrm>
          <a:prstGeom prst="rect">
            <a:avLst/>
          </a:prstGeom>
          <a:noFill/>
          <a:ln/>
        </p:spPr>
        <p:txBody>
          <a:bodyPr wrap="square" lIns="0" tIns="0" rIns="0" bIns="0" rtlCol="0" anchor="ctr"/>
          <a:lstStyle/>
          <a:p>
            <a:pPr marL="0" indent="0" algn="r">
              <a:buNone/>
            </a:pPr>
            <a:r>
              <a:rPr lang="en-US" sz="900">
                <a:solidFill>
                  <a:srgbClr val="C9CCE6"/>
                </a:solidFill>
                <a:latin typeface="Calibri" pitchFamily="34" charset="0"/>
                <a:ea typeface="Calibri" pitchFamily="34" charset="-122"/>
                <a:cs typeface="Calibri" pitchFamily="34" charset="-120"/>
              </a:rPr>
              <a:t>9</a:t>
            </a:r>
            <a:endParaRPr lang="en-US" sz="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a:effectLst/>
      </p:bgPr>
    </p:bg>
    <p:spTree>
      <p:nvGrpSpPr>
        <p:cNvPr id="1" name=""/>
        <p:cNvGrpSpPr/>
        <p:nvPr/>
      </p:nvGrpSpPr>
      <p:grpSpPr>
        <a:xfrm>
          <a:off x="0" y="0"/>
          <a:ext cx="0" cy="0"/>
          <a:chOff x="0" y="0"/>
          <a:chExt cx="0" cy="0"/>
        </a:xfrm>
      </p:grpSpPr>
      <p:pic>
        <p:nvPicPr>
          <p:cNvPr id="2" name="Image 0" descr="glow/glow_purple.jpg"/>
          <p:cNvPicPr>
            <a:picLocks noChangeAspect="1"/>
          </p:cNvPicPr>
          <p:nvPr/>
        </p:nvPicPr>
        <p:blipFill>
          <a:blip r:embed="rId3"/>
          <a:stretch>
            <a:fillRect/>
          </a:stretch>
        </p:blipFill>
        <p:spPr>
          <a:xfrm>
            <a:off x="-1737360" y="-1645920"/>
            <a:ext cx="4023360" cy="3291840"/>
          </a:xfrm>
          <a:prstGeom prst="rect">
            <a:avLst/>
          </a:prstGeom>
        </p:spPr>
      </p:pic>
      <p:sp>
        <p:nvSpPr>
          <p:cNvPr id="3" name="Text 0"/>
          <p:cNvSpPr/>
          <p:nvPr/>
        </p:nvSpPr>
        <p:spPr>
          <a:xfrm>
            <a:off x="457200" y="292608"/>
            <a:ext cx="6400800" cy="256032"/>
          </a:xfrm>
          <a:prstGeom prst="rect">
            <a:avLst/>
          </a:prstGeom>
          <a:noFill/>
          <a:ln/>
        </p:spPr>
        <p:txBody>
          <a:bodyPr wrap="square" lIns="0" tIns="0" rIns="0" bIns="0" rtlCol="0" anchor="ctr"/>
          <a:lstStyle/>
          <a:p>
            <a:pPr marL="0" indent="0">
              <a:buNone/>
            </a:pPr>
            <a:r>
              <a:rPr lang="en-US" sz="1100" b="1" kern="0" spc="200">
                <a:solidFill>
                  <a:srgbClr val="2D8FCF"/>
                </a:solidFill>
                <a:latin typeface="Calibri" pitchFamily="34" charset="0"/>
                <a:ea typeface="Calibri" pitchFamily="34" charset="-122"/>
                <a:cs typeface="Calibri" pitchFamily="34" charset="-120"/>
              </a:rPr>
              <a:t>PROOF OF CONCEPT</a:t>
            </a:r>
            <a:endParaRPr lang="en-US" sz="1100"/>
          </a:p>
        </p:txBody>
      </p:sp>
      <p:sp>
        <p:nvSpPr>
          <p:cNvPr id="4" name="Text 1"/>
          <p:cNvSpPr/>
          <p:nvPr/>
        </p:nvSpPr>
        <p:spPr>
          <a:xfrm>
            <a:off x="457200" y="530352"/>
            <a:ext cx="8229600" cy="777240"/>
          </a:xfrm>
          <a:prstGeom prst="rect">
            <a:avLst/>
          </a:prstGeom>
          <a:noFill/>
          <a:ln/>
        </p:spPr>
        <p:txBody>
          <a:bodyPr wrap="square" lIns="0" tIns="0" rIns="0" bIns="0" rtlCol="0" anchor="t"/>
          <a:lstStyle/>
          <a:p>
            <a:pPr marL="0" indent="0">
              <a:lnSpc>
                <a:spcPct val="102000"/>
              </a:lnSpc>
              <a:buNone/>
            </a:pPr>
            <a:r>
              <a:rPr lang="en-US" sz="2700" b="1">
                <a:solidFill>
                  <a:srgbClr val="FFFFFF"/>
                </a:solidFill>
                <a:latin typeface="Calibri" pitchFamily="34" charset="0"/>
                <a:ea typeface="Calibri" pitchFamily="34" charset="-122"/>
                <a:cs typeface="Calibri" pitchFamily="34" charset="-120"/>
              </a:rPr>
              <a:t>System Architecture</a:t>
            </a:r>
            <a:endParaRPr lang="en-US" sz="2700"/>
          </a:p>
        </p:txBody>
      </p:sp>
      <p:sp>
        <p:nvSpPr>
          <p:cNvPr id="5" name="Shape 2"/>
          <p:cNvSpPr/>
          <p:nvPr/>
        </p:nvSpPr>
        <p:spPr>
          <a:xfrm>
            <a:off x="457200" y="1463040"/>
            <a:ext cx="1484986" cy="2331720"/>
          </a:xfrm>
          <a:prstGeom prst="roundRect">
            <a:avLst>
              <a:gd name="adj" fmla="val 3079"/>
            </a:avLst>
          </a:prstGeom>
          <a:solidFill>
            <a:srgbClr val="131320"/>
          </a:solidFill>
          <a:ln w="12700">
            <a:solidFill>
              <a:srgbClr val="2E2E45"/>
            </a:solidFill>
            <a:prstDash val="solid"/>
          </a:ln>
        </p:spPr>
        <p:txBody>
          <a:bodyPr/>
          <a:lstStyle/>
          <a:p>
            <a:endParaRPr lang="en-US"/>
          </a:p>
        </p:txBody>
      </p:sp>
      <p:sp>
        <p:nvSpPr>
          <p:cNvPr id="6" name="Shape 3"/>
          <p:cNvSpPr/>
          <p:nvPr/>
        </p:nvSpPr>
        <p:spPr>
          <a:xfrm>
            <a:off x="1007669" y="1627632"/>
            <a:ext cx="384048" cy="384048"/>
          </a:xfrm>
          <a:prstGeom prst="ellipse">
            <a:avLst/>
          </a:prstGeom>
          <a:solidFill>
            <a:srgbClr val="2D8FCF"/>
          </a:solidFill>
          <a:ln/>
        </p:spPr>
        <p:txBody>
          <a:bodyPr/>
          <a:lstStyle/>
          <a:p>
            <a:endParaRPr lang="en-US"/>
          </a:p>
        </p:txBody>
      </p:sp>
      <p:pic>
        <p:nvPicPr>
          <p:cNvPr id="7" name="Image 1" descr="icons/filealt.png"/>
          <p:cNvPicPr>
            <a:picLocks noChangeAspect="1"/>
          </p:cNvPicPr>
          <p:nvPr/>
        </p:nvPicPr>
        <p:blipFill>
          <a:blip r:embed="rId4"/>
          <a:stretch>
            <a:fillRect/>
          </a:stretch>
        </p:blipFill>
        <p:spPr>
          <a:xfrm>
            <a:off x="1099840" y="1719804"/>
            <a:ext cx="199705" cy="199705"/>
          </a:xfrm>
          <a:prstGeom prst="rect">
            <a:avLst/>
          </a:prstGeom>
        </p:spPr>
      </p:pic>
      <p:sp>
        <p:nvSpPr>
          <p:cNvPr id="8" name="Text 4"/>
          <p:cNvSpPr/>
          <p:nvPr/>
        </p:nvSpPr>
        <p:spPr>
          <a:xfrm>
            <a:off x="530352" y="2084832"/>
            <a:ext cx="1338682" cy="457200"/>
          </a:xfrm>
          <a:prstGeom prst="rect">
            <a:avLst/>
          </a:prstGeom>
          <a:noFill/>
          <a:ln/>
        </p:spPr>
        <p:txBody>
          <a:bodyPr wrap="square" lIns="0" tIns="0" rIns="0" bIns="0" rtlCol="0" anchor="t"/>
          <a:lstStyle/>
          <a:p>
            <a:pPr marL="0" indent="0" algn="ctr">
              <a:lnSpc>
                <a:spcPct val="100000"/>
              </a:lnSpc>
              <a:buNone/>
            </a:pPr>
            <a:r>
              <a:rPr lang="en-US" sz="1050" b="1">
                <a:solidFill>
                  <a:srgbClr val="FFFFFF"/>
                </a:solidFill>
                <a:latin typeface="Calibri" pitchFamily="34" charset="0"/>
                <a:ea typeface="Calibri" pitchFamily="34" charset="-122"/>
                <a:cs typeface="Calibri" pitchFamily="34" charset="-120"/>
              </a:rPr>
              <a:t>Clinical Notes</a:t>
            </a:r>
            <a:endParaRPr lang="en-US" sz="1050"/>
          </a:p>
        </p:txBody>
      </p:sp>
      <p:sp>
        <p:nvSpPr>
          <p:cNvPr id="9" name="Text 5"/>
          <p:cNvSpPr/>
          <p:nvPr/>
        </p:nvSpPr>
        <p:spPr>
          <a:xfrm>
            <a:off x="548640" y="2560320"/>
            <a:ext cx="1302106" cy="1143000"/>
          </a:xfrm>
          <a:prstGeom prst="rect">
            <a:avLst/>
          </a:prstGeom>
          <a:noFill/>
          <a:ln/>
        </p:spPr>
        <p:txBody>
          <a:bodyPr wrap="square" lIns="0" tIns="0" rIns="0" bIns="0" rtlCol="0" anchor="t"/>
          <a:lstStyle/>
          <a:p>
            <a:pPr marL="0" indent="0" algn="ctr">
              <a:lnSpc>
                <a:spcPct val="108000"/>
              </a:lnSpc>
              <a:buNone/>
            </a:pPr>
            <a:r>
              <a:rPr lang="en-US" sz="860">
                <a:solidFill>
                  <a:srgbClr val="C9CCE6"/>
                </a:solidFill>
                <a:latin typeface="Calibri" pitchFamily="34" charset="0"/>
                <a:ea typeface="Calibri" pitchFamily="34" charset="-122"/>
                <a:cs typeface="Calibri" pitchFamily="34" charset="-120"/>
              </a:rPr>
              <a:t>.txt / .pdf input</a:t>
            </a:r>
            <a:endParaRPr lang="en-US" sz="860"/>
          </a:p>
        </p:txBody>
      </p:sp>
      <p:sp>
        <p:nvSpPr>
          <p:cNvPr id="10" name="Text 6"/>
          <p:cNvSpPr/>
          <p:nvPr/>
        </p:nvSpPr>
        <p:spPr>
          <a:xfrm>
            <a:off x="1942186" y="2308860"/>
            <a:ext cx="201168" cy="457200"/>
          </a:xfrm>
          <a:prstGeom prst="rect">
            <a:avLst/>
          </a:prstGeom>
          <a:noFill/>
          <a:ln/>
        </p:spPr>
        <p:txBody>
          <a:bodyPr wrap="square" lIns="0" tIns="0" rIns="0" bIns="0" rtlCol="0" anchor="ctr"/>
          <a:lstStyle/>
          <a:p>
            <a:pPr marL="0" indent="0" algn="ctr">
              <a:buNone/>
            </a:pPr>
            <a:r>
              <a:rPr lang="en-US" sz="1400" b="1">
                <a:solidFill>
                  <a:srgbClr val="2D8FCF"/>
                </a:solidFill>
                <a:latin typeface="Calibri" pitchFamily="34" charset="0"/>
                <a:ea typeface="Calibri" pitchFamily="34" charset="-122"/>
                <a:cs typeface="Calibri" pitchFamily="34" charset="-120"/>
              </a:rPr>
              <a:t>→</a:t>
            </a:r>
            <a:endParaRPr lang="en-US" sz="1400"/>
          </a:p>
        </p:txBody>
      </p:sp>
      <p:sp>
        <p:nvSpPr>
          <p:cNvPr id="11" name="Shape 7"/>
          <p:cNvSpPr/>
          <p:nvPr/>
        </p:nvSpPr>
        <p:spPr>
          <a:xfrm>
            <a:off x="2143354" y="1463040"/>
            <a:ext cx="1484986" cy="2331720"/>
          </a:xfrm>
          <a:prstGeom prst="roundRect">
            <a:avLst>
              <a:gd name="adj" fmla="val 3079"/>
            </a:avLst>
          </a:prstGeom>
          <a:solidFill>
            <a:srgbClr val="131320"/>
          </a:solidFill>
          <a:ln w="12700">
            <a:solidFill>
              <a:srgbClr val="2E2E45"/>
            </a:solidFill>
            <a:prstDash val="solid"/>
          </a:ln>
        </p:spPr>
        <p:txBody>
          <a:bodyPr/>
          <a:lstStyle/>
          <a:p>
            <a:endParaRPr lang="en-US"/>
          </a:p>
        </p:txBody>
      </p:sp>
      <p:sp>
        <p:nvSpPr>
          <p:cNvPr id="12" name="Shape 8"/>
          <p:cNvSpPr/>
          <p:nvPr/>
        </p:nvSpPr>
        <p:spPr>
          <a:xfrm>
            <a:off x="2693822" y="1627632"/>
            <a:ext cx="384048" cy="384048"/>
          </a:xfrm>
          <a:prstGeom prst="ellipse">
            <a:avLst/>
          </a:prstGeom>
          <a:solidFill>
            <a:srgbClr val="2D8FCF"/>
          </a:solidFill>
          <a:ln/>
        </p:spPr>
        <p:txBody>
          <a:bodyPr/>
          <a:lstStyle/>
          <a:p>
            <a:endParaRPr lang="en-US"/>
          </a:p>
        </p:txBody>
      </p:sp>
      <p:pic>
        <p:nvPicPr>
          <p:cNvPr id="13" name="Image 2" descr="icons/cogs.png"/>
          <p:cNvPicPr>
            <a:picLocks noChangeAspect="1"/>
          </p:cNvPicPr>
          <p:nvPr/>
        </p:nvPicPr>
        <p:blipFill>
          <a:blip r:embed="rId5"/>
          <a:stretch>
            <a:fillRect/>
          </a:stretch>
        </p:blipFill>
        <p:spPr>
          <a:xfrm>
            <a:off x="2785994" y="1719804"/>
            <a:ext cx="199705" cy="199705"/>
          </a:xfrm>
          <a:prstGeom prst="rect">
            <a:avLst/>
          </a:prstGeom>
        </p:spPr>
      </p:pic>
      <p:sp>
        <p:nvSpPr>
          <p:cNvPr id="14" name="Text 9"/>
          <p:cNvSpPr/>
          <p:nvPr/>
        </p:nvSpPr>
        <p:spPr>
          <a:xfrm>
            <a:off x="2216506" y="2084832"/>
            <a:ext cx="1338682" cy="457200"/>
          </a:xfrm>
          <a:prstGeom prst="rect">
            <a:avLst/>
          </a:prstGeom>
          <a:noFill/>
          <a:ln/>
        </p:spPr>
        <p:txBody>
          <a:bodyPr wrap="square" lIns="0" tIns="0" rIns="0" bIns="0" rtlCol="0" anchor="t"/>
          <a:lstStyle/>
          <a:p>
            <a:pPr marL="0" indent="0" algn="ctr">
              <a:lnSpc>
                <a:spcPct val="100000"/>
              </a:lnSpc>
              <a:buNone/>
            </a:pPr>
            <a:r>
              <a:rPr lang="en-US" sz="1050" b="1">
                <a:solidFill>
                  <a:srgbClr val="FFFFFF"/>
                </a:solidFill>
                <a:latin typeface="Calibri" pitchFamily="34" charset="0"/>
                <a:ea typeface="Calibri" pitchFamily="34" charset="-122"/>
                <a:cs typeface="Calibri" pitchFamily="34" charset="-120"/>
              </a:rPr>
              <a:t>Document</a:t>
            </a:r>
            <a:endParaRPr lang="en-US" sz="1050"/>
          </a:p>
          <a:p>
            <a:pPr marL="0" indent="0" algn="ctr">
              <a:lnSpc>
                <a:spcPct val="100000"/>
              </a:lnSpc>
              <a:buNone/>
            </a:pPr>
            <a:r>
              <a:rPr lang="en-US" sz="1050" b="1">
                <a:solidFill>
                  <a:srgbClr val="FFFFFF"/>
                </a:solidFill>
                <a:latin typeface="Calibri" pitchFamily="34" charset="0"/>
                <a:ea typeface="Calibri" pitchFamily="34" charset="-122"/>
                <a:cs typeface="Calibri" pitchFamily="34" charset="-120"/>
              </a:rPr>
              <a:t>Processor</a:t>
            </a:r>
            <a:endParaRPr lang="en-US" sz="1050"/>
          </a:p>
        </p:txBody>
      </p:sp>
      <p:sp>
        <p:nvSpPr>
          <p:cNvPr id="15" name="Text 10"/>
          <p:cNvSpPr/>
          <p:nvPr/>
        </p:nvSpPr>
        <p:spPr>
          <a:xfrm>
            <a:off x="2234794" y="2560320"/>
            <a:ext cx="1302106" cy="1143000"/>
          </a:xfrm>
          <a:prstGeom prst="rect">
            <a:avLst/>
          </a:prstGeom>
          <a:noFill/>
          <a:ln/>
        </p:spPr>
        <p:txBody>
          <a:bodyPr wrap="square" lIns="0" tIns="0" rIns="0" bIns="0" rtlCol="0" anchor="t"/>
          <a:lstStyle/>
          <a:p>
            <a:pPr marL="0" indent="0" algn="ctr">
              <a:lnSpc>
                <a:spcPct val="108000"/>
              </a:lnSpc>
              <a:buNone/>
            </a:pPr>
            <a:r>
              <a:rPr lang="en-US" sz="860">
                <a:solidFill>
                  <a:srgbClr val="C9CCE6"/>
                </a:solidFill>
                <a:latin typeface="Calibri" pitchFamily="34" charset="0"/>
                <a:ea typeface="Calibri" pitchFamily="34" charset="-122"/>
                <a:cs typeface="Calibri" pitchFamily="34" charset="-120"/>
              </a:rPr>
              <a:t>Chunks text, extracts ICD-10 codes, meds, labs</a:t>
            </a:r>
            <a:endParaRPr lang="en-US" sz="860"/>
          </a:p>
        </p:txBody>
      </p:sp>
      <p:sp>
        <p:nvSpPr>
          <p:cNvPr id="16" name="Text 11"/>
          <p:cNvSpPr/>
          <p:nvPr/>
        </p:nvSpPr>
        <p:spPr>
          <a:xfrm>
            <a:off x="3628339" y="2308860"/>
            <a:ext cx="201168" cy="457200"/>
          </a:xfrm>
          <a:prstGeom prst="rect">
            <a:avLst/>
          </a:prstGeom>
          <a:noFill/>
          <a:ln/>
        </p:spPr>
        <p:txBody>
          <a:bodyPr wrap="square" lIns="0" tIns="0" rIns="0" bIns="0" rtlCol="0" anchor="ctr"/>
          <a:lstStyle/>
          <a:p>
            <a:pPr marL="0" indent="0" algn="ctr">
              <a:buNone/>
            </a:pPr>
            <a:r>
              <a:rPr lang="en-US" sz="1400" b="1">
                <a:solidFill>
                  <a:srgbClr val="2D8FCF"/>
                </a:solidFill>
                <a:latin typeface="Calibri" pitchFamily="34" charset="0"/>
                <a:ea typeface="Calibri" pitchFamily="34" charset="-122"/>
                <a:cs typeface="Calibri" pitchFamily="34" charset="-120"/>
              </a:rPr>
              <a:t>→</a:t>
            </a:r>
            <a:endParaRPr lang="en-US" sz="1400"/>
          </a:p>
        </p:txBody>
      </p:sp>
      <p:sp>
        <p:nvSpPr>
          <p:cNvPr id="17" name="Shape 12"/>
          <p:cNvSpPr/>
          <p:nvPr/>
        </p:nvSpPr>
        <p:spPr>
          <a:xfrm>
            <a:off x="3829507" y="1463040"/>
            <a:ext cx="1484986" cy="2331720"/>
          </a:xfrm>
          <a:prstGeom prst="roundRect">
            <a:avLst>
              <a:gd name="adj" fmla="val 3079"/>
            </a:avLst>
          </a:prstGeom>
          <a:solidFill>
            <a:srgbClr val="131320"/>
          </a:solidFill>
          <a:ln w="12700">
            <a:solidFill>
              <a:srgbClr val="2E2E45"/>
            </a:solidFill>
            <a:prstDash val="solid"/>
          </a:ln>
        </p:spPr>
        <p:txBody>
          <a:bodyPr/>
          <a:lstStyle/>
          <a:p>
            <a:endParaRPr lang="en-US"/>
          </a:p>
        </p:txBody>
      </p:sp>
      <p:sp>
        <p:nvSpPr>
          <p:cNvPr id="18" name="Shape 13"/>
          <p:cNvSpPr/>
          <p:nvPr/>
        </p:nvSpPr>
        <p:spPr>
          <a:xfrm>
            <a:off x="4379976" y="1627632"/>
            <a:ext cx="384048" cy="384048"/>
          </a:xfrm>
          <a:prstGeom prst="ellipse">
            <a:avLst/>
          </a:prstGeom>
          <a:solidFill>
            <a:srgbClr val="2D8FCF"/>
          </a:solidFill>
          <a:ln/>
        </p:spPr>
        <p:txBody>
          <a:bodyPr/>
          <a:lstStyle/>
          <a:p>
            <a:endParaRPr lang="en-US"/>
          </a:p>
        </p:txBody>
      </p:sp>
      <p:pic>
        <p:nvPicPr>
          <p:cNvPr id="19" name="Image 3" descr="icons/database.png"/>
          <p:cNvPicPr>
            <a:picLocks noChangeAspect="1"/>
          </p:cNvPicPr>
          <p:nvPr/>
        </p:nvPicPr>
        <p:blipFill>
          <a:blip r:embed="rId6"/>
          <a:stretch>
            <a:fillRect/>
          </a:stretch>
        </p:blipFill>
        <p:spPr>
          <a:xfrm>
            <a:off x="4472148" y="1719804"/>
            <a:ext cx="199705" cy="199705"/>
          </a:xfrm>
          <a:prstGeom prst="rect">
            <a:avLst/>
          </a:prstGeom>
        </p:spPr>
      </p:pic>
      <p:sp>
        <p:nvSpPr>
          <p:cNvPr id="20" name="Text 14"/>
          <p:cNvSpPr/>
          <p:nvPr/>
        </p:nvSpPr>
        <p:spPr>
          <a:xfrm>
            <a:off x="3902659" y="2084832"/>
            <a:ext cx="1338682" cy="457200"/>
          </a:xfrm>
          <a:prstGeom prst="rect">
            <a:avLst/>
          </a:prstGeom>
          <a:noFill/>
          <a:ln/>
        </p:spPr>
        <p:txBody>
          <a:bodyPr wrap="square" lIns="0" tIns="0" rIns="0" bIns="0" rtlCol="0" anchor="t"/>
          <a:lstStyle/>
          <a:p>
            <a:pPr marL="0" indent="0" algn="ctr">
              <a:lnSpc>
                <a:spcPct val="100000"/>
              </a:lnSpc>
              <a:buNone/>
            </a:pPr>
            <a:r>
              <a:rPr lang="en-US" sz="1050" b="1">
                <a:solidFill>
                  <a:srgbClr val="FFFFFF"/>
                </a:solidFill>
                <a:latin typeface="Calibri" pitchFamily="34" charset="0"/>
                <a:ea typeface="Calibri" pitchFamily="34" charset="-122"/>
                <a:cs typeface="Calibri" pitchFamily="34" charset="-120"/>
              </a:rPr>
              <a:t>Vector Store</a:t>
            </a:r>
            <a:endParaRPr lang="en-US" sz="1050"/>
          </a:p>
        </p:txBody>
      </p:sp>
      <p:sp>
        <p:nvSpPr>
          <p:cNvPr id="21" name="Text 15"/>
          <p:cNvSpPr/>
          <p:nvPr/>
        </p:nvSpPr>
        <p:spPr>
          <a:xfrm>
            <a:off x="3920947" y="2560320"/>
            <a:ext cx="1302106" cy="1143000"/>
          </a:xfrm>
          <a:prstGeom prst="rect">
            <a:avLst/>
          </a:prstGeom>
          <a:noFill/>
          <a:ln/>
        </p:spPr>
        <p:txBody>
          <a:bodyPr wrap="square" lIns="0" tIns="0" rIns="0" bIns="0" rtlCol="0" anchor="t"/>
          <a:lstStyle/>
          <a:p>
            <a:pPr marL="0" indent="0" algn="ctr">
              <a:lnSpc>
                <a:spcPct val="108000"/>
              </a:lnSpc>
              <a:buNone/>
            </a:pPr>
            <a:r>
              <a:rPr lang="en-US" sz="860">
                <a:solidFill>
                  <a:srgbClr val="C9CCE6"/>
                </a:solidFill>
                <a:latin typeface="Calibri" pitchFamily="34" charset="0"/>
                <a:ea typeface="Calibri" pitchFamily="34" charset="-122"/>
                <a:cs typeface="Calibri" pitchFamily="34" charset="-120"/>
              </a:rPr>
              <a:t>Sentence-BERT + FAISS similarity index</a:t>
            </a:r>
            <a:endParaRPr lang="en-US" sz="860"/>
          </a:p>
        </p:txBody>
      </p:sp>
      <p:sp>
        <p:nvSpPr>
          <p:cNvPr id="22" name="Text 16"/>
          <p:cNvSpPr/>
          <p:nvPr/>
        </p:nvSpPr>
        <p:spPr>
          <a:xfrm>
            <a:off x="5314493" y="2308860"/>
            <a:ext cx="201168" cy="457200"/>
          </a:xfrm>
          <a:prstGeom prst="rect">
            <a:avLst/>
          </a:prstGeom>
          <a:noFill/>
          <a:ln/>
        </p:spPr>
        <p:txBody>
          <a:bodyPr wrap="square" lIns="0" tIns="0" rIns="0" bIns="0" rtlCol="0" anchor="ctr"/>
          <a:lstStyle/>
          <a:p>
            <a:pPr marL="0" indent="0" algn="ctr">
              <a:buNone/>
            </a:pPr>
            <a:r>
              <a:rPr lang="en-US" sz="1400" b="1">
                <a:solidFill>
                  <a:srgbClr val="2D8FCF"/>
                </a:solidFill>
                <a:latin typeface="Calibri" pitchFamily="34" charset="0"/>
                <a:ea typeface="Calibri" pitchFamily="34" charset="-122"/>
                <a:cs typeface="Calibri" pitchFamily="34" charset="-120"/>
              </a:rPr>
              <a:t>→</a:t>
            </a:r>
            <a:endParaRPr lang="en-US" sz="1400"/>
          </a:p>
        </p:txBody>
      </p:sp>
      <p:sp>
        <p:nvSpPr>
          <p:cNvPr id="23" name="Shape 17"/>
          <p:cNvSpPr/>
          <p:nvPr/>
        </p:nvSpPr>
        <p:spPr>
          <a:xfrm>
            <a:off x="5515661" y="1463040"/>
            <a:ext cx="1484986" cy="2331720"/>
          </a:xfrm>
          <a:prstGeom prst="roundRect">
            <a:avLst>
              <a:gd name="adj" fmla="val 3079"/>
            </a:avLst>
          </a:prstGeom>
          <a:solidFill>
            <a:srgbClr val="131320"/>
          </a:solidFill>
          <a:ln w="12700">
            <a:solidFill>
              <a:srgbClr val="2E2E45"/>
            </a:solidFill>
            <a:prstDash val="solid"/>
          </a:ln>
        </p:spPr>
        <p:txBody>
          <a:bodyPr/>
          <a:lstStyle/>
          <a:p>
            <a:endParaRPr lang="en-US"/>
          </a:p>
        </p:txBody>
      </p:sp>
      <p:sp>
        <p:nvSpPr>
          <p:cNvPr id="24" name="Shape 18"/>
          <p:cNvSpPr/>
          <p:nvPr/>
        </p:nvSpPr>
        <p:spPr>
          <a:xfrm>
            <a:off x="6066130" y="1627632"/>
            <a:ext cx="384048" cy="384048"/>
          </a:xfrm>
          <a:prstGeom prst="ellipse">
            <a:avLst/>
          </a:prstGeom>
          <a:solidFill>
            <a:srgbClr val="2D8FCF"/>
          </a:solidFill>
          <a:ln/>
        </p:spPr>
        <p:txBody>
          <a:bodyPr/>
          <a:lstStyle/>
          <a:p>
            <a:endParaRPr lang="en-US"/>
          </a:p>
        </p:txBody>
      </p:sp>
      <p:pic>
        <p:nvPicPr>
          <p:cNvPr id="25" name="Image 4" descr="icons/robot.png"/>
          <p:cNvPicPr>
            <a:picLocks noChangeAspect="1"/>
          </p:cNvPicPr>
          <p:nvPr/>
        </p:nvPicPr>
        <p:blipFill>
          <a:blip r:embed="rId7"/>
          <a:stretch>
            <a:fillRect/>
          </a:stretch>
        </p:blipFill>
        <p:spPr>
          <a:xfrm>
            <a:off x="6158301" y="1719804"/>
            <a:ext cx="199705" cy="199705"/>
          </a:xfrm>
          <a:prstGeom prst="rect">
            <a:avLst/>
          </a:prstGeom>
        </p:spPr>
      </p:pic>
      <p:sp>
        <p:nvSpPr>
          <p:cNvPr id="26" name="Text 19"/>
          <p:cNvSpPr/>
          <p:nvPr/>
        </p:nvSpPr>
        <p:spPr>
          <a:xfrm>
            <a:off x="5588813" y="2084832"/>
            <a:ext cx="1338682" cy="457200"/>
          </a:xfrm>
          <a:prstGeom prst="rect">
            <a:avLst/>
          </a:prstGeom>
          <a:noFill/>
          <a:ln/>
        </p:spPr>
        <p:txBody>
          <a:bodyPr wrap="square" lIns="0" tIns="0" rIns="0" bIns="0" rtlCol="0" anchor="t"/>
          <a:lstStyle/>
          <a:p>
            <a:pPr marL="0" indent="0" algn="ctr">
              <a:lnSpc>
                <a:spcPct val="100000"/>
              </a:lnSpc>
              <a:buNone/>
            </a:pPr>
            <a:r>
              <a:rPr lang="en-US" sz="1050" b="1">
                <a:solidFill>
                  <a:srgbClr val="FFFFFF"/>
                </a:solidFill>
                <a:latin typeface="Calibri" pitchFamily="34" charset="0"/>
                <a:ea typeface="Calibri" pitchFamily="34" charset="-122"/>
                <a:cs typeface="Calibri" pitchFamily="34" charset="-120"/>
              </a:rPr>
              <a:t>RAG Agent</a:t>
            </a:r>
            <a:endParaRPr lang="en-US" sz="1050"/>
          </a:p>
        </p:txBody>
      </p:sp>
      <p:sp>
        <p:nvSpPr>
          <p:cNvPr id="27" name="Text 20"/>
          <p:cNvSpPr/>
          <p:nvPr/>
        </p:nvSpPr>
        <p:spPr>
          <a:xfrm>
            <a:off x="5607101" y="2560320"/>
            <a:ext cx="1302106" cy="1143000"/>
          </a:xfrm>
          <a:prstGeom prst="rect">
            <a:avLst/>
          </a:prstGeom>
          <a:noFill/>
          <a:ln/>
        </p:spPr>
        <p:txBody>
          <a:bodyPr wrap="square" lIns="0" tIns="0" rIns="0" bIns="0" rtlCol="0" anchor="t"/>
          <a:lstStyle/>
          <a:p>
            <a:pPr marL="0" indent="0" algn="ctr">
              <a:lnSpc>
                <a:spcPct val="108000"/>
              </a:lnSpc>
              <a:buNone/>
            </a:pPr>
            <a:r>
              <a:rPr lang="en-US" sz="860">
                <a:solidFill>
                  <a:srgbClr val="C9CCE6"/>
                </a:solidFill>
                <a:latin typeface="Calibri" pitchFamily="34" charset="0"/>
                <a:ea typeface="Calibri" pitchFamily="34" charset="-122"/>
                <a:cs typeface="Calibri" pitchFamily="34" charset="-120"/>
              </a:rPr>
              <a:t>Retrieve, generate, evaluate, then suggest</a:t>
            </a:r>
            <a:endParaRPr lang="en-US" sz="860"/>
          </a:p>
        </p:txBody>
      </p:sp>
      <p:sp>
        <p:nvSpPr>
          <p:cNvPr id="28" name="Text 21"/>
          <p:cNvSpPr/>
          <p:nvPr/>
        </p:nvSpPr>
        <p:spPr>
          <a:xfrm>
            <a:off x="7000646" y="2308860"/>
            <a:ext cx="201168" cy="457200"/>
          </a:xfrm>
          <a:prstGeom prst="rect">
            <a:avLst/>
          </a:prstGeom>
          <a:noFill/>
          <a:ln/>
        </p:spPr>
        <p:txBody>
          <a:bodyPr wrap="square" lIns="0" tIns="0" rIns="0" bIns="0" rtlCol="0" anchor="ctr"/>
          <a:lstStyle/>
          <a:p>
            <a:pPr marL="0" indent="0" algn="ctr">
              <a:buNone/>
            </a:pPr>
            <a:r>
              <a:rPr lang="en-US" sz="1400" b="1">
                <a:solidFill>
                  <a:srgbClr val="2D8FCF"/>
                </a:solidFill>
                <a:latin typeface="Calibri" pitchFamily="34" charset="0"/>
                <a:ea typeface="Calibri" pitchFamily="34" charset="-122"/>
                <a:cs typeface="Calibri" pitchFamily="34" charset="-120"/>
              </a:rPr>
              <a:t>→</a:t>
            </a:r>
            <a:endParaRPr lang="en-US" sz="1400"/>
          </a:p>
        </p:txBody>
      </p:sp>
      <p:sp>
        <p:nvSpPr>
          <p:cNvPr id="29" name="Shape 22"/>
          <p:cNvSpPr/>
          <p:nvPr/>
        </p:nvSpPr>
        <p:spPr>
          <a:xfrm>
            <a:off x="7201814" y="1463040"/>
            <a:ext cx="1484986" cy="2331720"/>
          </a:xfrm>
          <a:prstGeom prst="roundRect">
            <a:avLst>
              <a:gd name="adj" fmla="val 3079"/>
            </a:avLst>
          </a:prstGeom>
          <a:solidFill>
            <a:srgbClr val="131320"/>
          </a:solidFill>
          <a:ln w="12700">
            <a:solidFill>
              <a:srgbClr val="2E2E45"/>
            </a:solidFill>
            <a:prstDash val="solid"/>
          </a:ln>
        </p:spPr>
        <p:txBody>
          <a:bodyPr/>
          <a:lstStyle/>
          <a:p>
            <a:endParaRPr lang="en-US"/>
          </a:p>
        </p:txBody>
      </p:sp>
      <p:sp>
        <p:nvSpPr>
          <p:cNvPr id="30" name="Shape 23"/>
          <p:cNvSpPr/>
          <p:nvPr/>
        </p:nvSpPr>
        <p:spPr>
          <a:xfrm>
            <a:off x="7752283" y="1627632"/>
            <a:ext cx="384048" cy="384048"/>
          </a:xfrm>
          <a:prstGeom prst="ellipse">
            <a:avLst/>
          </a:prstGeom>
          <a:solidFill>
            <a:srgbClr val="2D8FCF"/>
          </a:solidFill>
          <a:ln/>
        </p:spPr>
        <p:txBody>
          <a:bodyPr/>
          <a:lstStyle/>
          <a:p>
            <a:endParaRPr lang="en-US"/>
          </a:p>
        </p:txBody>
      </p:sp>
      <p:pic>
        <p:nvPicPr>
          <p:cNvPr id="31" name="Image 5" descr="icons/desktop.png"/>
          <p:cNvPicPr>
            <a:picLocks noChangeAspect="1"/>
          </p:cNvPicPr>
          <p:nvPr/>
        </p:nvPicPr>
        <p:blipFill>
          <a:blip r:embed="rId8"/>
          <a:stretch>
            <a:fillRect/>
          </a:stretch>
        </p:blipFill>
        <p:spPr>
          <a:xfrm>
            <a:off x="7844455" y="1719804"/>
            <a:ext cx="199705" cy="199705"/>
          </a:xfrm>
          <a:prstGeom prst="rect">
            <a:avLst/>
          </a:prstGeom>
        </p:spPr>
      </p:pic>
      <p:sp>
        <p:nvSpPr>
          <p:cNvPr id="32" name="Text 24"/>
          <p:cNvSpPr/>
          <p:nvPr/>
        </p:nvSpPr>
        <p:spPr>
          <a:xfrm>
            <a:off x="7274966" y="2084832"/>
            <a:ext cx="1338682" cy="457200"/>
          </a:xfrm>
          <a:prstGeom prst="rect">
            <a:avLst/>
          </a:prstGeom>
          <a:noFill/>
          <a:ln/>
        </p:spPr>
        <p:txBody>
          <a:bodyPr wrap="square" lIns="0" tIns="0" rIns="0" bIns="0" rtlCol="0" anchor="t"/>
          <a:lstStyle/>
          <a:p>
            <a:pPr marL="0" indent="0" algn="ctr">
              <a:lnSpc>
                <a:spcPct val="100000"/>
              </a:lnSpc>
              <a:buNone/>
            </a:pPr>
            <a:r>
              <a:rPr lang="en-US" sz="1050" b="1">
                <a:solidFill>
                  <a:srgbClr val="FFFFFF"/>
                </a:solidFill>
                <a:latin typeface="Calibri" pitchFamily="34" charset="0"/>
                <a:ea typeface="Calibri" pitchFamily="34" charset="-122"/>
                <a:cs typeface="Calibri" pitchFamily="34" charset="-120"/>
              </a:rPr>
              <a:t>Gradio Web UI</a:t>
            </a:r>
            <a:endParaRPr lang="en-US" sz="1050"/>
          </a:p>
        </p:txBody>
      </p:sp>
      <p:sp>
        <p:nvSpPr>
          <p:cNvPr id="33" name="Text 25"/>
          <p:cNvSpPr/>
          <p:nvPr/>
        </p:nvSpPr>
        <p:spPr>
          <a:xfrm>
            <a:off x="7293254" y="2560320"/>
            <a:ext cx="1302106" cy="1143000"/>
          </a:xfrm>
          <a:prstGeom prst="rect">
            <a:avLst/>
          </a:prstGeom>
          <a:noFill/>
          <a:ln/>
        </p:spPr>
        <p:txBody>
          <a:bodyPr wrap="square" lIns="0" tIns="0" rIns="0" bIns="0" rtlCol="0" anchor="t"/>
          <a:lstStyle/>
          <a:p>
            <a:pPr marL="0" indent="0" algn="ctr">
              <a:lnSpc>
                <a:spcPct val="108000"/>
              </a:lnSpc>
              <a:buNone/>
            </a:pPr>
            <a:r>
              <a:rPr lang="en-US" sz="860">
                <a:solidFill>
                  <a:srgbClr val="C9CCE6"/>
                </a:solidFill>
                <a:latin typeface="Calibri" pitchFamily="34" charset="0"/>
                <a:ea typeface="Calibri" pitchFamily="34" charset="-122"/>
                <a:cs typeface="Calibri" pitchFamily="34" charset="-120"/>
              </a:rPr>
              <a:t>Interactive coder demo</a:t>
            </a:r>
            <a:endParaRPr lang="en-US" sz="860"/>
          </a:p>
        </p:txBody>
      </p:sp>
      <p:sp>
        <p:nvSpPr>
          <p:cNvPr id="34" name="Text 26"/>
          <p:cNvSpPr/>
          <p:nvPr/>
        </p:nvSpPr>
        <p:spPr>
          <a:xfrm>
            <a:off x="457200" y="3977640"/>
            <a:ext cx="8229600" cy="365760"/>
          </a:xfrm>
          <a:prstGeom prst="rect">
            <a:avLst/>
          </a:prstGeom>
          <a:noFill/>
          <a:ln/>
        </p:spPr>
        <p:txBody>
          <a:bodyPr wrap="square" lIns="0" tIns="0" rIns="0" bIns="0" rtlCol="0" anchor="ctr"/>
          <a:lstStyle/>
          <a:p>
            <a:pPr marL="0" indent="0" algn="ctr">
              <a:buNone/>
            </a:pPr>
            <a:r>
              <a:rPr lang="en-US" sz="1150" i="1">
                <a:solidFill>
                  <a:srgbClr val="C9CCE6"/>
                </a:solidFill>
                <a:latin typeface="Calibri" pitchFamily="34" charset="0"/>
                <a:ea typeface="Calibri" pitchFamily="34" charset="-122"/>
                <a:cs typeface="Calibri" pitchFamily="34" charset="-120"/>
              </a:rPr>
              <a:t>Fully local generation:  no cloud API required, directly addressing the earlier privacy risk</a:t>
            </a:r>
            <a:endParaRPr lang="en-US" sz="1150"/>
          </a:p>
        </p:txBody>
      </p:sp>
      <p:sp>
        <p:nvSpPr>
          <p:cNvPr id="36" name="Text 27"/>
          <p:cNvSpPr/>
          <p:nvPr/>
        </p:nvSpPr>
        <p:spPr>
          <a:xfrm>
            <a:off x="8549640" y="4828032"/>
            <a:ext cx="274320" cy="228600"/>
          </a:xfrm>
          <a:prstGeom prst="rect">
            <a:avLst/>
          </a:prstGeom>
          <a:noFill/>
          <a:ln/>
        </p:spPr>
        <p:txBody>
          <a:bodyPr wrap="square" lIns="0" tIns="0" rIns="0" bIns="0" rtlCol="0" anchor="ctr"/>
          <a:lstStyle/>
          <a:p>
            <a:pPr marL="0" indent="0" algn="r">
              <a:buNone/>
            </a:pPr>
            <a:r>
              <a:rPr lang="en-US" sz="900">
                <a:solidFill>
                  <a:srgbClr val="C9CCE6"/>
                </a:solidFill>
                <a:latin typeface="Calibri" pitchFamily="34" charset="0"/>
                <a:ea typeface="Calibri" pitchFamily="34" charset="-122"/>
                <a:cs typeface="Calibri" pitchFamily="34" charset="-120"/>
              </a:rPr>
              <a:t>10</a:t>
            </a:r>
            <a:endParaRPr lang="en-US" sz="9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a:effectLst/>
      </p:bgPr>
    </p:bg>
    <p:spTree>
      <p:nvGrpSpPr>
        <p:cNvPr id="1" name=""/>
        <p:cNvGrpSpPr/>
        <p:nvPr/>
      </p:nvGrpSpPr>
      <p:grpSpPr>
        <a:xfrm>
          <a:off x="0" y="0"/>
          <a:ext cx="0" cy="0"/>
          <a:chOff x="0" y="0"/>
          <a:chExt cx="0" cy="0"/>
        </a:xfrm>
      </p:grpSpPr>
      <p:pic>
        <p:nvPicPr>
          <p:cNvPr id="2" name="Image 0" descr="glow/glow_blue.jpg"/>
          <p:cNvPicPr>
            <a:picLocks noChangeAspect="1"/>
          </p:cNvPicPr>
          <p:nvPr/>
        </p:nvPicPr>
        <p:blipFill>
          <a:blip r:embed="rId3"/>
          <a:stretch>
            <a:fillRect/>
          </a:stretch>
        </p:blipFill>
        <p:spPr>
          <a:xfrm>
            <a:off x="6675120" y="-1463040"/>
            <a:ext cx="3931920" cy="3383280"/>
          </a:xfrm>
          <a:prstGeom prst="rect">
            <a:avLst/>
          </a:prstGeom>
        </p:spPr>
      </p:pic>
      <p:sp>
        <p:nvSpPr>
          <p:cNvPr id="3" name="Text 0"/>
          <p:cNvSpPr/>
          <p:nvPr/>
        </p:nvSpPr>
        <p:spPr>
          <a:xfrm>
            <a:off x="457200" y="292608"/>
            <a:ext cx="6400800" cy="256032"/>
          </a:xfrm>
          <a:prstGeom prst="rect">
            <a:avLst/>
          </a:prstGeom>
          <a:noFill/>
          <a:ln/>
        </p:spPr>
        <p:txBody>
          <a:bodyPr wrap="square" lIns="0" tIns="0" rIns="0" bIns="0" rtlCol="0" anchor="ctr"/>
          <a:lstStyle/>
          <a:p>
            <a:pPr marL="0" indent="0">
              <a:buNone/>
            </a:pPr>
            <a:r>
              <a:rPr lang="en-US" sz="1100" b="1" kern="0" spc="200">
                <a:solidFill>
                  <a:srgbClr val="2D8FCF"/>
                </a:solidFill>
                <a:latin typeface="Calibri" pitchFamily="34" charset="0"/>
                <a:ea typeface="Calibri" pitchFamily="34" charset="-122"/>
                <a:cs typeface="Calibri" pitchFamily="34" charset="-120"/>
              </a:rPr>
              <a:t>PROOF OF CONCEPT</a:t>
            </a:r>
            <a:endParaRPr lang="en-US" sz="1100"/>
          </a:p>
        </p:txBody>
      </p:sp>
      <p:sp>
        <p:nvSpPr>
          <p:cNvPr id="4" name="Text 1"/>
          <p:cNvSpPr/>
          <p:nvPr/>
        </p:nvSpPr>
        <p:spPr>
          <a:xfrm>
            <a:off x="457200" y="530352"/>
            <a:ext cx="8229600" cy="777240"/>
          </a:xfrm>
          <a:prstGeom prst="rect">
            <a:avLst/>
          </a:prstGeom>
          <a:noFill/>
          <a:ln/>
        </p:spPr>
        <p:txBody>
          <a:bodyPr wrap="square" lIns="0" tIns="0" rIns="0" bIns="0" rtlCol="0" anchor="t"/>
          <a:lstStyle/>
          <a:p>
            <a:pPr marL="0" indent="0">
              <a:lnSpc>
                <a:spcPct val="102000"/>
              </a:lnSpc>
              <a:buNone/>
            </a:pPr>
            <a:r>
              <a:rPr lang="en-US" sz="2700" b="1">
                <a:solidFill>
                  <a:srgbClr val="FFFFFF"/>
                </a:solidFill>
                <a:latin typeface="Calibri" pitchFamily="34" charset="0"/>
                <a:ea typeface="Calibri" pitchFamily="34" charset="-122"/>
                <a:cs typeface="Calibri" pitchFamily="34" charset="-120"/>
              </a:rPr>
              <a:t>The Agentic Loop</a:t>
            </a:r>
            <a:endParaRPr lang="en-US" sz="2700"/>
          </a:p>
        </p:txBody>
      </p:sp>
      <p:sp>
        <p:nvSpPr>
          <p:cNvPr id="5" name="Shape 2"/>
          <p:cNvSpPr/>
          <p:nvPr/>
        </p:nvSpPr>
        <p:spPr>
          <a:xfrm>
            <a:off x="1001268" y="1600200"/>
            <a:ext cx="777240" cy="777240"/>
          </a:xfrm>
          <a:prstGeom prst="ellipse">
            <a:avLst/>
          </a:prstGeom>
          <a:solidFill>
            <a:srgbClr val="2D8FCF"/>
          </a:solidFill>
          <a:ln/>
        </p:spPr>
        <p:txBody>
          <a:bodyPr/>
          <a:lstStyle/>
          <a:p>
            <a:endParaRPr lang="en-US"/>
          </a:p>
        </p:txBody>
      </p:sp>
      <p:pic>
        <p:nvPicPr>
          <p:cNvPr id="6" name="Image 1" descr="icons/search.png"/>
          <p:cNvPicPr>
            <a:picLocks noChangeAspect="1"/>
          </p:cNvPicPr>
          <p:nvPr/>
        </p:nvPicPr>
        <p:blipFill>
          <a:blip r:embed="rId4"/>
          <a:stretch>
            <a:fillRect/>
          </a:stretch>
        </p:blipFill>
        <p:spPr>
          <a:xfrm>
            <a:off x="1187806" y="1786738"/>
            <a:ext cx="404165" cy="404165"/>
          </a:xfrm>
          <a:prstGeom prst="rect">
            <a:avLst/>
          </a:prstGeom>
        </p:spPr>
      </p:pic>
      <p:sp>
        <p:nvSpPr>
          <p:cNvPr id="7" name="Text 3"/>
          <p:cNvSpPr/>
          <p:nvPr/>
        </p:nvSpPr>
        <p:spPr>
          <a:xfrm>
            <a:off x="411480" y="2487168"/>
            <a:ext cx="1956816" cy="292608"/>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Retrieve</a:t>
            </a:r>
            <a:endParaRPr lang="en-US" sz="1150"/>
          </a:p>
        </p:txBody>
      </p:sp>
      <p:sp>
        <p:nvSpPr>
          <p:cNvPr id="8" name="Text 4"/>
          <p:cNvSpPr/>
          <p:nvPr/>
        </p:nvSpPr>
        <p:spPr>
          <a:xfrm>
            <a:off x="384048" y="2798064"/>
            <a:ext cx="2011680" cy="777240"/>
          </a:xfrm>
          <a:prstGeom prst="rect">
            <a:avLst/>
          </a:prstGeom>
          <a:noFill/>
          <a:ln/>
        </p:spPr>
        <p:txBody>
          <a:bodyPr wrap="square" lIns="0" tIns="0" rIns="0" bIns="0" rtlCol="0" anchor="t"/>
          <a:lstStyle/>
          <a:p>
            <a:pPr marL="0" indent="0" algn="ctr">
              <a:lnSpc>
                <a:spcPct val="105000"/>
              </a:lnSpc>
              <a:buNone/>
            </a:pPr>
            <a:r>
              <a:rPr lang="en-US" sz="930">
                <a:solidFill>
                  <a:srgbClr val="C9CCE6"/>
                </a:solidFill>
                <a:latin typeface="Calibri" pitchFamily="34" charset="0"/>
                <a:ea typeface="Calibri" pitchFamily="34" charset="-122"/>
                <a:cs typeface="Calibri" pitchFamily="34" charset="-120"/>
              </a:rPr>
              <a:t>Semantic search surfaces the top 3 most relevant chart excerpts</a:t>
            </a:r>
            <a:endParaRPr lang="en-US" sz="930"/>
          </a:p>
        </p:txBody>
      </p:sp>
      <p:sp>
        <p:nvSpPr>
          <p:cNvPr id="9" name="Text 5"/>
          <p:cNvSpPr/>
          <p:nvPr/>
        </p:nvSpPr>
        <p:spPr>
          <a:xfrm>
            <a:off x="2322576" y="1824228"/>
            <a:ext cx="256032" cy="329184"/>
          </a:xfrm>
          <a:prstGeom prst="rect">
            <a:avLst/>
          </a:prstGeom>
          <a:noFill/>
          <a:ln/>
        </p:spPr>
        <p:txBody>
          <a:bodyPr wrap="square" lIns="0" tIns="0" rIns="0" bIns="0" rtlCol="0" anchor="ctr"/>
          <a:lstStyle/>
          <a:p>
            <a:pPr marL="0" indent="0" algn="ctr">
              <a:buNone/>
            </a:pPr>
            <a:r>
              <a:rPr lang="en-US" sz="1600" b="1">
                <a:solidFill>
                  <a:srgbClr val="2D8FCF"/>
                </a:solidFill>
                <a:latin typeface="Calibri" pitchFamily="34" charset="0"/>
                <a:ea typeface="Calibri" pitchFamily="34" charset="-122"/>
                <a:cs typeface="Calibri" pitchFamily="34" charset="-120"/>
              </a:rPr>
              <a:t>→</a:t>
            </a:r>
            <a:endParaRPr lang="en-US" sz="1600"/>
          </a:p>
        </p:txBody>
      </p:sp>
      <p:sp>
        <p:nvSpPr>
          <p:cNvPr id="10" name="Shape 6"/>
          <p:cNvSpPr/>
          <p:nvPr/>
        </p:nvSpPr>
        <p:spPr>
          <a:xfrm>
            <a:off x="3122676" y="1600200"/>
            <a:ext cx="777240" cy="777240"/>
          </a:xfrm>
          <a:prstGeom prst="ellipse">
            <a:avLst/>
          </a:prstGeom>
          <a:solidFill>
            <a:srgbClr val="2D8FCF"/>
          </a:solidFill>
          <a:ln/>
        </p:spPr>
        <p:txBody>
          <a:bodyPr/>
          <a:lstStyle/>
          <a:p>
            <a:endParaRPr lang="en-US"/>
          </a:p>
        </p:txBody>
      </p:sp>
      <p:pic>
        <p:nvPicPr>
          <p:cNvPr id="11" name="Image 2" descr="icons/commentdots.png"/>
          <p:cNvPicPr>
            <a:picLocks noChangeAspect="1"/>
          </p:cNvPicPr>
          <p:nvPr/>
        </p:nvPicPr>
        <p:blipFill>
          <a:blip r:embed="rId5"/>
          <a:stretch>
            <a:fillRect/>
          </a:stretch>
        </p:blipFill>
        <p:spPr>
          <a:xfrm>
            <a:off x="3309214" y="1786738"/>
            <a:ext cx="404165" cy="404165"/>
          </a:xfrm>
          <a:prstGeom prst="rect">
            <a:avLst/>
          </a:prstGeom>
        </p:spPr>
      </p:pic>
      <p:sp>
        <p:nvSpPr>
          <p:cNvPr id="12" name="Text 7"/>
          <p:cNvSpPr/>
          <p:nvPr/>
        </p:nvSpPr>
        <p:spPr>
          <a:xfrm>
            <a:off x="2532888" y="2487168"/>
            <a:ext cx="1956816" cy="292608"/>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Generate</a:t>
            </a:r>
            <a:endParaRPr lang="en-US" sz="1150"/>
          </a:p>
        </p:txBody>
      </p:sp>
      <p:sp>
        <p:nvSpPr>
          <p:cNvPr id="13" name="Text 8"/>
          <p:cNvSpPr/>
          <p:nvPr/>
        </p:nvSpPr>
        <p:spPr>
          <a:xfrm>
            <a:off x="2505456" y="2798064"/>
            <a:ext cx="2011680" cy="777240"/>
          </a:xfrm>
          <a:prstGeom prst="rect">
            <a:avLst/>
          </a:prstGeom>
          <a:noFill/>
          <a:ln/>
        </p:spPr>
        <p:txBody>
          <a:bodyPr wrap="square" lIns="0" tIns="0" rIns="0" bIns="0" rtlCol="0" anchor="t"/>
          <a:lstStyle/>
          <a:p>
            <a:pPr marL="0" indent="0" algn="ctr">
              <a:lnSpc>
                <a:spcPct val="105000"/>
              </a:lnSpc>
              <a:buNone/>
            </a:pPr>
            <a:r>
              <a:rPr lang="en-US" sz="930">
                <a:solidFill>
                  <a:srgbClr val="C9CCE6"/>
                </a:solidFill>
                <a:latin typeface="Calibri" pitchFamily="34" charset="0"/>
                <a:ea typeface="Calibri" pitchFamily="34" charset="-122"/>
                <a:cs typeface="Calibri" pitchFamily="34" charset="-120"/>
              </a:rPr>
              <a:t>Local LLM drafts a grounded answer (low temperature, tuned for consistency)</a:t>
            </a:r>
            <a:endParaRPr lang="en-US" sz="930"/>
          </a:p>
        </p:txBody>
      </p:sp>
      <p:sp>
        <p:nvSpPr>
          <p:cNvPr id="14" name="Text 9"/>
          <p:cNvSpPr/>
          <p:nvPr/>
        </p:nvSpPr>
        <p:spPr>
          <a:xfrm>
            <a:off x="4443984" y="1824228"/>
            <a:ext cx="256032" cy="329184"/>
          </a:xfrm>
          <a:prstGeom prst="rect">
            <a:avLst/>
          </a:prstGeom>
          <a:noFill/>
          <a:ln/>
        </p:spPr>
        <p:txBody>
          <a:bodyPr wrap="square" lIns="0" tIns="0" rIns="0" bIns="0" rtlCol="0" anchor="ctr"/>
          <a:lstStyle/>
          <a:p>
            <a:pPr marL="0" indent="0" algn="ctr">
              <a:buNone/>
            </a:pPr>
            <a:r>
              <a:rPr lang="en-US" sz="1600" b="1">
                <a:solidFill>
                  <a:srgbClr val="2D8FCF"/>
                </a:solidFill>
                <a:latin typeface="Calibri" pitchFamily="34" charset="0"/>
                <a:ea typeface="Calibri" pitchFamily="34" charset="-122"/>
                <a:cs typeface="Calibri" pitchFamily="34" charset="-120"/>
              </a:rPr>
              <a:t>→</a:t>
            </a:r>
            <a:endParaRPr lang="en-US" sz="1600"/>
          </a:p>
        </p:txBody>
      </p:sp>
      <p:sp>
        <p:nvSpPr>
          <p:cNvPr id="15" name="Shape 10"/>
          <p:cNvSpPr/>
          <p:nvPr/>
        </p:nvSpPr>
        <p:spPr>
          <a:xfrm>
            <a:off x="5244084" y="1600200"/>
            <a:ext cx="777240" cy="777240"/>
          </a:xfrm>
          <a:prstGeom prst="ellipse">
            <a:avLst/>
          </a:prstGeom>
          <a:solidFill>
            <a:srgbClr val="2D8FCF"/>
          </a:solidFill>
          <a:ln/>
        </p:spPr>
        <p:txBody>
          <a:bodyPr/>
          <a:lstStyle/>
          <a:p>
            <a:endParaRPr lang="en-US"/>
          </a:p>
        </p:txBody>
      </p:sp>
      <p:pic>
        <p:nvPicPr>
          <p:cNvPr id="16" name="Image 3" descr="icons/checkdouble.png"/>
          <p:cNvPicPr>
            <a:picLocks noChangeAspect="1"/>
          </p:cNvPicPr>
          <p:nvPr/>
        </p:nvPicPr>
        <p:blipFill>
          <a:blip r:embed="rId6"/>
          <a:stretch>
            <a:fillRect/>
          </a:stretch>
        </p:blipFill>
        <p:spPr>
          <a:xfrm>
            <a:off x="5430622" y="1786738"/>
            <a:ext cx="404165" cy="404165"/>
          </a:xfrm>
          <a:prstGeom prst="rect">
            <a:avLst/>
          </a:prstGeom>
        </p:spPr>
      </p:pic>
      <p:sp>
        <p:nvSpPr>
          <p:cNvPr id="17" name="Text 11"/>
          <p:cNvSpPr/>
          <p:nvPr/>
        </p:nvSpPr>
        <p:spPr>
          <a:xfrm>
            <a:off x="4654296" y="2487168"/>
            <a:ext cx="1956816" cy="292608"/>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Self-Evaluate</a:t>
            </a:r>
            <a:endParaRPr lang="en-US" sz="1150"/>
          </a:p>
        </p:txBody>
      </p:sp>
      <p:sp>
        <p:nvSpPr>
          <p:cNvPr id="18" name="Text 12"/>
          <p:cNvSpPr/>
          <p:nvPr/>
        </p:nvSpPr>
        <p:spPr>
          <a:xfrm>
            <a:off x="4626864" y="2798064"/>
            <a:ext cx="2011680" cy="777240"/>
          </a:xfrm>
          <a:prstGeom prst="rect">
            <a:avLst/>
          </a:prstGeom>
          <a:noFill/>
          <a:ln/>
        </p:spPr>
        <p:txBody>
          <a:bodyPr wrap="square" lIns="0" tIns="0" rIns="0" bIns="0" rtlCol="0" anchor="t"/>
          <a:lstStyle/>
          <a:p>
            <a:pPr marL="0" indent="0" algn="ctr">
              <a:lnSpc>
                <a:spcPct val="105000"/>
              </a:lnSpc>
              <a:buNone/>
            </a:pPr>
            <a:r>
              <a:rPr lang="en-US" sz="930">
                <a:solidFill>
                  <a:srgbClr val="C9CCE6"/>
                </a:solidFill>
                <a:latin typeface="Calibri" pitchFamily="34" charset="0"/>
                <a:ea typeface="Calibri" pitchFamily="34" charset="-122"/>
                <a:cs typeface="Calibri" pitchFamily="34" charset="-120"/>
              </a:rPr>
              <a:t>Confidence label: High / Medium / Low from retrieval similarity</a:t>
            </a:r>
            <a:endParaRPr lang="en-US" sz="930"/>
          </a:p>
        </p:txBody>
      </p:sp>
      <p:sp>
        <p:nvSpPr>
          <p:cNvPr id="19" name="Text 13"/>
          <p:cNvSpPr/>
          <p:nvPr/>
        </p:nvSpPr>
        <p:spPr>
          <a:xfrm>
            <a:off x="6565392" y="1824228"/>
            <a:ext cx="256032" cy="329184"/>
          </a:xfrm>
          <a:prstGeom prst="rect">
            <a:avLst/>
          </a:prstGeom>
          <a:noFill/>
          <a:ln/>
        </p:spPr>
        <p:txBody>
          <a:bodyPr wrap="square" lIns="0" tIns="0" rIns="0" bIns="0" rtlCol="0" anchor="ctr"/>
          <a:lstStyle/>
          <a:p>
            <a:pPr marL="0" indent="0" algn="ctr">
              <a:buNone/>
            </a:pPr>
            <a:r>
              <a:rPr lang="en-US" sz="1600" b="1">
                <a:solidFill>
                  <a:srgbClr val="2D8FCF"/>
                </a:solidFill>
                <a:latin typeface="Calibri" pitchFamily="34" charset="0"/>
                <a:ea typeface="Calibri" pitchFamily="34" charset="-122"/>
                <a:cs typeface="Calibri" pitchFamily="34" charset="-120"/>
              </a:rPr>
              <a:t>→</a:t>
            </a:r>
            <a:endParaRPr lang="en-US" sz="1600"/>
          </a:p>
        </p:txBody>
      </p:sp>
      <p:sp>
        <p:nvSpPr>
          <p:cNvPr id="20" name="Shape 14"/>
          <p:cNvSpPr/>
          <p:nvPr/>
        </p:nvSpPr>
        <p:spPr>
          <a:xfrm>
            <a:off x="7365492" y="1600200"/>
            <a:ext cx="777240" cy="777240"/>
          </a:xfrm>
          <a:prstGeom prst="ellipse">
            <a:avLst/>
          </a:prstGeom>
          <a:solidFill>
            <a:srgbClr val="2D8FCF"/>
          </a:solidFill>
          <a:ln/>
        </p:spPr>
        <p:txBody>
          <a:bodyPr/>
          <a:lstStyle/>
          <a:p>
            <a:endParaRPr lang="en-US"/>
          </a:p>
        </p:txBody>
      </p:sp>
      <p:pic>
        <p:nvPicPr>
          <p:cNvPr id="21" name="Image 4" descr="icons/tasks.png"/>
          <p:cNvPicPr>
            <a:picLocks noChangeAspect="1"/>
          </p:cNvPicPr>
          <p:nvPr/>
        </p:nvPicPr>
        <p:blipFill>
          <a:blip r:embed="rId7"/>
          <a:stretch>
            <a:fillRect/>
          </a:stretch>
        </p:blipFill>
        <p:spPr>
          <a:xfrm>
            <a:off x="7552030" y="1786738"/>
            <a:ext cx="404165" cy="404165"/>
          </a:xfrm>
          <a:prstGeom prst="rect">
            <a:avLst/>
          </a:prstGeom>
        </p:spPr>
      </p:pic>
      <p:sp>
        <p:nvSpPr>
          <p:cNvPr id="22" name="Text 15"/>
          <p:cNvSpPr/>
          <p:nvPr/>
        </p:nvSpPr>
        <p:spPr>
          <a:xfrm>
            <a:off x="6775704" y="2487168"/>
            <a:ext cx="1956816" cy="292608"/>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Suggest Actions</a:t>
            </a:r>
            <a:endParaRPr lang="en-US" sz="1150"/>
          </a:p>
        </p:txBody>
      </p:sp>
      <p:sp>
        <p:nvSpPr>
          <p:cNvPr id="23" name="Text 16"/>
          <p:cNvSpPr/>
          <p:nvPr/>
        </p:nvSpPr>
        <p:spPr>
          <a:xfrm>
            <a:off x="6748272" y="2798064"/>
            <a:ext cx="2011680" cy="777240"/>
          </a:xfrm>
          <a:prstGeom prst="rect">
            <a:avLst/>
          </a:prstGeom>
          <a:noFill/>
          <a:ln/>
        </p:spPr>
        <p:txBody>
          <a:bodyPr wrap="square" lIns="0" tIns="0" rIns="0" bIns="0" rtlCol="0" anchor="t"/>
          <a:lstStyle/>
          <a:p>
            <a:pPr marL="0" indent="0" algn="ctr">
              <a:lnSpc>
                <a:spcPct val="105000"/>
              </a:lnSpc>
              <a:buNone/>
            </a:pPr>
            <a:r>
              <a:rPr lang="en-US" sz="930">
                <a:solidFill>
                  <a:srgbClr val="C9CCE6"/>
                </a:solidFill>
                <a:latin typeface="Calibri" pitchFamily="34" charset="0"/>
                <a:ea typeface="Calibri" pitchFamily="34" charset="-122"/>
                <a:cs typeface="Calibri" pitchFamily="34" charset="-120"/>
              </a:rPr>
              <a:t>Cross-check codes, flag gaps, route for clinician review</a:t>
            </a:r>
            <a:endParaRPr lang="en-US" sz="930"/>
          </a:p>
        </p:txBody>
      </p:sp>
      <p:sp>
        <p:nvSpPr>
          <p:cNvPr id="24" name="Shape 17"/>
          <p:cNvSpPr/>
          <p:nvPr/>
        </p:nvSpPr>
        <p:spPr>
          <a:xfrm>
            <a:off x="457200" y="3977640"/>
            <a:ext cx="8229600" cy="502920"/>
          </a:xfrm>
          <a:prstGeom prst="roundRect">
            <a:avLst>
              <a:gd name="adj" fmla="val 9091"/>
            </a:avLst>
          </a:prstGeom>
          <a:solidFill>
            <a:srgbClr val="131320"/>
          </a:solidFill>
          <a:ln w="12700">
            <a:solidFill>
              <a:srgbClr val="2E2E45"/>
            </a:solidFill>
            <a:prstDash val="solid"/>
          </a:ln>
        </p:spPr>
        <p:txBody>
          <a:bodyPr/>
          <a:lstStyle/>
          <a:p>
            <a:endParaRPr lang="en-US"/>
          </a:p>
        </p:txBody>
      </p:sp>
      <p:sp>
        <p:nvSpPr>
          <p:cNvPr id="25" name="Text 18"/>
          <p:cNvSpPr/>
          <p:nvPr/>
        </p:nvSpPr>
        <p:spPr>
          <a:xfrm>
            <a:off x="457200" y="3977640"/>
            <a:ext cx="8229600" cy="502920"/>
          </a:xfrm>
          <a:prstGeom prst="rect">
            <a:avLst/>
          </a:prstGeom>
          <a:noFill/>
          <a:ln/>
        </p:spPr>
        <p:txBody>
          <a:bodyPr wrap="square" lIns="0" tIns="0" rIns="0" bIns="0" rtlCol="0" anchor="ctr"/>
          <a:lstStyle/>
          <a:p>
            <a:pPr marL="0" indent="0" algn="ctr">
              <a:buNone/>
            </a:pPr>
            <a:r>
              <a:rPr lang="en-US" sz="1150" b="1" i="1">
                <a:solidFill>
                  <a:srgbClr val="2D8FCF"/>
                </a:solidFill>
                <a:latin typeface="Calibri" pitchFamily="34" charset="0"/>
                <a:ea typeface="Calibri" pitchFamily="34" charset="-122"/>
                <a:cs typeface="Calibri" pitchFamily="34" charset="-120"/>
              </a:rPr>
              <a:t>Every response ends with a human-review reminder. The LLM supports coders, it never replaces them.</a:t>
            </a:r>
            <a:endParaRPr lang="en-US" sz="1150"/>
          </a:p>
        </p:txBody>
      </p:sp>
      <p:sp>
        <p:nvSpPr>
          <p:cNvPr id="27" name="Text 19"/>
          <p:cNvSpPr/>
          <p:nvPr/>
        </p:nvSpPr>
        <p:spPr>
          <a:xfrm>
            <a:off x="8549640" y="4828032"/>
            <a:ext cx="274320" cy="228600"/>
          </a:xfrm>
          <a:prstGeom prst="rect">
            <a:avLst/>
          </a:prstGeom>
          <a:noFill/>
          <a:ln/>
        </p:spPr>
        <p:txBody>
          <a:bodyPr wrap="square" lIns="0" tIns="0" rIns="0" bIns="0" rtlCol="0" anchor="ctr"/>
          <a:lstStyle/>
          <a:p>
            <a:pPr marL="0" indent="0" algn="r">
              <a:buNone/>
            </a:pPr>
            <a:r>
              <a:rPr lang="en-US" sz="900">
                <a:solidFill>
                  <a:srgbClr val="C9CCE6"/>
                </a:solidFill>
                <a:latin typeface="Calibri" pitchFamily="34" charset="0"/>
                <a:ea typeface="Calibri" pitchFamily="34" charset="-122"/>
                <a:cs typeface="Calibri" pitchFamily="34" charset="-120"/>
              </a:rPr>
              <a:t>11</a:t>
            </a:r>
            <a:endParaRPr lang="en-US" sz="9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a:effectLst/>
      </p:bgPr>
    </p:bg>
    <p:spTree>
      <p:nvGrpSpPr>
        <p:cNvPr id="1" name=""/>
        <p:cNvGrpSpPr/>
        <p:nvPr/>
      </p:nvGrpSpPr>
      <p:grpSpPr>
        <a:xfrm>
          <a:off x="0" y="0"/>
          <a:ext cx="0" cy="0"/>
          <a:chOff x="0" y="0"/>
          <a:chExt cx="0" cy="0"/>
        </a:xfrm>
      </p:grpSpPr>
      <p:pic>
        <p:nvPicPr>
          <p:cNvPr id="2" name="Image 0" descr="glow/glow_purple.jpg"/>
          <p:cNvPicPr>
            <a:picLocks noChangeAspect="1"/>
          </p:cNvPicPr>
          <p:nvPr/>
        </p:nvPicPr>
        <p:blipFill>
          <a:blip r:embed="rId3"/>
          <a:stretch>
            <a:fillRect/>
          </a:stretch>
        </p:blipFill>
        <p:spPr>
          <a:xfrm>
            <a:off x="-1828800" y="1828800"/>
            <a:ext cx="4206240" cy="3474720"/>
          </a:xfrm>
          <a:prstGeom prst="rect">
            <a:avLst/>
          </a:prstGeom>
        </p:spPr>
      </p:pic>
      <p:sp>
        <p:nvSpPr>
          <p:cNvPr id="3" name="Text 0"/>
          <p:cNvSpPr/>
          <p:nvPr/>
        </p:nvSpPr>
        <p:spPr>
          <a:xfrm>
            <a:off x="457200" y="292608"/>
            <a:ext cx="6400800" cy="256032"/>
          </a:xfrm>
          <a:prstGeom prst="rect">
            <a:avLst/>
          </a:prstGeom>
          <a:noFill/>
          <a:ln/>
        </p:spPr>
        <p:txBody>
          <a:bodyPr wrap="square" lIns="0" tIns="0" rIns="0" bIns="0" rtlCol="0" anchor="ctr"/>
          <a:lstStyle/>
          <a:p>
            <a:pPr marL="0" indent="0">
              <a:buNone/>
            </a:pPr>
            <a:r>
              <a:rPr lang="en-US" sz="1100" b="1" kern="0" spc="200">
                <a:solidFill>
                  <a:srgbClr val="2D8FCF"/>
                </a:solidFill>
                <a:latin typeface="Calibri" pitchFamily="34" charset="0"/>
                <a:ea typeface="Calibri" pitchFamily="34" charset="-122"/>
                <a:cs typeface="Calibri" pitchFamily="34" charset="-120"/>
              </a:rPr>
              <a:t>PROOF OF CONCEPT</a:t>
            </a:r>
            <a:endParaRPr lang="en-US" sz="1100"/>
          </a:p>
        </p:txBody>
      </p:sp>
      <p:sp>
        <p:nvSpPr>
          <p:cNvPr id="4" name="Text 1"/>
          <p:cNvSpPr/>
          <p:nvPr/>
        </p:nvSpPr>
        <p:spPr>
          <a:xfrm>
            <a:off x="457200" y="530352"/>
            <a:ext cx="8229600" cy="777240"/>
          </a:xfrm>
          <a:prstGeom prst="rect">
            <a:avLst/>
          </a:prstGeom>
          <a:noFill/>
          <a:ln/>
        </p:spPr>
        <p:txBody>
          <a:bodyPr wrap="square" lIns="0" tIns="0" rIns="0" bIns="0" rtlCol="0" anchor="t"/>
          <a:lstStyle/>
          <a:p>
            <a:pPr marL="0" indent="0">
              <a:lnSpc>
                <a:spcPct val="102000"/>
              </a:lnSpc>
              <a:buNone/>
            </a:pPr>
            <a:r>
              <a:rPr lang="en-US" sz="2400" b="1">
                <a:solidFill>
                  <a:srgbClr val="FFFFFF"/>
                </a:solidFill>
                <a:latin typeface="Calibri" pitchFamily="34" charset="0"/>
                <a:ea typeface="Calibri" pitchFamily="34" charset="-122"/>
                <a:cs typeface="Calibri" pitchFamily="34" charset="-120"/>
              </a:rPr>
              <a:t>Design Decisions</a:t>
            </a:r>
            <a:endParaRPr lang="en-US" sz="2400"/>
          </a:p>
        </p:txBody>
      </p:sp>
      <p:sp>
        <p:nvSpPr>
          <p:cNvPr id="5" name="Shape 2"/>
          <p:cNvSpPr/>
          <p:nvPr/>
        </p:nvSpPr>
        <p:spPr>
          <a:xfrm>
            <a:off x="457200" y="1417320"/>
            <a:ext cx="420624" cy="420624"/>
          </a:xfrm>
          <a:prstGeom prst="ellipse">
            <a:avLst/>
          </a:prstGeom>
          <a:solidFill>
            <a:srgbClr val="2D8FCF"/>
          </a:solidFill>
          <a:ln/>
        </p:spPr>
        <p:txBody>
          <a:bodyPr/>
          <a:lstStyle/>
          <a:p>
            <a:endParaRPr lang="en-US"/>
          </a:p>
        </p:txBody>
      </p:sp>
      <p:pic>
        <p:nvPicPr>
          <p:cNvPr id="6" name="Image 1" descr="icons/cogs.png"/>
          <p:cNvPicPr>
            <a:picLocks noChangeAspect="1"/>
          </p:cNvPicPr>
          <p:nvPr/>
        </p:nvPicPr>
        <p:blipFill>
          <a:blip r:embed="rId4"/>
          <a:stretch>
            <a:fillRect/>
          </a:stretch>
        </p:blipFill>
        <p:spPr>
          <a:xfrm>
            <a:off x="558150" y="1518270"/>
            <a:ext cx="218724" cy="218724"/>
          </a:xfrm>
          <a:prstGeom prst="rect">
            <a:avLst/>
          </a:prstGeom>
        </p:spPr>
      </p:pic>
      <p:sp>
        <p:nvSpPr>
          <p:cNvPr id="7" name="Text 3"/>
          <p:cNvSpPr/>
          <p:nvPr/>
        </p:nvSpPr>
        <p:spPr>
          <a:xfrm>
            <a:off x="1060704" y="1389888"/>
            <a:ext cx="7626096" cy="274320"/>
          </a:xfrm>
          <a:prstGeom prst="rect">
            <a:avLst/>
          </a:prstGeom>
          <a:noFill/>
          <a:ln/>
        </p:spPr>
        <p:txBody>
          <a:bodyPr wrap="square" lIns="0" tIns="0" rIns="0" bIns="0" rtlCol="0" anchor="t"/>
          <a:lstStyle/>
          <a:p>
            <a:pPr marL="0" indent="0">
              <a:buNone/>
            </a:pPr>
            <a:r>
              <a:rPr lang="en-US" sz="1300" b="1">
                <a:solidFill>
                  <a:srgbClr val="FFFFFF"/>
                </a:solidFill>
                <a:latin typeface="Calibri" pitchFamily="34" charset="0"/>
                <a:ea typeface="Calibri" pitchFamily="34" charset="-122"/>
                <a:cs typeface="Calibri" pitchFamily="34" charset="-120"/>
              </a:rPr>
              <a:t>No Fine-Tuning</a:t>
            </a:r>
            <a:endParaRPr lang="en-US" sz="1300"/>
          </a:p>
        </p:txBody>
      </p:sp>
      <p:sp>
        <p:nvSpPr>
          <p:cNvPr id="8" name="Text 4"/>
          <p:cNvSpPr/>
          <p:nvPr/>
        </p:nvSpPr>
        <p:spPr>
          <a:xfrm>
            <a:off x="1060704" y="1673352"/>
            <a:ext cx="7626096" cy="365760"/>
          </a:xfrm>
          <a:prstGeom prst="rect">
            <a:avLst/>
          </a:prstGeom>
          <a:noFill/>
          <a:ln/>
        </p:spPr>
        <p:txBody>
          <a:bodyPr wrap="square" lIns="0" tIns="0" rIns="0" bIns="0" rtlCol="0" anchor="t"/>
          <a:lstStyle/>
          <a:p>
            <a:pPr marL="0" indent="0">
              <a:lnSpc>
                <a:spcPct val="108000"/>
              </a:lnSpc>
              <a:buNone/>
            </a:pPr>
            <a:r>
              <a:rPr lang="en-US" sz="1050">
                <a:solidFill>
                  <a:srgbClr val="C9CCE6"/>
                </a:solidFill>
                <a:latin typeface="Calibri" pitchFamily="34" charset="0"/>
                <a:ea typeface="Calibri" pitchFamily="34" charset="-122"/>
                <a:cs typeface="Calibri" pitchFamily="34" charset="-120"/>
              </a:rPr>
              <a:t>General-purpose LLM + prompt engineering, mirroring the market trend.</a:t>
            </a:r>
            <a:endParaRPr lang="en-US" sz="1050"/>
          </a:p>
        </p:txBody>
      </p:sp>
      <p:sp>
        <p:nvSpPr>
          <p:cNvPr id="9" name="Shape 5"/>
          <p:cNvSpPr/>
          <p:nvPr/>
        </p:nvSpPr>
        <p:spPr>
          <a:xfrm>
            <a:off x="457200" y="2075688"/>
            <a:ext cx="420624" cy="420624"/>
          </a:xfrm>
          <a:prstGeom prst="ellipse">
            <a:avLst/>
          </a:prstGeom>
          <a:solidFill>
            <a:srgbClr val="2D8FCF"/>
          </a:solidFill>
          <a:ln/>
        </p:spPr>
        <p:txBody>
          <a:bodyPr/>
          <a:lstStyle/>
          <a:p>
            <a:endParaRPr lang="en-US"/>
          </a:p>
        </p:txBody>
      </p:sp>
      <p:pic>
        <p:nvPicPr>
          <p:cNvPr id="10" name="Image 2" descr="icons/eye.png"/>
          <p:cNvPicPr>
            <a:picLocks noChangeAspect="1"/>
          </p:cNvPicPr>
          <p:nvPr/>
        </p:nvPicPr>
        <p:blipFill>
          <a:blip r:embed="rId5"/>
          <a:stretch>
            <a:fillRect/>
          </a:stretch>
        </p:blipFill>
        <p:spPr>
          <a:xfrm>
            <a:off x="558150" y="2176638"/>
            <a:ext cx="218724" cy="218724"/>
          </a:xfrm>
          <a:prstGeom prst="rect">
            <a:avLst/>
          </a:prstGeom>
        </p:spPr>
      </p:pic>
      <p:sp>
        <p:nvSpPr>
          <p:cNvPr id="11" name="Text 6"/>
          <p:cNvSpPr/>
          <p:nvPr/>
        </p:nvSpPr>
        <p:spPr>
          <a:xfrm>
            <a:off x="1060704" y="2048256"/>
            <a:ext cx="7626096" cy="274320"/>
          </a:xfrm>
          <a:prstGeom prst="rect">
            <a:avLst/>
          </a:prstGeom>
          <a:noFill/>
          <a:ln/>
        </p:spPr>
        <p:txBody>
          <a:bodyPr wrap="square" lIns="0" tIns="0" rIns="0" bIns="0" rtlCol="0" anchor="t"/>
          <a:lstStyle/>
          <a:p>
            <a:pPr marL="0" indent="0">
              <a:buNone/>
            </a:pPr>
            <a:r>
              <a:rPr lang="en-US" sz="1300" b="1">
                <a:solidFill>
                  <a:srgbClr val="FFFFFF"/>
                </a:solidFill>
                <a:latin typeface="Calibri" pitchFamily="34" charset="0"/>
                <a:ea typeface="Calibri" pitchFamily="34" charset="-122"/>
                <a:cs typeface="Calibri" pitchFamily="34" charset="-120"/>
              </a:rPr>
              <a:t>Transparency by Design</a:t>
            </a:r>
            <a:endParaRPr lang="en-US" sz="1300"/>
          </a:p>
        </p:txBody>
      </p:sp>
      <p:sp>
        <p:nvSpPr>
          <p:cNvPr id="12" name="Text 7"/>
          <p:cNvSpPr/>
          <p:nvPr/>
        </p:nvSpPr>
        <p:spPr>
          <a:xfrm>
            <a:off x="1060704" y="2331720"/>
            <a:ext cx="7626096" cy="365760"/>
          </a:xfrm>
          <a:prstGeom prst="rect">
            <a:avLst/>
          </a:prstGeom>
          <a:noFill/>
          <a:ln/>
        </p:spPr>
        <p:txBody>
          <a:bodyPr wrap="square" lIns="0" tIns="0" rIns="0" bIns="0" rtlCol="0" anchor="t"/>
          <a:lstStyle/>
          <a:p>
            <a:pPr marL="0" indent="0">
              <a:lnSpc>
                <a:spcPct val="108000"/>
              </a:lnSpc>
              <a:buNone/>
            </a:pPr>
            <a:r>
              <a:rPr lang="en-US" sz="1050">
                <a:solidFill>
                  <a:srgbClr val="C9CCE6"/>
                </a:solidFill>
                <a:latin typeface="Calibri" pitchFamily="34" charset="0"/>
                <a:ea typeface="Calibri" pitchFamily="34" charset="-122"/>
                <a:cs typeface="Calibri" pitchFamily="34" charset="-120"/>
              </a:rPr>
              <a:t>Regex entity extraction stays visible, not hidden inside the LLM.</a:t>
            </a:r>
            <a:endParaRPr lang="en-US" sz="1050"/>
          </a:p>
        </p:txBody>
      </p:sp>
      <p:sp>
        <p:nvSpPr>
          <p:cNvPr id="13" name="Shape 8"/>
          <p:cNvSpPr/>
          <p:nvPr/>
        </p:nvSpPr>
        <p:spPr>
          <a:xfrm>
            <a:off x="457200" y="2734056"/>
            <a:ext cx="420624" cy="420624"/>
          </a:xfrm>
          <a:prstGeom prst="ellipse">
            <a:avLst/>
          </a:prstGeom>
          <a:solidFill>
            <a:srgbClr val="2D8FCF"/>
          </a:solidFill>
          <a:ln/>
        </p:spPr>
        <p:txBody>
          <a:bodyPr/>
          <a:lstStyle/>
          <a:p>
            <a:endParaRPr lang="en-US"/>
          </a:p>
        </p:txBody>
      </p:sp>
      <p:pic>
        <p:nvPicPr>
          <p:cNvPr id="14" name="Image 3" descr="icons/lock.png"/>
          <p:cNvPicPr>
            <a:picLocks noChangeAspect="1"/>
          </p:cNvPicPr>
          <p:nvPr/>
        </p:nvPicPr>
        <p:blipFill>
          <a:blip r:embed="rId6"/>
          <a:stretch>
            <a:fillRect/>
          </a:stretch>
        </p:blipFill>
        <p:spPr>
          <a:xfrm>
            <a:off x="558150" y="2835006"/>
            <a:ext cx="218724" cy="218724"/>
          </a:xfrm>
          <a:prstGeom prst="rect">
            <a:avLst/>
          </a:prstGeom>
        </p:spPr>
      </p:pic>
      <p:sp>
        <p:nvSpPr>
          <p:cNvPr id="15" name="Text 9"/>
          <p:cNvSpPr/>
          <p:nvPr/>
        </p:nvSpPr>
        <p:spPr>
          <a:xfrm>
            <a:off x="1060704" y="2706624"/>
            <a:ext cx="7626096" cy="274320"/>
          </a:xfrm>
          <a:prstGeom prst="rect">
            <a:avLst/>
          </a:prstGeom>
          <a:noFill/>
          <a:ln/>
        </p:spPr>
        <p:txBody>
          <a:bodyPr wrap="square" lIns="0" tIns="0" rIns="0" bIns="0" rtlCol="0" anchor="t"/>
          <a:lstStyle/>
          <a:p>
            <a:pPr marL="0" indent="0">
              <a:buNone/>
            </a:pPr>
            <a:r>
              <a:rPr lang="en-US" sz="1300" b="1">
                <a:solidFill>
                  <a:srgbClr val="FFFFFF"/>
                </a:solidFill>
                <a:latin typeface="Calibri" pitchFamily="34" charset="0"/>
                <a:ea typeface="Calibri" pitchFamily="34" charset="-122"/>
                <a:cs typeface="Calibri" pitchFamily="34" charset="-120"/>
              </a:rPr>
              <a:t>Local LLM via Ollama</a:t>
            </a:r>
            <a:endParaRPr lang="en-US" sz="1300"/>
          </a:p>
        </p:txBody>
      </p:sp>
      <p:sp>
        <p:nvSpPr>
          <p:cNvPr id="16" name="Text 10"/>
          <p:cNvSpPr/>
          <p:nvPr/>
        </p:nvSpPr>
        <p:spPr>
          <a:xfrm>
            <a:off x="1060704" y="2990088"/>
            <a:ext cx="7626096" cy="365760"/>
          </a:xfrm>
          <a:prstGeom prst="rect">
            <a:avLst/>
          </a:prstGeom>
          <a:noFill/>
          <a:ln/>
        </p:spPr>
        <p:txBody>
          <a:bodyPr wrap="square" lIns="0" tIns="0" rIns="0" bIns="0" rtlCol="0" anchor="t"/>
          <a:lstStyle/>
          <a:p>
            <a:pPr marL="0" indent="0">
              <a:lnSpc>
                <a:spcPct val="108000"/>
              </a:lnSpc>
              <a:buNone/>
            </a:pPr>
            <a:r>
              <a:rPr lang="en-US" sz="1050">
                <a:solidFill>
                  <a:srgbClr val="C9CCE6"/>
                </a:solidFill>
                <a:latin typeface="Calibri" pitchFamily="34" charset="0"/>
                <a:ea typeface="Calibri" pitchFamily="34" charset="-122"/>
                <a:cs typeface="Calibri" pitchFamily="34" charset="-120"/>
              </a:rPr>
              <a:t>No PHI ever leaves the machine.</a:t>
            </a:r>
            <a:endParaRPr lang="en-US" sz="1050"/>
          </a:p>
        </p:txBody>
      </p:sp>
      <p:sp>
        <p:nvSpPr>
          <p:cNvPr id="17" name="Shape 11"/>
          <p:cNvSpPr/>
          <p:nvPr/>
        </p:nvSpPr>
        <p:spPr>
          <a:xfrm>
            <a:off x="457200" y="3392424"/>
            <a:ext cx="420624" cy="420624"/>
          </a:xfrm>
          <a:prstGeom prst="ellipse">
            <a:avLst/>
          </a:prstGeom>
          <a:solidFill>
            <a:srgbClr val="2D8FCF"/>
          </a:solidFill>
          <a:ln/>
        </p:spPr>
        <p:txBody>
          <a:bodyPr/>
          <a:lstStyle/>
          <a:p>
            <a:endParaRPr lang="en-US"/>
          </a:p>
        </p:txBody>
      </p:sp>
      <p:pic>
        <p:nvPicPr>
          <p:cNvPr id="18" name="Image 4" descr="icons/flask.png"/>
          <p:cNvPicPr>
            <a:picLocks noChangeAspect="1"/>
          </p:cNvPicPr>
          <p:nvPr/>
        </p:nvPicPr>
        <p:blipFill>
          <a:blip r:embed="rId7"/>
          <a:stretch>
            <a:fillRect/>
          </a:stretch>
        </p:blipFill>
        <p:spPr>
          <a:xfrm>
            <a:off x="558150" y="3493374"/>
            <a:ext cx="218724" cy="218724"/>
          </a:xfrm>
          <a:prstGeom prst="rect">
            <a:avLst/>
          </a:prstGeom>
        </p:spPr>
      </p:pic>
      <p:sp>
        <p:nvSpPr>
          <p:cNvPr id="19" name="Text 12"/>
          <p:cNvSpPr/>
          <p:nvPr/>
        </p:nvSpPr>
        <p:spPr>
          <a:xfrm>
            <a:off x="1060704" y="3364992"/>
            <a:ext cx="7626096" cy="274320"/>
          </a:xfrm>
          <a:prstGeom prst="rect">
            <a:avLst/>
          </a:prstGeom>
          <a:noFill/>
          <a:ln/>
        </p:spPr>
        <p:txBody>
          <a:bodyPr wrap="square" lIns="0" tIns="0" rIns="0" bIns="0" rtlCol="0" anchor="t"/>
          <a:lstStyle/>
          <a:p>
            <a:pPr marL="0" indent="0">
              <a:buNone/>
            </a:pPr>
            <a:r>
              <a:rPr lang="en-US" sz="1300" b="1">
                <a:solidFill>
                  <a:srgbClr val="FFFFFF"/>
                </a:solidFill>
                <a:latin typeface="Calibri" pitchFamily="34" charset="0"/>
                <a:ea typeface="Calibri" pitchFamily="34" charset="-122"/>
                <a:cs typeface="Calibri" pitchFamily="34" charset="-120"/>
              </a:rPr>
              <a:t>Synthetic Data Only</a:t>
            </a:r>
            <a:endParaRPr lang="en-US" sz="1300"/>
          </a:p>
        </p:txBody>
      </p:sp>
      <p:sp>
        <p:nvSpPr>
          <p:cNvPr id="20" name="Text 13"/>
          <p:cNvSpPr/>
          <p:nvPr/>
        </p:nvSpPr>
        <p:spPr>
          <a:xfrm>
            <a:off x="1060704" y="3648456"/>
            <a:ext cx="7626096" cy="365760"/>
          </a:xfrm>
          <a:prstGeom prst="rect">
            <a:avLst/>
          </a:prstGeom>
          <a:noFill/>
          <a:ln/>
        </p:spPr>
        <p:txBody>
          <a:bodyPr wrap="square" lIns="0" tIns="0" rIns="0" bIns="0" rtlCol="0" anchor="t"/>
          <a:lstStyle/>
          <a:p>
            <a:pPr marL="0" indent="0">
              <a:lnSpc>
                <a:spcPct val="108000"/>
              </a:lnSpc>
              <a:buNone/>
            </a:pPr>
            <a:r>
              <a:rPr lang="en-US" sz="1050">
                <a:solidFill>
                  <a:srgbClr val="C9CCE6"/>
                </a:solidFill>
                <a:latin typeface="Calibri" pitchFamily="34" charset="0"/>
                <a:ea typeface="Calibri" pitchFamily="34" charset="-122"/>
                <a:cs typeface="Calibri" pitchFamily="34" charset="-120"/>
              </a:rPr>
              <a:t>Safe to demo. No real PHI involved.</a:t>
            </a:r>
            <a:endParaRPr lang="en-US" sz="1050"/>
          </a:p>
        </p:txBody>
      </p:sp>
      <p:sp>
        <p:nvSpPr>
          <p:cNvPr id="21" name="Shape 14"/>
          <p:cNvSpPr/>
          <p:nvPr/>
        </p:nvSpPr>
        <p:spPr>
          <a:xfrm>
            <a:off x="457200" y="4050792"/>
            <a:ext cx="420624" cy="420624"/>
          </a:xfrm>
          <a:prstGeom prst="ellipse">
            <a:avLst/>
          </a:prstGeom>
          <a:solidFill>
            <a:srgbClr val="2D8FCF"/>
          </a:solidFill>
          <a:ln/>
        </p:spPr>
        <p:txBody>
          <a:bodyPr/>
          <a:lstStyle/>
          <a:p>
            <a:endParaRPr lang="en-US"/>
          </a:p>
        </p:txBody>
      </p:sp>
      <p:pic>
        <p:nvPicPr>
          <p:cNvPr id="22" name="Image 5" descr="icons/usercheck.png"/>
          <p:cNvPicPr>
            <a:picLocks noChangeAspect="1"/>
          </p:cNvPicPr>
          <p:nvPr/>
        </p:nvPicPr>
        <p:blipFill>
          <a:blip r:embed="rId8"/>
          <a:stretch>
            <a:fillRect/>
          </a:stretch>
        </p:blipFill>
        <p:spPr>
          <a:xfrm>
            <a:off x="558150" y="4151742"/>
            <a:ext cx="218724" cy="218724"/>
          </a:xfrm>
          <a:prstGeom prst="rect">
            <a:avLst/>
          </a:prstGeom>
        </p:spPr>
      </p:pic>
      <p:sp>
        <p:nvSpPr>
          <p:cNvPr id="23" name="Text 15"/>
          <p:cNvSpPr/>
          <p:nvPr/>
        </p:nvSpPr>
        <p:spPr>
          <a:xfrm>
            <a:off x="1060704" y="4023360"/>
            <a:ext cx="7626096" cy="274320"/>
          </a:xfrm>
          <a:prstGeom prst="rect">
            <a:avLst/>
          </a:prstGeom>
          <a:noFill/>
          <a:ln/>
        </p:spPr>
        <p:txBody>
          <a:bodyPr wrap="square" lIns="0" tIns="0" rIns="0" bIns="0" rtlCol="0" anchor="t"/>
          <a:lstStyle/>
          <a:p>
            <a:pPr marL="0" indent="0">
              <a:buNone/>
            </a:pPr>
            <a:r>
              <a:rPr lang="en-US" sz="1300" b="1">
                <a:solidFill>
                  <a:srgbClr val="FFFFFF"/>
                </a:solidFill>
                <a:latin typeface="Calibri" pitchFamily="34" charset="0"/>
                <a:ea typeface="Calibri" pitchFamily="34" charset="-122"/>
                <a:cs typeface="Calibri" pitchFamily="34" charset="-120"/>
              </a:rPr>
              <a:t>Human-in-the-Loop</a:t>
            </a:r>
            <a:endParaRPr lang="en-US" sz="1300"/>
          </a:p>
        </p:txBody>
      </p:sp>
      <p:sp>
        <p:nvSpPr>
          <p:cNvPr id="24" name="Text 16"/>
          <p:cNvSpPr/>
          <p:nvPr/>
        </p:nvSpPr>
        <p:spPr>
          <a:xfrm>
            <a:off x="1060704" y="4306824"/>
            <a:ext cx="7626096" cy="365760"/>
          </a:xfrm>
          <a:prstGeom prst="rect">
            <a:avLst/>
          </a:prstGeom>
          <a:noFill/>
          <a:ln/>
        </p:spPr>
        <p:txBody>
          <a:bodyPr wrap="square" lIns="0" tIns="0" rIns="0" bIns="0" rtlCol="0" anchor="t"/>
          <a:lstStyle/>
          <a:p>
            <a:pPr marL="0" indent="0">
              <a:lnSpc>
                <a:spcPct val="108000"/>
              </a:lnSpc>
              <a:buNone/>
            </a:pPr>
            <a:r>
              <a:rPr lang="en-US" sz="1050">
                <a:solidFill>
                  <a:srgbClr val="C9CCE6"/>
                </a:solidFill>
                <a:latin typeface="Calibri" pitchFamily="34" charset="0"/>
                <a:ea typeface="Calibri" pitchFamily="34" charset="-122"/>
                <a:cs typeface="Calibri" pitchFamily="34" charset="-120"/>
              </a:rPr>
              <a:t>Every answer includes review suggestions. Supports coders, never replaces them.</a:t>
            </a:r>
            <a:endParaRPr lang="en-US" sz="1050"/>
          </a:p>
        </p:txBody>
      </p:sp>
      <p:sp>
        <p:nvSpPr>
          <p:cNvPr id="26" name="Text 17"/>
          <p:cNvSpPr/>
          <p:nvPr/>
        </p:nvSpPr>
        <p:spPr>
          <a:xfrm>
            <a:off x="8549640" y="4828032"/>
            <a:ext cx="274320" cy="228600"/>
          </a:xfrm>
          <a:prstGeom prst="rect">
            <a:avLst/>
          </a:prstGeom>
          <a:noFill/>
          <a:ln/>
        </p:spPr>
        <p:txBody>
          <a:bodyPr wrap="square" lIns="0" tIns="0" rIns="0" bIns="0" rtlCol="0" anchor="ctr"/>
          <a:lstStyle/>
          <a:p>
            <a:pPr marL="0" indent="0" algn="r">
              <a:buNone/>
            </a:pPr>
            <a:r>
              <a:rPr lang="en-US" sz="900">
                <a:solidFill>
                  <a:srgbClr val="C9CCE6"/>
                </a:solidFill>
                <a:latin typeface="Calibri" pitchFamily="34" charset="0"/>
                <a:ea typeface="Calibri" pitchFamily="34" charset="-122"/>
                <a:cs typeface="Calibri" pitchFamily="34" charset="-120"/>
              </a:rPr>
              <a:t>12</a:t>
            </a:r>
            <a:endParaRPr lang="en-US" sz="9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a:effectLst/>
      </p:bgPr>
    </p:bg>
    <p:spTree>
      <p:nvGrpSpPr>
        <p:cNvPr id="1" name=""/>
        <p:cNvGrpSpPr/>
        <p:nvPr/>
      </p:nvGrpSpPr>
      <p:grpSpPr>
        <a:xfrm>
          <a:off x="0" y="0"/>
          <a:ext cx="0" cy="0"/>
          <a:chOff x="0" y="0"/>
          <a:chExt cx="0" cy="0"/>
        </a:xfrm>
      </p:grpSpPr>
      <p:pic>
        <p:nvPicPr>
          <p:cNvPr id="2" name="Image 0" descr="glow/glow_blue.jpg"/>
          <p:cNvPicPr>
            <a:picLocks noChangeAspect="1"/>
          </p:cNvPicPr>
          <p:nvPr/>
        </p:nvPicPr>
        <p:blipFill>
          <a:blip r:embed="rId3"/>
          <a:stretch>
            <a:fillRect/>
          </a:stretch>
        </p:blipFill>
        <p:spPr>
          <a:xfrm>
            <a:off x="6583680" y="1828800"/>
            <a:ext cx="3840480" cy="3291840"/>
          </a:xfrm>
          <a:prstGeom prst="rect">
            <a:avLst/>
          </a:prstGeom>
        </p:spPr>
      </p:pic>
      <p:sp>
        <p:nvSpPr>
          <p:cNvPr id="3" name="Text 0"/>
          <p:cNvSpPr/>
          <p:nvPr/>
        </p:nvSpPr>
        <p:spPr>
          <a:xfrm>
            <a:off x="457200" y="292608"/>
            <a:ext cx="6400800" cy="256032"/>
          </a:xfrm>
          <a:prstGeom prst="rect">
            <a:avLst/>
          </a:prstGeom>
          <a:noFill/>
          <a:ln/>
        </p:spPr>
        <p:txBody>
          <a:bodyPr wrap="square" lIns="0" tIns="0" rIns="0" bIns="0" rtlCol="0" anchor="ctr"/>
          <a:lstStyle/>
          <a:p>
            <a:pPr marL="0" indent="0">
              <a:buNone/>
            </a:pPr>
            <a:r>
              <a:rPr lang="en-US" sz="1100" b="1" kern="0" spc="200">
                <a:solidFill>
                  <a:srgbClr val="2D8FCF"/>
                </a:solidFill>
                <a:latin typeface="Calibri" pitchFamily="34" charset="0"/>
                <a:ea typeface="Calibri" pitchFamily="34" charset="-122"/>
                <a:cs typeface="Calibri" pitchFamily="34" charset="-120"/>
              </a:rPr>
              <a:t>PROOF OF CONCEPT</a:t>
            </a:r>
            <a:endParaRPr lang="en-US" sz="1100"/>
          </a:p>
        </p:txBody>
      </p:sp>
      <p:sp>
        <p:nvSpPr>
          <p:cNvPr id="4" name="Text 1"/>
          <p:cNvSpPr/>
          <p:nvPr/>
        </p:nvSpPr>
        <p:spPr>
          <a:xfrm>
            <a:off x="457200" y="530352"/>
            <a:ext cx="8229600" cy="777240"/>
          </a:xfrm>
          <a:prstGeom prst="rect">
            <a:avLst/>
          </a:prstGeom>
          <a:noFill/>
          <a:ln/>
        </p:spPr>
        <p:txBody>
          <a:bodyPr wrap="square" lIns="0" tIns="0" rIns="0" bIns="0" rtlCol="0" anchor="t"/>
          <a:lstStyle/>
          <a:p>
            <a:pPr marL="0" indent="0">
              <a:lnSpc>
                <a:spcPct val="102000"/>
              </a:lnSpc>
              <a:buNone/>
            </a:pPr>
            <a:r>
              <a:rPr lang="en-US" sz="2300" b="1">
                <a:solidFill>
                  <a:srgbClr val="FFFFFF"/>
                </a:solidFill>
                <a:latin typeface="Calibri" pitchFamily="34" charset="0"/>
                <a:ea typeface="Calibri" pitchFamily="34" charset="-122"/>
                <a:cs typeface="Calibri" pitchFamily="34" charset="-120"/>
              </a:rPr>
              <a:t>Report Recommendation vs. What the PoC Delivers</a:t>
            </a:r>
            <a:endParaRPr lang="en-US" sz="230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3063240"/>
        </p:xfrm>
        <a:graphic>
          <a:graphicData uri="http://schemas.openxmlformats.org/drawingml/2006/table">
            <a:tbl>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612648">
                <a:tc>
                  <a:txBody>
                    <a:bodyPr/>
                    <a:lstStyle/>
                    <a:p>
                      <a:pPr marL="0" indent="0" algn="l">
                        <a:buNone/>
                      </a:pPr>
                      <a:r>
                        <a:rPr lang="en-US" sz="1250" b="1">
                          <a:solidFill>
                            <a:srgbClr val="FFFFFF"/>
                          </a:solidFill>
                          <a:latin typeface="Calibri" pitchFamily="34" charset="0"/>
                          <a:ea typeface="Calibri" pitchFamily="34" charset="-122"/>
                          <a:cs typeface="Calibri" pitchFamily="34" charset="-120"/>
                        </a:rPr>
                        <a:t>Report Recommendation</a:t>
                      </a:r>
                      <a:endParaRPr lang="en-US" sz="1250">
                        <a:latin typeface="Calibri" charset="0"/>
                        <a:ea typeface="Calibri" charset="0"/>
                        <a:cs typeface="Calibri" charset="0"/>
                      </a:endParaRPr>
                    </a:p>
                  </a:txBody>
                  <a:tcPr marL="127000" marR="127000" marT="101600" marB="101600" anchor="ctr">
                    <a:lnL w="6350" cap="flat" cmpd="sng" algn="ctr">
                      <a:solidFill>
                        <a:srgbClr val="2E2E45"/>
                      </a:solidFill>
                      <a:prstDash val="solid"/>
                      <a:round/>
                      <a:headEnd type="none" w="med" len="med"/>
                      <a:tailEnd type="none" w="med" len="med"/>
                    </a:lnL>
                    <a:lnR w="6350" cap="flat" cmpd="sng" algn="ctr">
                      <a:solidFill>
                        <a:srgbClr val="2E2E45"/>
                      </a:solidFill>
                      <a:prstDash val="solid"/>
                      <a:round/>
                      <a:headEnd type="none" w="med" len="med"/>
                      <a:tailEnd type="none" w="med" len="med"/>
                    </a:lnR>
                    <a:lnT w="6350" cap="flat" cmpd="sng" algn="ctr">
                      <a:solidFill>
                        <a:srgbClr val="2E2E45"/>
                      </a:solidFill>
                      <a:prstDash val="solid"/>
                      <a:round/>
                      <a:headEnd type="none" w="med" len="med"/>
                      <a:tailEnd type="none" w="med" len="med"/>
                    </a:lnT>
                    <a:lnB w="6350" cap="flat" cmpd="sng" algn="ctr">
                      <a:solidFill>
                        <a:srgbClr val="2E2E45"/>
                      </a:solidFill>
                      <a:prstDash val="solid"/>
                      <a:round/>
                      <a:headEnd type="none" w="med" len="med"/>
                      <a:tailEnd type="none" w="med" len="med"/>
                    </a:lnB>
                    <a:solidFill>
                      <a:srgbClr val="2D8FCF"/>
                    </a:solidFill>
                  </a:tcPr>
                </a:tc>
                <a:tc>
                  <a:txBody>
                    <a:bodyPr/>
                    <a:lstStyle/>
                    <a:p>
                      <a:pPr marL="0" indent="0" algn="l">
                        <a:buNone/>
                      </a:pPr>
                      <a:r>
                        <a:rPr lang="en-US" sz="1250" b="1">
                          <a:solidFill>
                            <a:srgbClr val="FFFFFF"/>
                          </a:solidFill>
                          <a:latin typeface="Calibri" pitchFamily="34" charset="0"/>
                          <a:ea typeface="Calibri" pitchFamily="34" charset="-122"/>
                          <a:cs typeface="Calibri" pitchFamily="34" charset="-120"/>
                        </a:rPr>
                        <a:t>What the PoC Delivers</a:t>
                      </a:r>
                      <a:endParaRPr lang="en-US" sz="1250">
                        <a:latin typeface="Calibri" charset="0"/>
                        <a:ea typeface="Calibri" charset="0"/>
                        <a:cs typeface="Calibri" charset="0"/>
                      </a:endParaRPr>
                    </a:p>
                  </a:txBody>
                  <a:tcPr marL="127000" marR="127000" marT="101600" marB="101600" anchor="ctr">
                    <a:lnL w="6350" cap="flat" cmpd="sng" algn="ctr">
                      <a:solidFill>
                        <a:srgbClr val="2E2E45"/>
                      </a:solidFill>
                      <a:prstDash val="solid"/>
                      <a:round/>
                      <a:headEnd type="none" w="med" len="med"/>
                      <a:tailEnd type="none" w="med" len="med"/>
                    </a:lnL>
                    <a:lnR w="6350" cap="flat" cmpd="sng" algn="ctr">
                      <a:solidFill>
                        <a:srgbClr val="2E2E45"/>
                      </a:solidFill>
                      <a:prstDash val="solid"/>
                      <a:round/>
                      <a:headEnd type="none" w="med" len="med"/>
                      <a:tailEnd type="none" w="med" len="med"/>
                    </a:lnR>
                    <a:lnT w="6350" cap="flat" cmpd="sng" algn="ctr">
                      <a:solidFill>
                        <a:srgbClr val="2E2E45"/>
                      </a:solidFill>
                      <a:prstDash val="solid"/>
                      <a:round/>
                      <a:headEnd type="none" w="med" len="med"/>
                      <a:tailEnd type="none" w="med" len="med"/>
                    </a:lnT>
                    <a:lnB w="6350" cap="flat" cmpd="sng" algn="ctr">
                      <a:solidFill>
                        <a:srgbClr val="2E2E45"/>
                      </a:solidFill>
                      <a:prstDash val="solid"/>
                      <a:round/>
                      <a:headEnd type="none" w="med" len="med"/>
                      <a:tailEnd type="none" w="med" len="med"/>
                    </a:lnB>
                    <a:solidFill>
                      <a:srgbClr val="2D8FCF"/>
                    </a:solidFill>
                  </a:tcPr>
                </a:tc>
                <a:extLst>
                  <a:ext uri="{0D108BD9-81ED-4DB2-BD59-A6C34878D82A}">
                    <a16:rowId xmlns:a16="http://schemas.microsoft.com/office/drawing/2014/main" val="10000"/>
                  </a:ext>
                </a:extLst>
              </a:tr>
              <a:tr h="612648">
                <a:tc>
                  <a:txBody>
                    <a:bodyPr/>
                    <a:lstStyle/>
                    <a:p>
                      <a:pPr marL="0" indent="0">
                        <a:buNone/>
                      </a:pPr>
                      <a:r>
                        <a:rPr lang="en-US" sz="1150">
                          <a:solidFill>
                            <a:srgbClr val="C9CCE6"/>
                          </a:solidFill>
                          <a:latin typeface="Calibri" pitchFamily="34" charset="0"/>
                          <a:ea typeface="Calibri" pitchFamily="34" charset="-122"/>
                          <a:cs typeface="Calibri" pitchFamily="34" charset="-120"/>
                        </a:rPr>
                        <a:t>Surface coding guidelines &amp; evidence in real time</a:t>
                      </a:r>
                      <a:endParaRPr lang="en-US" sz="1150">
                        <a:latin typeface="Calibri" charset="0"/>
                        <a:ea typeface="Calibri" charset="0"/>
                        <a:cs typeface="Calibri" charset="0"/>
                      </a:endParaRPr>
                    </a:p>
                  </a:txBody>
                  <a:tcPr marL="127000" marR="127000" marT="101600" marB="101600" anchor="ctr">
                    <a:lnL w="6350" cap="flat" cmpd="sng" algn="ctr">
                      <a:solidFill>
                        <a:srgbClr val="2E2E45"/>
                      </a:solidFill>
                      <a:prstDash val="solid"/>
                      <a:round/>
                      <a:headEnd type="none" w="med" len="med"/>
                      <a:tailEnd type="none" w="med" len="med"/>
                    </a:lnL>
                    <a:lnR w="6350" cap="flat" cmpd="sng" algn="ctr">
                      <a:solidFill>
                        <a:srgbClr val="2E2E45"/>
                      </a:solidFill>
                      <a:prstDash val="solid"/>
                      <a:round/>
                      <a:headEnd type="none" w="med" len="med"/>
                      <a:tailEnd type="none" w="med" len="med"/>
                    </a:lnR>
                    <a:lnT w="6350" cap="flat" cmpd="sng" algn="ctr">
                      <a:solidFill>
                        <a:srgbClr val="2E2E45"/>
                      </a:solidFill>
                      <a:prstDash val="solid"/>
                      <a:round/>
                      <a:headEnd type="none" w="med" len="med"/>
                      <a:tailEnd type="none" w="med" len="med"/>
                    </a:lnT>
                    <a:lnB w="6350" cap="flat" cmpd="sng" algn="ctr">
                      <a:solidFill>
                        <a:srgbClr val="2E2E45"/>
                      </a:solidFill>
                      <a:prstDash val="solid"/>
                      <a:round/>
                      <a:headEnd type="none" w="med" len="med"/>
                      <a:tailEnd type="none" w="med" len="med"/>
                    </a:lnB>
                    <a:solidFill>
                      <a:srgbClr val="131320"/>
                    </a:solidFill>
                  </a:tcPr>
                </a:tc>
                <a:tc>
                  <a:txBody>
                    <a:bodyPr/>
                    <a:lstStyle/>
                    <a:p>
                      <a:pPr marL="0" indent="0">
                        <a:buNone/>
                      </a:pPr>
                      <a:r>
                        <a:rPr lang="en-US" sz="1150">
                          <a:solidFill>
                            <a:srgbClr val="C9CCE6"/>
                          </a:solidFill>
                          <a:latin typeface="Calibri" pitchFamily="34" charset="0"/>
                          <a:ea typeface="Calibri" pitchFamily="34" charset="-122"/>
                          <a:cs typeface="Calibri" pitchFamily="34" charset="-120"/>
                        </a:rPr>
                        <a:t>Live semantic retrieval over clinical notes (FAISS + Sentence-BERT)</a:t>
                      </a:r>
                      <a:endParaRPr lang="en-US" sz="1150">
                        <a:latin typeface="Calibri" charset="0"/>
                        <a:ea typeface="Calibri" charset="0"/>
                        <a:cs typeface="Calibri" charset="0"/>
                      </a:endParaRPr>
                    </a:p>
                  </a:txBody>
                  <a:tcPr marL="127000" marR="127000" marT="101600" marB="101600" anchor="ctr">
                    <a:lnL w="6350" cap="flat" cmpd="sng" algn="ctr">
                      <a:solidFill>
                        <a:srgbClr val="2E2E45"/>
                      </a:solidFill>
                      <a:prstDash val="solid"/>
                      <a:round/>
                      <a:headEnd type="none" w="med" len="med"/>
                      <a:tailEnd type="none" w="med" len="med"/>
                    </a:lnL>
                    <a:lnR w="6350" cap="flat" cmpd="sng" algn="ctr">
                      <a:solidFill>
                        <a:srgbClr val="2E2E45"/>
                      </a:solidFill>
                      <a:prstDash val="solid"/>
                      <a:round/>
                      <a:headEnd type="none" w="med" len="med"/>
                      <a:tailEnd type="none" w="med" len="med"/>
                    </a:lnR>
                    <a:lnT w="6350" cap="flat" cmpd="sng" algn="ctr">
                      <a:solidFill>
                        <a:srgbClr val="2E2E45"/>
                      </a:solidFill>
                      <a:prstDash val="solid"/>
                      <a:round/>
                      <a:headEnd type="none" w="med" len="med"/>
                      <a:tailEnd type="none" w="med" len="med"/>
                    </a:lnT>
                    <a:lnB w="6350" cap="flat" cmpd="sng" algn="ctr">
                      <a:solidFill>
                        <a:srgbClr val="2E2E45"/>
                      </a:solidFill>
                      <a:prstDash val="solid"/>
                      <a:round/>
                      <a:headEnd type="none" w="med" len="med"/>
                      <a:tailEnd type="none" w="med" len="med"/>
                    </a:lnB>
                    <a:solidFill>
                      <a:srgbClr val="131320"/>
                    </a:solidFill>
                  </a:tcPr>
                </a:tc>
                <a:extLst>
                  <a:ext uri="{0D108BD9-81ED-4DB2-BD59-A6C34878D82A}">
                    <a16:rowId xmlns:a16="http://schemas.microsoft.com/office/drawing/2014/main" val="10001"/>
                  </a:ext>
                </a:extLst>
              </a:tr>
              <a:tr h="612648">
                <a:tc>
                  <a:txBody>
                    <a:bodyPr/>
                    <a:lstStyle/>
                    <a:p>
                      <a:pPr marL="0" indent="0">
                        <a:buNone/>
                      </a:pPr>
                      <a:r>
                        <a:rPr lang="en-US" sz="1150">
                          <a:solidFill>
                            <a:srgbClr val="C9CCE6"/>
                          </a:solidFill>
                          <a:latin typeface="Calibri" pitchFamily="34" charset="0"/>
                          <a:ea typeface="Calibri" pitchFamily="34" charset="-122"/>
                          <a:cs typeface="Calibri" pitchFamily="34" charset="-120"/>
                        </a:rPr>
                        <a:t>Improve coding accuracy &amp; consistency</a:t>
                      </a:r>
                      <a:endParaRPr lang="en-US" sz="1150">
                        <a:latin typeface="Calibri" charset="0"/>
                        <a:ea typeface="Calibri" charset="0"/>
                        <a:cs typeface="Calibri" charset="0"/>
                      </a:endParaRPr>
                    </a:p>
                  </a:txBody>
                  <a:tcPr marL="127000" marR="127000" marT="101600" marB="101600" anchor="ctr">
                    <a:lnL w="6350" cap="flat" cmpd="sng" algn="ctr">
                      <a:solidFill>
                        <a:srgbClr val="2E2E45"/>
                      </a:solidFill>
                      <a:prstDash val="solid"/>
                      <a:round/>
                      <a:headEnd type="none" w="med" len="med"/>
                      <a:tailEnd type="none" w="med" len="med"/>
                    </a:lnL>
                    <a:lnR w="6350" cap="flat" cmpd="sng" algn="ctr">
                      <a:solidFill>
                        <a:srgbClr val="2E2E45"/>
                      </a:solidFill>
                      <a:prstDash val="solid"/>
                      <a:round/>
                      <a:headEnd type="none" w="med" len="med"/>
                      <a:tailEnd type="none" w="med" len="med"/>
                    </a:lnR>
                    <a:lnT w="6350" cap="flat" cmpd="sng" algn="ctr">
                      <a:solidFill>
                        <a:srgbClr val="2E2E45"/>
                      </a:solidFill>
                      <a:prstDash val="solid"/>
                      <a:round/>
                      <a:headEnd type="none" w="med" len="med"/>
                      <a:tailEnd type="none" w="med" len="med"/>
                    </a:lnT>
                    <a:lnB w="6350" cap="flat" cmpd="sng" algn="ctr">
                      <a:solidFill>
                        <a:srgbClr val="2E2E45"/>
                      </a:solidFill>
                      <a:prstDash val="solid"/>
                      <a:round/>
                      <a:headEnd type="none" w="med" len="med"/>
                      <a:tailEnd type="none" w="med" len="med"/>
                    </a:lnB>
                    <a:solidFill>
                      <a:srgbClr val="191927"/>
                    </a:solidFill>
                  </a:tcPr>
                </a:tc>
                <a:tc>
                  <a:txBody>
                    <a:bodyPr/>
                    <a:lstStyle/>
                    <a:p>
                      <a:pPr marL="0" indent="0">
                        <a:buNone/>
                      </a:pPr>
                      <a:r>
                        <a:rPr lang="en-US" sz="1150">
                          <a:solidFill>
                            <a:srgbClr val="C9CCE6"/>
                          </a:solidFill>
                          <a:latin typeface="Calibri" pitchFamily="34" charset="0"/>
                          <a:ea typeface="Calibri" pitchFamily="34" charset="-122"/>
                          <a:cs typeface="Calibri" pitchFamily="34" charset="-120"/>
                        </a:rPr>
                        <a:t>Grounded LLM answers with visible source chunks</a:t>
                      </a:r>
                      <a:endParaRPr lang="en-US" sz="1150">
                        <a:latin typeface="Calibri" charset="0"/>
                        <a:ea typeface="Calibri" charset="0"/>
                        <a:cs typeface="Calibri" charset="0"/>
                      </a:endParaRPr>
                    </a:p>
                  </a:txBody>
                  <a:tcPr marL="127000" marR="127000" marT="101600" marB="101600" anchor="ctr">
                    <a:lnL w="6350" cap="flat" cmpd="sng" algn="ctr">
                      <a:solidFill>
                        <a:srgbClr val="2E2E45"/>
                      </a:solidFill>
                      <a:prstDash val="solid"/>
                      <a:round/>
                      <a:headEnd type="none" w="med" len="med"/>
                      <a:tailEnd type="none" w="med" len="med"/>
                    </a:lnL>
                    <a:lnR w="6350" cap="flat" cmpd="sng" algn="ctr">
                      <a:solidFill>
                        <a:srgbClr val="2E2E45"/>
                      </a:solidFill>
                      <a:prstDash val="solid"/>
                      <a:round/>
                      <a:headEnd type="none" w="med" len="med"/>
                      <a:tailEnd type="none" w="med" len="med"/>
                    </a:lnR>
                    <a:lnT w="6350" cap="flat" cmpd="sng" algn="ctr">
                      <a:solidFill>
                        <a:srgbClr val="2E2E45"/>
                      </a:solidFill>
                      <a:prstDash val="solid"/>
                      <a:round/>
                      <a:headEnd type="none" w="med" len="med"/>
                      <a:tailEnd type="none" w="med" len="med"/>
                    </a:lnT>
                    <a:lnB w="6350" cap="flat" cmpd="sng" algn="ctr">
                      <a:solidFill>
                        <a:srgbClr val="2E2E45"/>
                      </a:solidFill>
                      <a:prstDash val="solid"/>
                      <a:round/>
                      <a:headEnd type="none" w="med" len="med"/>
                      <a:tailEnd type="none" w="med" len="med"/>
                    </a:lnB>
                    <a:solidFill>
                      <a:srgbClr val="191927"/>
                    </a:solidFill>
                  </a:tcPr>
                </a:tc>
                <a:extLst>
                  <a:ext uri="{0D108BD9-81ED-4DB2-BD59-A6C34878D82A}">
                    <a16:rowId xmlns:a16="http://schemas.microsoft.com/office/drawing/2014/main" val="10002"/>
                  </a:ext>
                </a:extLst>
              </a:tr>
              <a:tr h="612648">
                <a:tc>
                  <a:txBody>
                    <a:bodyPr/>
                    <a:lstStyle/>
                    <a:p>
                      <a:pPr marL="0" indent="0">
                        <a:buNone/>
                      </a:pPr>
                      <a:r>
                        <a:rPr lang="en-US" sz="1150">
                          <a:solidFill>
                            <a:srgbClr val="C9CCE6"/>
                          </a:solidFill>
                          <a:latin typeface="Calibri" pitchFamily="34" charset="0"/>
                          <a:ea typeface="Calibri" pitchFamily="34" charset="-122"/>
                          <a:cs typeface="Calibri" pitchFamily="34" charset="-120"/>
                        </a:rPr>
                        <a:t>Reduce new-coder training time</a:t>
                      </a:r>
                      <a:endParaRPr lang="en-US" sz="1150">
                        <a:latin typeface="Calibri" charset="0"/>
                        <a:ea typeface="Calibri" charset="0"/>
                        <a:cs typeface="Calibri" charset="0"/>
                      </a:endParaRPr>
                    </a:p>
                  </a:txBody>
                  <a:tcPr marL="127000" marR="127000" marT="101600" marB="101600" anchor="ctr">
                    <a:lnL w="6350" cap="flat" cmpd="sng" algn="ctr">
                      <a:solidFill>
                        <a:srgbClr val="2E2E45"/>
                      </a:solidFill>
                      <a:prstDash val="solid"/>
                      <a:round/>
                      <a:headEnd type="none" w="med" len="med"/>
                      <a:tailEnd type="none" w="med" len="med"/>
                    </a:lnL>
                    <a:lnR w="6350" cap="flat" cmpd="sng" algn="ctr">
                      <a:solidFill>
                        <a:srgbClr val="2E2E45"/>
                      </a:solidFill>
                      <a:prstDash val="solid"/>
                      <a:round/>
                      <a:headEnd type="none" w="med" len="med"/>
                      <a:tailEnd type="none" w="med" len="med"/>
                    </a:lnR>
                    <a:lnT w="6350" cap="flat" cmpd="sng" algn="ctr">
                      <a:solidFill>
                        <a:srgbClr val="2E2E45"/>
                      </a:solidFill>
                      <a:prstDash val="solid"/>
                      <a:round/>
                      <a:headEnd type="none" w="med" len="med"/>
                      <a:tailEnd type="none" w="med" len="med"/>
                    </a:lnT>
                    <a:lnB w="6350" cap="flat" cmpd="sng" algn="ctr">
                      <a:solidFill>
                        <a:srgbClr val="2E2E45"/>
                      </a:solidFill>
                      <a:prstDash val="solid"/>
                      <a:round/>
                      <a:headEnd type="none" w="med" len="med"/>
                      <a:tailEnd type="none" w="med" len="med"/>
                    </a:lnB>
                    <a:solidFill>
                      <a:srgbClr val="131320"/>
                    </a:solidFill>
                  </a:tcPr>
                </a:tc>
                <a:tc>
                  <a:txBody>
                    <a:bodyPr/>
                    <a:lstStyle/>
                    <a:p>
                      <a:pPr marL="0" indent="0">
                        <a:buNone/>
                      </a:pPr>
                      <a:r>
                        <a:rPr lang="en-US" sz="1150">
                          <a:solidFill>
                            <a:srgbClr val="C9CCE6"/>
                          </a:solidFill>
                          <a:latin typeface="Calibri" pitchFamily="34" charset="0"/>
                          <a:ea typeface="Calibri" pitchFamily="34" charset="-122"/>
                          <a:cs typeface="Calibri" pitchFamily="34" charset="-120"/>
                        </a:rPr>
                        <a:t>Confidence score on every answer</a:t>
                      </a:r>
                      <a:endParaRPr lang="en-US" sz="1150">
                        <a:latin typeface="Calibri" charset="0"/>
                        <a:ea typeface="Calibri" charset="0"/>
                        <a:cs typeface="Calibri" charset="0"/>
                      </a:endParaRPr>
                    </a:p>
                  </a:txBody>
                  <a:tcPr marL="127000" marR="127000" marT="101600" marB="101600" anchor="ctr">
                    <a:lnL w="6350" cap="flat" cmpd="sng" algn="ctr">
                      <a:solidFill>
                        <a:srgbClr val="2E2E45"/>
                      </a:solidFill>
                      <a:prstDash val="solid"/>
                      <a:round/>
                      <a:headEnd type="none" w="med" len="med"/>
                      <a:tailEnd type="none" w="med" len="med"/>
                    </a:lnL>
                    <a:lnR w="6350" cap="flat" cmpd="sng" algn="ctr">
                      <a:solidFill>
                        <a:srgbClr val="2E2E45"/>
                      </a:solidFill>
                      <a:prstDash val="solid"/>
                      <a:round/>
                      <a:headEnd type="none" w="med" len="med"/>
                      <a:tailEnd type="none" w="med" len="med"/>
                    </a:lnR>
                    <a:lnT w="6350" cap="flat" cmpd="sng" algn="ctr">
                      <a:solidFill>
                        <a:srgbClr val="2E2E45"/>
                      </a:solidFill>
                      <a:prstDash val="solid"/>
                      <a:round/>
                      <a:headEnd type="none" w="med" len="med"/>
                      <a:tailEnd type="none" w="med" len="med"/>
                    </a:lnT>
                    <a:lnB w="6350" cap="flat" cmpd="sng" algn="ctr">
                      <a:solidFill>
                        <a:srgbClr val="2E2E45"/>
                      </a:solidFill>
                      <a:prstDash val="solid"/>
                      <a:round/>
                      <a:headEnd type="none" w="med" len="med"/>
                      <a:tailEnd type="none" w="med" len="med"/>
                    </a:lnB>
                    <a:solidFill>
                      <a:srgbClr val="131320"/>
                    </a:solidFill>
                  </a:tcPr>
                </a:tc>
                <a:extLst>
                  <a:ext uri="{0D108BD9-81ED-4DB2-BD59-A6C34878D82A}">
                    <a16:rowId xmlns:a16="http://schemas.microsoft.com/office/drawing/2014/main" val="10003"/>
                  </a:ext>
                </a:extLst>
              </a:tr>
              <a:tr h="612648">
                <a:tc>
                  <a:txBody>
                    <a:bodyPr/>
                    <a:lstStyle/>
                    <a:p>
                      <a:pPr marL="0" indent="0">
                        <a:buNone/>
                      </a:pPr>
                      <a:r>
                        <a:rPr lang="en-US" sz="1150">
                          <a:solidFill>
                            <a:srgbClr val="C9CCE6"/>
                          </a:solidFill>
                          <a:latin typeface="Calibri" pitchFamily="34" charset="0"/>
                          <a:ea typeface="Calibri" pitchFamily="34" charset="-122"/>
                          <a:cs typeface="Calibri" pitchFamily="34" charset="-120"/>
                        </a:rPr>
                        <a:t>Maps to Medical Record Coding</a:t>
                      </a:r>
                      <a:endParaRPr lang="en-US" sz="1150">
                        <a:latin typeface="Calibri" charset="0"/>
                        <a:ea typeface="Calibri" charset="0"/>
                        <a:cs typeface="Calibri" charset="0"/>
                      </a:endParaRPr>
                    </a:p>
                  </a:txBody>
                  <a:tcPr marL="127000" marR="127000" marT="101600" marB="101600" anchor="ctr">
                    <a:lnL w="6350" cap="flat" cmpd="sng" algn="ctr">
                      <a:solidFill>
                        <a:srgbClr val="2E2E45"/>
                      </a:solidFill>
                      <a:prstDash val="solid"/>
                      <a:round/>
                      <a:headEnd type="none" w="med" len="med"/>
                      <a:tailEnd type="none" w="med" len="med"/>
                    </a:lnL>
                    <a:lnR w="6350" cap="flat" cmpd="sng" algn="ctr">
                      <a:solidFill>
                        <a:srgbClr val="2E2E45"/>
                      </a:solidFill>
                      <a:prstDash val="solid"/>
                      <a:round/>
                      <a:headEnd type="none" w="med" len="med"/>
                      <a:tailEnd type="none" w="med" len="med"/>
                    </a:lnR>
                    <a:lnT w="6350" cap="flat" cmpd="sng" algn="ctr">
                      <a:solidFill>
                        <a:srgbClr val="2E2E45"/>
                      </a:solidFill>
                      <a:prstDash val="solid"/>
                      <a:round/>
                      <a:headEnd type="none" w="med" len="med"/>
                      <a:tailEnd type="none" w="med" len="med"/>
                    </a:lnT>
                    <a:lnB w="6350" cap="flat" cmpd="sng" algn="ctr">
                      <a:solidFill>
                        <a:srgbClr val="2E2E45"/>
                      </a:solidFill>
                      <a:prstDash val="solid"/>
                      <a:round/>
                      <a:headEnd type="none" w="med" len="med"/>
                      <a:tailEnd type="none" w="med" len="med"/>
                    </a:lnB>
                    <a:solidFill>
                      <a:srgbClr val="191927"/>
                    </a:solidFill>
                  </a:tcPr>
                </a:tc>
                <a:tc>
                  <a:txBody>
                    <a:bodyPr/>
                    <a:lstStyle/>
                    <a:p>
                      <a:pPr marL="0" indent="0">
                        <a:buNone/>
                      </a:pPr>
                      <a:r>
                        <a:rPr lang="en-US" sz="1150">
                          <a:solidFill>
                            <a:srgbClr val="C9CCE6"/>
                          </a:solidFill>
                          <a:latin typeface="Calibri" pitchFamily="34" charset="0"/>
                          <a:ea typeface="Calibri" pitchFamily="34" charset="-122"/>
                          <a:cs typeface="Calibri" pitchFamily="34" charset="-120"/>
                        </a:rPr>
                        <a:t>Human-in-the-loop next-action suggestions on every response</a:t>
                      </a:r>
                      <a:endParaRPr lang="en-US" sz="1150">
                        <a:latin typeface="Calibri" charset="0"/>
                        <a:ea typeface="Calibri" charset="0"/>
                        <a:cs typeface="Calibri" charset="0"/>
                      </a:endParaRPr>
                    </a:p>
                  </a:txBody>
                  <a:tcPr marL="127000" marR="127000" marT="101600" marB="101600" anchor="ctr">
                    <a:lnL w="6350" cap="flat" cmpd="sng" algn="ctr">
                      <a:solidFill>
                        <a:srgbClr val="2E2E45"/>
                      </a:solidFill>
                      <a:prstDash val="solid"/>
                      <a:round/>
                      <a:headEnd type="none" w="med" len="med"/>
                      <a:tailEnd type="none" w="med" len="med"/>
                    </a:lnL>
                    <a:lnR w="6350" cap="flat" cmpd="sng" algn="ctr">
                      <a:solidFill>
                        <a:srgbClr val="2E2E45"/>
                      </a:solidFill>
                      <a:prstDash val="solid"/>
                      <a:round/>
                      <a:headEnd type="none" w="med" len="med"/>
                      <a:tailEnd type="none" w="med" len="med"/>
                    </a:lnR>
                    <a:lnT w="6350" cap="flat" cmpd="sng" algn="ctr">
                      <a:solidFill>
                        <a:srgbClr val="2E2E45"/>
                      </a:solidFill>
                      <a:prstDash val="solid"/>
                      <a:round/>
                      <a:headEnd type="none" w="med" len="med"/>
                      <a:tailEnd type="none" w="med" len="med"/>
                    </a:lnT>
                    <a:lnB w="6350" cap="flat" cmpd="sng" algn="ctr">
                      <a:solidFill>
                        <a:srgbClr val="2E2E45"/>
                      </a:solidFill>
                      <a:prstDash val="solid"/>
                      <a:round/>
                      <a:headEnd type="none" w="med" len="med"/>
                      <a:tailEnd type="none" w="med" len="med"/>
                    </a:lnB>
                    <a:solidFill>
                      <a:srgbClr val="191927"/>
                    </a:solidFill>
                  </a:tcPr>
                </a:tc>
                <a:extLst>
                  <a:ext uri="{0D108BD9-81ED-4DB2-BD59-A6C34878D82A}">
                    <a16:rowId xmlns:a16="http://schemas.microsoft.com/office/drawing/2014/main" val="10004"/>
                  </a:ext>
                </a:extLst>
              </a:tr>
            </a:tbl>
          </a:graphicData>
        </a:graphic>
      </p:graphicFrame>
      <p:sp>
        <p:nvSpPr>
          <p:cNvPr id="7" name="Text 2"/>
          <p:cNvSpPr/>
          <p:nvPr/>
        </p:nvSpPr>
        <p:spPr>
          <a:xfrm>
            <a:off x="8549640" y="4828032"/>
            <a:ext cx="274320" cy="228600"/>
          </a:xfrm>
          <a:prstGeom prst="rect">
            <a:avLst/>
          </a:prstGeom>
          <a:noFill/>
          <a:ln/>
        </p:spPr>
        <p:txBody>
          <a:bodyPr wrap="square" lIns="0" tIns="0" rIns="0" bIns="0" rtlCol="0" anchor="ctr"/>
          <a:lstStyle/>
          <a:p>
            <a:pPr marL="0" indent="0" algn="r">
              <a:buNone/>
            </a:pPr>
            <a:r>
              <a:rPr lang="en-US" sz="900">
                <a:solidFill>
                  <a:srgbClr val="C9CCE6"/>
                </a:solidFill>
                <a:latin typeface="Calibri" pitchFamily="34" charset="0"/>
                <a:ea typeface="Calibri" pitchFamily="34" charset="-122"/>
                <a:cs typeface="Calibri" pitchFamily="34" charset="-120"/>
              </a:rPr>
              <a:t>13</a:t>
            </a:r>
            <a:endParaRPr lang="en-US" sz="9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a:effectLst/>
      </p:bgPr>
    </p:bg>
    <p:spTree>
      <p:nvGrpSpPr>
        <p:cNvPr id="1" name=""/>
        <p:cNvGrpSpPr/>
        <p:nvPr/>
      </p:nvGrpSpPr>
      <p:grpSpPr>
        <a:xfrm>
          <a:off x="0" y="0"/>
          <a:ext cx="0" cy="0"/>
          <a:chOff x="0" y="0"/>
          <a:chExt cx="0" cy="0"/>
        </a:xfrm>
      </p:grpSpPr>
      <p:pic>
        <p:nvPicPr>
          <p:cNvPr id="2" name="Image 0" descr="glow/glow_purple.jpg"/>
          <p:cNvPicPr>
            <a:picLocks noChangeAspect="1"/>
          </p:cNvPicPr>
          <p:nvPr/>
        </p:nvPicPr>
        <p:blipFill>
          <a:blip r:embed="rId3"/>
          <a:stretch>
            <a:fillRect/>
          </a:stretch>
        </p:blipFill>
        <p:spPr>
          <a:xfrm>
            <a:off x="2926080" y="-2194560"/>
            <a:ext cx="8046720" cy="6583680"/>
          </a:xfrm>
          <a:prstGeom prst="rect">
            <a:avLst/>
          </a:prstGeom>
        </p:spPr>
      </p:pic>
      <p:sp>
        <p:nvSpPr>
          <p:cNvPr id="3" name="Text 0"/>
          <p:cNvSpPr/>
          <p:nvPr/>
        </p:nvSpPr>
        <p:spPr>
          <a:xfrm>
            <a:off x="457200" y="777240"/>
            <a:ext cx="8229600" cy="914400"/>
          </a:xfrm>
          <a:prstGeom prst="rect">
            <a:avLst/>
          </a:prstGeom>
          <a:noFill/>
          <a:ln/>
        </p:spPr>
        <p:txBody>
          <a:bodyPr wrap="square" lIns="0" tIns="0" rIns="0" bIns="0" rtlCol="0" anchor="ctr"/>
          <a:lstStyle/>
          <a:p>
            <a:pPr marL="0" indent="0" algn="ctr">
              <a:buNone/>
            </a:pPr>
            <a:r>
              <a:rPr lang="en-US" sz="4600" b="1" kern="0" spc="300">
                <a:solidFill>
                  <a:srgbClr val="FFFFFF"/>
                </a:solidFill>
                <a:latin typeface="Calibri" pitchFamily="34" charset="0"/>
                <a:ea typeface="Calibri" pitchFamily="34" charset="-122"/>
                <a:cs typeface="Calibri" pitchFamily="34" charset="-120"/>
              </a:rPr>
              <a:t>DEMO</a:t>
            </a:r>
            <a:endParaRPr lang="en-US" sz="4600"/>
          </a:p>
        </p:txBody>
      </p:sp>
      <p:sp>
        <p:nvSpPr>
          <p:cNvPr id="7" name="Text 3"/>
          <p:cNvSpPr/>
          <p:nvPr/>
        </p:nvSpPr>
        <p:spPr>
          <a:xfrm>
            <a:off x="1828800" y="2070464"/>
            <a:ext cx="5486400" cy="1371600"/>
          </a:xfrm>
          <a:prstGeom prst="rect">
            <a:avLst/>
          </a:prstGeom>
          <a:noFill/>
          <a:ln/>
        </p:spPr>
        <p:txBody>
          <a:bodyPr wrap="square" lIns="0" tIns="0" rIns="0" bIns="0" rtlCol="0" anchor="ctr"/>
          <a:lstStyle/>
          <a:p>
            <a:pPr marL="342900" indent="-342900" algn="l">
              <a:lnSpc>
                <a:spcPct val="125000"/>
              </a:lnSpc>
              <a:spcAft>
                <a:spcPts val="800"/>
              </a:spcAft>
              <a:buSzPct val="100000"/>
              <a:buChar char="•"/>
            </a:pPr>
            <a:r>
              <a:rPr lang="en-US" sz="1250">
                <a:solidFill>
                  <a:srgbClr val="C9CCE6"/>
                </a:solidFill>
                <a:latin typeface="Calibri" pitchFamily="34" charset="0"/>
                <a:ea typeface="Calibri" pitchFamily="34" charset="-122"/>
                <a:cs typeface="Calibri" pitchFamily="34" charset="-120"/>
              </a:rPr>
              <a:t>Loading the 5 synthetic patient charts</a:t>
            </a:r>
            <a:endParaRPr lang="en-US" sz="1250"/>
          </a:p>
          <a:p>
            <a:pPr marL="342900" indent="-342900" algn="l">
              <a:lnSpc>
                <a:spcPct val="125000"/>
              </a:lnSpc>
              <a:spcAft>
                <a:spcPts val="800"/>
              </a:spcAft>
              <a:buSzPct val="100000"/>
              <a:buChar char="•"/>
            </a:pPr>
            <a:r>
              <a:rPr lang="en-US" sz="1250">
                <a:solidFill>
                  <a:srgbClr val="C9CCE6"/>
                </a:solidFill>
                <a:latin typeface="Calibri" pitchFamily="34" charset="0"/>
                <a:ea typeface="Calibri" pitchFamily="34" charset="-122"/>
                <a:cs typeface="Calibri" pitchFamily="34" charset="-120"/>
              </a:rPr>
              <a:t>Asking a live coding question and walking the retrieve-generate-confidence-next actions flow</a:t>
            </a:r>
            <a:endParaRPr lang="en-US" sz="1250"/>
          </a:p>
          <a:p>
            <a:pPr marL="342900" indent="-342900" algn="l">
              <a:lnSpc>
                <a:spcPct val="125000"/>
              </a:lnSpc>
              <a:spcAft>
                <a:spcPts val="800"/>
              </a:spcAft>
              <a:buSzPct val="100000"/>
              <a:buChar char="•"/>
            </a:pPr>
            <a:r>
              <a:rPr lang="en-US" sz="1250">
                <a:solidFill>
                  <a:srgbClr val="C9CCE6"/>
                </a:solidFill>
                <a:latin typeface="Calibri" pitchFamily="34" charset="0"/>
                <a:ea typeface="Calibri" pitchFamily="34" charset="-122"/>
                <a:cs typeface="Calibri" pitchFamily="34" charset="-120"/>
              </a:rPr>
              <a:t>Expanding the source chunks to show exactly what grounded the answer</a:t>
            </a:r>
            <a:endParaRPr lang="en-US" sz="1250"/>
          </a:p>
        </p:txBody>
      </p:sp>
      <p:sp>
        <p:nvSpPr>
          <p:cNvPr id="9" name="Text 4"/>
          <p:cNvSpPr/>
          <p:nvPr/>
        </p:nvSpPr>
        <p:spPr>
          <a:xfrm>
            <a:off x="8549640" y="4828032"/>
            <a:ext cx="274320" cy="228600"/>
          </a:xfrm>
          <a:prstGeom prst="rect">
            <a:avLst/>
          </a:prstGeom>
          <a:noFill/>
          <a:ln/>
        </p:spPr>
        <p:txBody>
          <a:bodyPr wrap="square" lIns="0" tIns="0" rIns="0" bIns="0" rtlCol="0" anchor="ctr"/>
          <a:lstStyle/>
          <a:p>
            <a:pPr marL="0" indent="0" algn="r">
              <a:buNone/>
            </a:pPr>
            <a:r>
              <a:rPr lang="en-US" sz="900">
                <a:solidFill>
                  <a:srgbClr val="C9CCE6"/>
                </a:solidFill>
                <a:latin typeface="Calibri" pitchFamily="34" charset="0"/>
                <a:ea typeface="Calibri" pitchFamily="34" charset="-122"/>
                <a:cs typeface="Calibri" pitchFamily="34" charset="-120"/>
              </a:rPr>
              <a:t>15</a:t>
            </a:r>
            <a:endParaRPr lang="en-US" sz="9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a:effectLst/>
      </p:bgPr>
    </p:bg>
    <p:spTree>
      <p:nvGrpSpPr>
        <p:cNvPr id="1" name=""/>
        <p:cNvGrpSpPr/>
        <p:nvPr/>
      </p:nvGrpSpPr>
      <p:grpSpPr>
        <a:xfrm>
          <a:off x="0" y="0"/>
          <a:ext cx="0" cy="0"/>
          <a:chOff x="0" y="0"/>
          <a:chExt cx="0" cy="0"/>
        </a:xfrm>
      </p:grpSpPr>
      <p:pic>
        <p:nvPicPr>
          <p:cNvPr id="2" name="Image 0" descr="glow/glow_purple.jpg"/>
          <p:cNvPicPr>
            <a:picLocks noChangeAspect="1"/>
          </p:cNvPicPr>
          <p:nvPr/>
        </p:nvPicPr>
        <p:blipFill>
          <a:blip r:embed="rId3"/>
          <a:stretch>
            <a:fillRect/>
          </a:stretch>
        </p:blipFill>
        <p:spPr>
          <a:xfrm>
            <a:off x="-1737360" y="1737360"/>
            <a:ext cx="4114800" cy="3383280"/>
          </a:xfrm>
          <a:prstGeom prst="rect">
            <a:avLst/>
          </a:prstGeom>
        </p:spPr>
      </p:pic>
      <p:sp>
        <p:nvSpPr>
          <p:cNvPr id="3" name="Text 0"/>
          <p:cNvSpPr/>
          <p:nvPr/>
        </p:nvSpPr>
        <p:spPr>
          <a:xfrm>
            <a:off x="457200" y="292608"/>
            <a:ext cx="6400800" cy="256032"/>
          </a:xfrm>
          <a:prstGeom prst="rect">
            <a:avLst/>
          </a:prstGeom>
          <a:noFill/>
          <a:ln/>
        </p:spPr>
        <p:txBody>
          <a:bodyPr wrap="square" lIns="0" tIns="0" rIns="0" bIns="0" rtlCol="0" anchor="ctr"/>
          <a:lstStyle/>
          <a:p>
            <a:pPr marL="0" indent="0">
              <a:buNone/>
            </a:pPr>
            <a:r>
              <a:rPr lang="en-US" sz="1100" b="1" kern="0" spc="200">
                <a:solidFill>
                  <a:srgbClr val="2D8FCF"/>
                </a:solidFill>
                <a:latin typeface="Calibri" pitchFamily="34" charset="0"/>
                <a:ea typeface="Calibri" pitchFamily="34" charset="-122"/>
                <a:cs typeface="Calibri" pitchFamily="34" charset="-120"/>
              </a:rPr>
              <a:t>RESULTS &amp; NEXT STEPS</a:t>
            </a:r>
            <a:endParaRPr lang="en-US" sz="1100"/>
          </a:p>
        </p:txBody>
      </p:sp>
      <p:sp>
        <p:nvSpPr>
          <p:cNvPr id="4" name="Text 1"/>
          <p:cNvSpPr/>
          <p:nvPr/>
        </p:nvSpPr>
        <p:spPr>
          <a:xfrm>
            <a:off x="457200" y="530352"/>
            <a:ext cx="8229600" cy="777240"/>
          </a:xfrm>
          <a:prstGeom prst="rect">
            <a:avLst/>
          </a:prstGeom>
          <a:noFill/>
          <a:ln/>
        </p:spPr>
        <p:txBody>
          <a:bodyPr wrap="square" lIns="0" tIns="0" rIns="0" bIns="0" rtlCol="0" anchor="t"/>
          <a:lstStyle/>
          <a:p>
            <a:pPr marL="0" indent="0">
              <a:lnSpc>
                <a:spcPct val="102000"/>
              </a:lnSpc>
              <a:buNone/>
            </a:pPr>
            <a:r>
              <a:rPr lang="en-US" sz="2400" b="1">
                <a:solidFill>
                  <a:srgbClr val="FFFFFF"/>
                </a:solidFill>
                <a:latin typeface="Calibri" pitchFamily="34" charset="0"/>
                <a:ea typeface="Calibri" pitchFamily="34" charset="-122"/>
                <a:cs typeface="Calibri" pitchFamily="34" charset="-120"/>
              </a:rPr>
              <a:t>Connecting Back to Cotiviti's Product Suite</a:t>
            </a:r>
            <a:endParaRPr lang="en-US" sz="2400"/>
          </a:p>
        </p:txBody>
      </p:sp>
      <p:sp>
        <p:nvSpPr>
          <p:cNvPr id="5" name="Shape 2"/>
          <p:cNvSpPr/>
          <p:nvPr/>
        </p:nvSpPr>
        <p:spPr>
          <a:xfrm>
            <a:off x="457200" y="1554480"/>
            <a:ext cx="2609088" cy="1874520"/>
          </a:xfrm>
          <a:prstGeom prst="roundRect">
            <a:avLst>
              <a:gd name="adj" fmla="val 2927"/>
            </a:avLst>
          </a:prstGeom>
          <a:solidFill>
            <a:srgbClr val="131320"/>
          </a:solidFill>
          <a:ln w="12700">
            <a:solidFill>
              <a:srgbClr val="2E2E45"/>
            </a:solidFill>
            <a:prstDash val="solid"/>
          </a:ln>
        </p:spPr>
        <p:txBody>
          <a:bodyPr/>
          <a:lstStyle/>
          <a:p>
            <a:endParaRPr lang="en-US"/>
          </a:p>
        </p:txBody>
      </p:sp>
      <p:sp>
        <p:nvSpPr>
          <p:cNvPr id="6" name="Shape 3"/>
          <p:cNvSpPr/>
          <p:nvPr/>
        </p:nvSpPr>
        <p:spPr>
          <a:xfrm>
            <a:off x="658368" y="1737360"/>
            <a:ext cx="402336" cy="402336"/>
          </a:xfrm>
          <a:prstGeom prst="ellipse">
            <a:avLst/>
          </a:prstGeom>
          <a:solidFill>
            <a:srgbClr val="2D8FCF"/>
          </a:solidFill>
          <a:ln/>
        </p:spPr>
        <p:txBody>
          <a:bodyPr/>
          <a:lstStyle/>
          <a:p>
            <a:endParaRPr lang="en-US"/>
          </a:p>
        </p:txBody>
      </p:sp>
      <p:pic>
        <p:nvPicPr>
          <p:cNvPr id="7" name="Image 1" descr="icons/clipboardcheck.png"/>
          <p:cNvPicPr>
            <a:picLocks noChangeAspect="1"/>
          </p:cNvPicPr>
          <p:nvPr/>
        </p:nvPicPr>
        <p:blipFill>
          <a:blip r:embed="rId4"/>
          <a:stretch>
            <a:fillRect/>
          </a:stretch>
        </p:blipFill>
        <p:spPr>
          <a:xfrm>
            <a:off x="754929" y="1833921"/>
            <a:ext cx="209215" cy="209215"/>
          </a:xfrm>
          <a:prstGeom prst="rect">
            <a:avLst/>
          </a:prstGeom>
        </p:spPr>
      </p:pic>
      <p:sp>
        <p:nvSpPr>
          <p:cNvPr id="8" name="Text 4"/>
          <p:cNvSpPr/>
          <p:nvPr/>
        </p:nvSpPr>
        <p:spPr>
          <a:xfrm>
            <a:off x="658368" y="2231136"/>
            <a:ext cx="2206752" cy="274320"/>
          </a:xfrm>
          <a:prstGeom prst="rect">
            <a:avLst/>
          </a:prstGeom>
          <a:noFill/>
          <a:ln/>
        </p:spPr>
        <p:txBody>
          <a:bodyPr wrap="square" lIns="0" tIns="0" rIns="0" bIns="0" rtlCol="0" anchor="t"/>
          <a:lstStyle/>
          <a:p>
            <a:pPr marL="0" indent="0">
              <a:buNone/>
            </a:pPr>
            <a:r>
              <a:rPr lang="en-US" sz="1250" b="1">
                <a:solidFill>
                  <a:srgbClr val="FFFFFF"/>
                </a:solidFill>
                <a:latin typeface="Calibri" pitchFamily="34" charset="0"/>
                <a:ea typeface="Calibri" pitchFamily="34" charset="-122"/>
                <a:cs typeface="Calibri" pitchFamily="34" charset="-120"/>
              </a:rPr>
              <a:t>Pre-Visit Prep</a:t>
            </a:r>
            <a:endParaRPr lang="en-US" sz="1250"/>
          </a:p>
        </p:txBody>
      </p:sp>
      <p:sp>
        <p:nvSpPr>
          <p:cNvPr id="9" name="Text 5"/>
          <p:cNvSpPr/>
          <p:nvPr/>
        </p:nvSpPr>
        <p:spPr>
          <a:xfrm>
            <a:off x="658368" y="2523744"/>
            <a:ext cx="2206752" cy="832104"/>
          </a:xfrm>
          <a:prstGeom prst="rect">
            <a:avLst/>
          </a:prstGeom>
          <a:noFill/>
          <a:ln/>
        </p:spPr>
        <p:txBody>
          <a:bodyPr wrap="square" lIns="0" tIns="0" rIns="0" bIns="0" rtlCol="0" anchor="t"/>
          <a:lstStyle/>
          <a:p>
            <a:pPr marL="0" indent="0">
              <a:lnSpc>
                <a:spcPct val="108000"/>
              </a:lnSpc>
              <a:buNone/>
            </a:pPr>
            <a:r>
              <a:rPr lang="en-US" sz="1000">
                <a:solidFill>
                  <a:srgbClr val="C9CCE6"/>
                </a:solidFill>
                <a:latin typeface="Calibri" pitchFamily="34" charset="0"/>
                <a:ea typeface="Calibri" pitchFamily="34" charset="-122"/>
                <a:cs typeface="Calibri" pitchFamily="34" charset="-120"/>
              </a:rPr>
              <a:t>Same underlying idea: surface evidence before a human decision point.</a:t>
            </a:r>
            <a:endParaRPr lang="en-US" sz="1000"/>
          </a:p>
        </p:txBody>
      </p:sp>
      <p:sp>
        <p:nvSpPr>
          <p:cNvPr id="10" name="Shape 6"/>
          <p:cNvSpPr/>
          <p:nvPr/>
        </p:nvSpPr>
        <p:spPr>
          <a:xfrm>
            <a:off x="3267456" y="1554480"/>
            <a:ext cx="2609088" cy="1874520"/>
          </a:xfrm>
          <a:prstGeom prst="roundRect">
            <a:avLst>
              <a:gd name="adj" fmla="val 2927"/>
            </a:avLst>
          </a:prstGeom>
          <a:solidFill>
            <a:srgbClr val="2D8FCF"/>
          </a:solidFill>
          <a:ln w="12700">
            <a:solidFill>
              <a:srgbClr val="2D8FCF"/>
            </a:solidFill>
            <a:prstDash val="solid"/>
          </a:ln>
        </p:spPr>
        <p:txBody>
          <a:bodyPr/>
          <a:lstStyle/>
          <a:p>
            <a:endParaRPr lang="en-US"/>
          </a:p>
        </p:txBody>
      </p:sp>
      <p:sp>
        <p:nvSpPr>
          <p:cNvPr id="11" name="Shape 7"/>
          <p:cNvSpPr/>
          <p:nvPr/>
        </p:nvSpPr>
        <p:spPr>
          <a:xfrm>
            <a:off x="3468624" y="1737360"/>
            <a:ext cx="402336" cy="402336"/>
          </a:xfrm>
          <a:prstGeom prst="ellipse">
            <a:avLst/>
          </a:prstGeom>
          <a:solidFill>
            <a:srgbClr val="FFFFFF"/>
          </a:solidFill>
          <a:ln/>
        </p:spPr>
        <p:txBody>
          <a:bodyPr/>
          <a:lstStyle/>
          <a:p>
            <a:endParaRPr lang="en-US"/>
          </a:p>
        </p:txBody>
      </p:sp>
      <p:pic>
        <p:nvPicPr>
          <p:cNvPr id="12" name="Image 2" descr="icons/filemedical.png"/>
          <p:cNvPicPr>
            <a:picLocks noChangeAspect="1"/>
          </p:cNvPicPr>
          <p:nvPr/>
        </p:nvPicPr>
        <p:blipFill>
          <a:blip r:embed="rId5"/>
          <a:stretch>
            <a:fillRect/>
          </a:stretch>
        </p:blipFill>
        <p:spPr>
          <a:xfrm>
            <a:off x="3565185" y="1833921"/>
            <a:ext cx="209215" cy="209215"/>
          </a:xfrm>
          <a:prstGeom prst="rect">
            <a:avLst/>
          </a:prstGeom>
        </p:spPr>
      </p:pic>
      <p:sp>
        <p:nvSpPr>
          <p:cNvPr id="13" name="Text 8"/>
          <p:cNvSpPr/>
          <p:nvPr/>
        </p:nvSpPr>
        <p:spPr>
          <a:xfrm>
            <a:off x="3468624" y="2231136"/>
            <a:ext cx="2206752" cy="274320"/>
          </a:xfrm>
          <a:prstGeom prst="rect">
            <a:avLst/>
          </a:prstGeom>
          <a:noFill/>
          <a:ln/>
        </p:spPr>
        <p:txBody>
          <a:bodyPr wrap="square" lIns="0" tIns="0" rIns="0" bIns="0" rtlCol="0" anchor="t"/>
          <a:lstStyle/>
          <a:p>
            <a:pPr marL="0" indent="0">
              <a:buNone/>
            </a:pPr>
            <a:r>
              <a:rPr lang="en-US" sz="1250" b="1">
                <a:solidFill>
                  <a:srgbClr val="FFFFFF"/>
                </a:solidFill>
                <a:latin typeface="Calibri" pitchFamily="34" charset="0"/>
                <a:ea typeface="Calibri" pitchFamily="34" charset="-122"/>
                <a:cs typeface="Calibri" pitchFamily="34" charset="-120"/>
              </a:rPr>
              <a:t>Medical Record Coding</a:t>
            </a:r>
            <a:endParaRPr lang="en-US" sz="1250"/>
          </a:p>
        </p:txBody>
      </p:sp>
      <p:sp>
        <p:nvSpPr>
          <p:cNvPr id="14" name="Text 9"/>
          <p:cNvSpPr/>
          <p:nvPr/>
        </p:nvSpPr>
        <p:spPr>
          <a:xfrm>
            <a:off x="3468624" y="2523744"/>
            <a:ext cx="2206752" cy="832104"/>
          </a:xfrm>
          <a:prstGeom prst="rect">
            <a:avLst/>
          </a:prstGeom>
          <a:noFill/>
          <a:ln/>
        </p:spPr>
        <p:txBody>
          <a:bodyPr wrap="square" lIns="0" tIns="0" rIns="0" bIns="0" rtlCol="0" anchor="t"/>
          <a:lstStyle/>
          <a:p>
            <a:pPr marL="0" indent="0">
              <a:lnSpc>
                <a:spcPct val="108000"/>
              </a:lnSpc>
              <a:buNone/>
            </a:pPr>
            <a:r>
              <a:rPr lang="en-US" sz="1000">
                <a:solidFill>
                  <a:srgbClr val="EAF1FA"/>
                </a:solidFill>
                <a:latin typeface="Calibri" pitchFamily="34" charset="0"/>
                <a:ea typeface="Calibri" pitchFamily="34" charset="-122"/>
                <a:cs typeface="Calibri" pitchFamily="34" charset="-120"/>
              </a:rPr>
              <a:t>Direct fit: real-time guidance during chart review.</a:t>
            </a:r>
            <a:endParaRPr lang="en-US" sz="1000"/>
          </a:p>
        </p:txBody>
      </p:sp>
      <p:sp>
        <p:nvSpPr>
          <p:cNvPr id="15" name="Shape 10"/>
          <p:cNvSpPr/>
          <p:nvPr/>
        </p:nvSpPr>
        <p:spPr>
          <a:xfrm>
            <a:off x="6077712" y="1554480"/>
            <a:ext cx="2609088" cy="1874520"/>
          </a:xfrm>
          <a:prstGeom prst="roundRect">
            <a:avLst>
              <a:gd name="adj" fmla="val 2927"/>
            </a:avLst>
          </a:prstGeom>
          <a:solidFill>
            <a:srgbClr val="131320"/>
          </a:solidFill>
          <a:ln w="12700">
            <a:solidFill>
              <a:srgbClr val="2E2E45"/>
            </a:solidFill>
            <a:prstDash val="solid"/>
          </a:ln>
        </p:spPr>
        <p:txBody>
          <a:bodyPr/>
          <a:lstStyle/>
          <a:p>
            <a:endParaRPr lang="en-US"/>
          </a:p>
        </p:txBody>
      </p:sp>
      <p:sp>
        <p:nvSpPr>
          <p:cNvPr id="16" name="Shape 11"/>
          <p:cNvSpPr/>
          <p:nvPr/>
        </p:nvSpPr>
        <p:spPr>
          <a:xfrm>
            <a:off x="6278880" y="1737360"/>
            <a:ext cx="402336" cy="402336"/>
          </a:xfrm>
          <a:prstGeom prst="ellipse">
            <a:avLst/>
          </a:prstGeom>
          <a:solidFill>
            <a:srgbClr val="2D8FCF"/>
          </a:solidFill>
          <a:ln/>
        </p:spPr>
        <p:txBody>
          <a:bodyPr/>
          <a:lstStyle/>
          <a:p>
            <a:endParaRPr lang="en-US"/>
          </a:p>
        </p:txBody>
      </p:sp>
      <p:pic>
        <p:nvPicPr>
          <p:cNvPr id="17" name="Image 3" descr="icons/robot.png"/>
          <p:cNvPicPr>
            <a:picLocks noChangeAspect="1"/>
          </p:cNvPicPr>
          <p:nvPr/>
        </p:nvPicPr>
        <p:blipFill>
          <a:blip r:embed="rId6"/>
          <a:stretch>
            <a:fillRect/>
          </a:stretch>
        </p:blipFill>
        <p:spPr>
          <a:xfrm>
            <a:off x="6375441" y="1833921"/>
            <a:ext cx="209215" cy="209215"/>
          </a:xfrm>
          <a:prstGeom prst="rect">
            <a:avLst/>
          </a:prstGeom>
        </p:spPr>
      </p:pic>
      <p:sp>
        <p:nvSpPr>
          <p:cNvPr id="18" name="Text 12"/>
          <p:cNvSpPr/>
          <p:nvPr/>
        </p:nvSpPr>
        <p:spPr>
          <a:xfrm>
            <a:off x="6278880" y="2231136"/>
            <a:ext cx="2206752" cy="274320"/>
          </a:xfrm>
          <a:prstGeom prst="rect">
            <a:avLst/>
          </a:prstGeom>
          <a:noFill/>
          <a:ln/>
        </p:spPr>
        <p:txBody>
          <a:bodyPr wrap="square" lIns="0" tIns="0" rIns="0" bIns="0" rtlCol="0" anchor="t"/>
          <a:lstStyle/>
          <a:p>
            <a:pPr marL="0" indent="0">
              <a:buNone/>
            </a:pPr>
            <a:r>
              <a:rPr lang="en-US" sz="1250" b="1">
                <a:solidFill>
                  <a:srgbClr val="FFFFFF"/>
                </a:solidFill>
                <a:latin typeface="Calibri" pitchFamily="34" charset="0"/>
                <a:ea typeface="Calibri" pitchFamily="34" charset="-122"/>
                <a:cs typeface="Calibri" pitchFamily="34" charset="-120"/>
              </a:rPr>
              <a:t>Agentic Workflows</a:t>
            </a:r>
            <a:endParaRPr lang="en-US" sz="1250"/>
          </a:p>
        </p:txBody>
      </p:sp>
      <p:sp>
        <p:nvSpPr>
          <p:cNvPr id="19" name="Text 13"/>
          <p:cNvSpPr/>
          <p:nvPr/>
        </p:nvSpPr>
        <p:spPr>
          <a:xfrm>
            <a:off x="6278880" y="2523744"/>
            <a:ext cx="2206752" cy="832104"/>
          </a:xfrm>
          <a:prstGeom prst="rect">
            <a:avLst/>
          </a:prstGeom>
          <a:noFill/>
          <a:ln/>
        </p:spPr>
        <p:txBody>
          <a:bodyPr wrap="square" lIns="0" tIns="0" rIns="0" bIns="0" rtlCol="0" anchor="t"/>
          <a:lstStyle/>
          <a:p>
            <a:pPr marL="0" indent="0">
              <a:lnSpc>
                <a:spcPct val="108000"/>
              </a:lnSpc>
              <a:buNone/>
            </a:pPr>
            <a:r>
              <a:rPr lang="en-US" sz="1000">
                <a:solidFill>
                  <a:srgbClr val="C9CCE6"/>
                </a:solidFill>
                <a:latin typeface="Calibri" pitchFamily="34" charset="0"/>
                <a:ea typeface="Calibri" pitchFamily="34" charset="-122"/>
                <a:cs typeface="Calibri" pitchFamily="34" charset="-120"/>
              </a:rPr>
              <a:t>Fits Cotiviti's broader shift toward self-directed, agentic systems.</a:t>
            </a:r>
            <a:endParaRPr lang="en-US" sz="1000"/>
          </a:p>
        </p:txBody>
      </p:sp>
      <p:sp>
        <p:nvSpPr>
          <p:cNvPr id="21" name="Text 14"/>
          <p:cNvSpPr/>
          <p:nvPr/>
        </p:nvSpPr>
        <p:spPr>
          <a:xfrm>
            <a:off x="8549640" y="4828032"/>
            <a:ext cx="274320" cy="228600"/>
          </a:xfrm>
          <a:prstGeom prst="rect">
            <a:avLst/>
          </a:prstGeom>
          <a:noFill/>
          <a:ln/>
        </p:spPr>
        <p:txBody>
          <a:bodyPr wrap="square" lIns="0" tIns="0" rIns="0" bIns="0" rtlCol="0" anchor="ctr"/>
          <a:lstStyle/>
          <a:p>
            <a:pPr marL="0" indent="0" algn="r">
              <a:buNone/>
            </a:pPr>
            <a:r>
              <a:rPr lang="en-US" sz="900">
                <a:solidFill>
                  <a:srgbClr val="C9CCE6"/>
                </a:solidFill>
                <a:latin typeface="Calibri" pitchFamily="34" charset="0"/>
                <a:ea typeface="Calibri" pitchFamily="34" charset="-122"/>
                <a:cs typeface="Calibri" pitchFamily="34" charset="-120"/>
              </a:rPr>
              <a:t>17</a:t>
            </a:r>
            <a:endParaRPr lang="en-US" sz="9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a:effectLst/>
      </p:bgPr>
    </p:bg>
    <p:spTree>
      <p:nvGrpSpPr>
        <p:cNvPr id="1" name=""/>
        <p:cNvGrpSpPr/>
        <p:nvPr/>
      </p:nvGrpSpPr>
      <p:grpSpPr>
        <a:xfrm>
          <a:off x="0" y="0"/>
          <a:ext cx="0" cy="0"/>
          <a:chOff x="0" y="0"/>
          <a:chExt cx="0" cy="0"/>
        </a:xfrm>
      </p:grpSpPr>
      <p:pic>
        <p:nvPicPr>
          <p:cNvPr id="2" name="Image 0" descr="glow/glow_blue.jpg"/>
          <p:cNvPicPr>
            <a:picLocks noChangeAspect="1"/>
          </p:cNvPicPr>
          <p:nvPr/>
        </p:nvPicPr>
        <p:blipFill>
          <a:blip r:embed="rId3"/>
          <a:stretch>
            <a:fillRect/>
          </a:stretch>
        </p:blipFill>
        <p:spPr>
          <a:xfrm>
            <a:off x="6766560" y="1920240"/>
            <a:ext cx="3657600" cy="3108960"/>
          </a:xfrm>
          <a:prstGeom prst="rect">
            <a:avLst/>
          </a:prstGeom>
        </p:spPr>
      </p:pic>
      <p:sp>
        <p:nvSpPr>
          <p:cNvPr id="3" name="Text 0"/>
          <p:cNvSpPr/>
          <p:nvPr/>
        </p:nvSpPr>
        <p:spPr>
          <a:xfrm>
            <a:off x="457200" y="292608"/>
            <a:ext cx="6400800" cy="256032"/>
          </a:xfrm>
          <a:prstGeom prst="rect">
            <a:avLst/>
          </a:prstGeom>
          <a:noFill/>
          <a:ln/>
        </p:spPr>
        <p:txBody>
          <a:bodyPr wrap="square" lIns="0" tIns="0" rIns="0" bIns="0" rtlCol="0" anchor="ctr"/>
          <a:lstStyle/>
          <a:p>
            <a:pPr marL="0" indent="0">
              <a:buNone/>
            </a:pPr>
            <a:r>
              <a:rPr lang="en-US" sz="1100" b="1" kern="0" spc="200">
                <a:solidFill>
                  <a:srgbClr val="2D8FCF"/>
                </a:solidFill>
                <a:latin typeface="Calibri" pitchFamily="34" charset="0"/>
                <a:ea typeface="Calibri" pitchFamily="34" charset="-122"/>
                <a:cs typeface="Calibri" pitchFamily="34" charset="-120"/>
              </a:rPr>
              <a:t>RESULTS &amp; NEXT STEPS</a:t>
            </a:r>
            <a:endParaRPr lang="en-US" sz="1100"/>
          </a:p>
        </p:txBody>
      </p:sp>
      <p:sp>
        <p:nvSpPr>
          <p:cNvPr id="4" name="Text 1"/>
          <p:cNvSpPr/>
          <p:nvPr/>
        </p:nvSpPr>
        <p:spPr>
          <a:xfrm>
            <a:off x="457200" y="530352"/>
            <a:ext cx="8229600" cy="777240"/>
          </a:xfrm>
          <a:prstGeom prst="rect">
            <a:avLst/>
          </a:prstGeom>
          <a:noFill/>
          <a:ln/>
        </p:spPr>
        <p:txBody>
          <a:bodyPr wrap="square" lIns="0" tIns="0" rIns="0" bIns="0" rtlCol="0" anchor="t"/>
          <a:lstStyle/>
          <a:p>
            <a:pPr marL="0" indent="0">
              <a:lnSpc>
                <a:spcPct val="102000"/>
              </a:lnSpc>
              <a:buNone/>
            </a:pPr>
            <a:r>
              <a:rPr lang="en-US" sz="2700" b="1">
                <a:solidFill>
                  <a:srgbClr val="FFFFFF"/>
                </a:solidFill>
                <a:latin typeface="Calibri" pitchFamily="34" charset="0"/>
                <a:ea typeface="Calibri" pitchFamily="34" charset="-122"/>
                <a:cs typeface="Calibri" pitchFamily="34" charset="-120"/>
              </a:rPr>
              <a:t>Limitations &amp; Future Work</a:t>
            </a:r>
            <a:endParaRPr lang="en-US" sz="2700"/>
          </a:p>
        </p:txBody>
      </p:sp>
      <p:sp>
        <p:nvSpPr>
          <p:cNvPr id="5" name="Shape 2"/>
          <p:cNvSpPr/>
          <p:nvPr/>
        </p:nvSpPr>
        <p:spPr>
          <a:xfrm>
            <a:off x="457200" y="1463040"/>
            <a:ext cx="420624" cy="420624"/>
          </a:xfrm>
          <a:prstGeom prst="ellipse">
            <a:avLst/>
          </a:prstGeom>
          <a:solidFill>
            <a:srgbClr val="6A6E8A"/>
          </a:solidFill>
          <a:ln/>
        </p:spPr>
        <p:txBody>
          <a:bodyPr/>
          <a:lstStyle/>
          <a:p>
            <a:endParaRPr lang="en-US"/>
          </a:p>
        </p:txBody>
      </p:sp>
      <p:pic>
        <p:nvPicPr>
          <p:cNvPr id="6" name="Image 1" descr="icons/flask.png"/>
          <p:cNvPicPr>
            <a:picLocks noChangeAspect="1"/>
          </p:cNvPicPr>
          <p:nvPr/>
        </p:nvPicPr>
        <p:blipFill>
          <a:blip r:embed="rId4"/>
          <a:stretch>
            <a:fillRect/>
          </a:stretch>
        </p:blipFill>
        <p:spPr>
          <a:xfrm>
            <a:off x="558150" y="1563990"/>
            <a:ext cx="218724" cy="218724"/>
          </a:xfrm>
          <a:prstGeom prst="rect">
            <a:avLst/>
          </a:prstGeom>
        </p:spPr>
      </p:pic>
      <p:sp>
        <p:nvSpPr>
          <p:cNvPr id="7" name="Text 3"/>
          <p:cNvSpPr/>
          <p:nvPr/>
        </p:nvSpPr>
        <p:spPr>
          <a:xfrm>
            <a:off x="1060704" y="1435608"/>
            <a:ext cx="7626096" cy="274320"/>
          </a:xfrm>
          <a:prstGeom prst="rect">
            <a:avLst/>
          </a:prstGeom>
          <a:noFill/>
          <a:ln/>
        </p:spPr>
        <p:txBody>
          <a:bodyPr wrap="square" lIns="0" tIns="0" rIns="0" bIns="0" rtlCol="0" anchor="t"/>
          <a:lstStyle/>
          <a:p>
            <a:pPr marL="0" indent="0">
              <a:buNone/>
            </a:pPr>
            <a:r>
              <a:rPr lang="en-US" sz="1300" b="1">
                <a:solidFill>
                  <a:srgbClr val="FFFFFF"/>
                </a:solidFill>
                <a:latin typeface="Calibri" pitchFamily="34" charset="0"/>
                <a:ea typeface="Calibri" pitchFamily="34" charset="-122"/>
                <a:cs typeface="Calibri" pitchFamily="34" charset="-120"/>
              </a:rPr>
              <a:t>Synthetic Sample Data</a:t>
            </a:r>
            <a:endParaRPr lang="en-US" sz="1300"/>
          </a:p>
        </p:txBody>
      </p:sp>
      <p:sp>
        <p:nvSpPr>
          <p:cNvPr id="8" name="Text 4"/>
          <p:cNvSpPr/>
          <p:nvPr/>
        </p:nvSpPr>
        <p:spPr>
          <a:xfrm>
            <a:off x="1060704" y="1719072"/>
            <a:ext cx="7626096" cy="512064"/>
          </a:xfrm>
          <a:prstGeom prst="rect">
            <a:avLst/>
          </a:prstGeom>
          <a:noFill/>
          <a:ln/>
        </p:spPr>
        <p:txBody>
          <a:bodyPr wrap="square" lIns="0" tIns="0" rIns="0" bIns="0" rtlCol="0" anchor="t"/>
          <a:lstStyle/>
          <a:p>
            <a:pPr marL="0" indent="0">
              <a:lnSpc>
                <a:spcPct val="108000"/>
              </a:lnSpc>
              <a:buNone/>
            </a:pPr>
            <a:r>
              <a:rPr lang="en-US" sz="1050">
                <a:solidFill>
                  <a:srgbClr val="C9CCE6"/>
                </a:solidFill>
                <a:latin typeface="Calibri" pitchFamily="34" charset="0"/>
                <a:ea typeface="Calibri" pitchFamily="34" charset="-122"/>
                <a:cs typeface="Calibri" pitchFamily="34" charset="-120"/>
              </a:rPr>
              <a:t>Not production chart data.</a:t>
            </a:r>
            <a:endParaRPr lang="en-US" sz="1050"/>
          </a:p>
        </p:txBody>
      </p:sp>
      <p:sp>
        <p:nvSpPr>
          <p:cNvPr id="9" name="Shape 5"/>
          <p:cNvSpPr/>
          <p:nvPr/>
        </p:nvSpPr>
        <p:spPr>
          <a:xfrm>
            <a:off x="457200" y="2267712"/>
            <a:ext cx="420624" cy="420624"/>
          </a:xfrm>
          <a:prstGeom prst="ellipse">
            <a:avLst/>
          </a:prstGeom>
          <a:solidFill>
            <a:srgbClr val="6A6E8A"/>
          </a:solidFill>
          <a:ln/>
        </p:spPr>
        <p:txBody>
          <a:bodyPr/>
          <a:lstStyle/>
          <a:p>
            <a:endParaRPr lang="en-US"/>
          </a:p>
        </p:txBody>
      </p:sp>
      <p:pic>
        <p:nvPicPr>
          <p:cNvPr id="10" name="Image 2" descr="icons/filealt.png"/>
          <p:cNvPicPr>
            <a:picLocks noChangeAspect="1"/>
          </p:cNvPicPr>
          <p:nvPr/>
        </p:nvPicPr>
        <p:blipFill>
          <a:blip r:embed="rId5"/>
          <a:stretch>
            <a:fillRect/>
          </a:stretch>
        </p:blipFill>
        <p:spPr>
          <a:xfrm>
            <a:off x="558150" y="2368662"/>
            <a:ext cx="218724" cy="218724"/>
          </a:xfrm>
          <a:prstGeom prst="rect">
            <a:avLst/>
          </a:prstGeom>
        </p:spPr>
      </p:pic>
      <p:sp>
        <p:nvSpPr>
          <p:cNvPr id="11" name="Text 6"/>
          <p:cNvSpPr/>
          <p:nvPr/>
        </p:nvSpPr>
        <p:spPr>
          <a:xfrm>
            <a:off x="1060704" y="2240280"/>
            <a:ext cx="7626096" cy="274320"/>
          </a:xfrm>
          <a:prstGeom prst="rect">
            <a:avLst/>
          </a:prstGeom>
          <a:noFill/>
          <a:ln/>
        </p:spPr>
        <p:txBody>
          <a:bodyPr wrap="square" lIns="0" tIns="0" rIns="0" bIns="0" rtlCol="0" anchor="t"/>
          <a:lstStyle/>
          <a:p>
            <a:pPr marL="0" indent="0">
              <a:buNone/>
            </a:pPr>
            <a:r>
              <a:rPr lang="en-US" sz="1300" b="1">
                <a:solidFill>
                  <a:srgbClr val="FFFFFF"/>
                </a:solidFill>
                <a:latin typeface="Calibri" pitchFamily="34" charset="0"/>
                <a:ea typeface="Calibri" pitchFamily="34" charset="-122"/>
                <a:cs typeface="Calibri" pitchFamily="34" charset="-120"/>
              </a:rPr>
              <a:t>Regex-Based Extraction</a:t>
            </a:r>
            <a:endParaRPr lang="en-US" sz="1300"/>
          </a:p>
        </p:txBody>
      </p:sp>
      <p:sp>
        <p:nvSpPr>
          <p:cNvPr id="12" name="Text 7"/>
          <p:cNvSpPr/>
          <p:nvPr/>
        </p:nvSpPr>
        <p:spPr>
          <a:xfrm>
            <a:off x="1060704" y="2523744"/>
            <a:ext cx="7626096" cy="512064"/>
          </a:xfrm>
          <a:prstGeom prst="rect">
            <a:avLst/>
          </a:prstGeom>
          <a:noFill/>
          <a:ln/>
        </p:spPr>
        <p:txBody>
          <a:bodyPr wrap="square" lIns="0" tIns="0" rIns="0" bIns="0" rtlCol="0" anchor="t"/>
          <a:lstStyle/>
          <a:p>
            <a:pPr marL="0" indent="0">
              <a:lnSpc>
                <a:spcPct val="108000"/>
              </a:lnSpc>
              <a:buNone/>
            </a:pPr>
            <a:r>
              <a:rPr lang="en-US" sz="1050">
                <a:solidFill>
                  <a:srgbClr val="C9CCE6"/>
                </a:solidFill>
                <a:latin typeface="Calibri" pitchFamily="34" charset="0"/>
                <a:ea typeface="Calibri" pitchFamily="34" charset="-122"/>
                <a:cs typeface="Calibri" pitchFamily="34" charset="-120"/>
              </a:rPr>
              <a:t>Not a trained clinical NER model.</a:t>
            </a:r>
            <a:endParaRPr lang="en-US" sz="1050"/>
          </a:p>
        </p:txBody>
      </p:sp>
      <p:sp>
        <p:nvSpPr>
          <p:cNvPr id="13" name="Shape 8"/>
          <p:cNvSpPr/>
          <p:nvPr/>
        </p:nvSpPr>
        <p:spPr>
          <a:xfrm>
            <a:off x="457200" y="3072384"/>
            <a:ext cx="420624" cy="420624"/>
          </a:xfrm>
          <a:prstGeom prst="ellipse">
            <a:avLst/>
          </a:prstGeom>
          <a:solidFill>
            <a:srgbClr val="6A6E8A"/>
          </a:solidFill>
          <a:ln/>
        </p:spPr>
        <p:txBody>
          <a:bodyPr/>
          <a:lstStyle/>
          <a:p>
            <a:endParaRPr lang="en-US"/>
          </a:p>
        </p:txBody>
      </p:sp>
      <p:pic>
        <p:nvPicPr>
          <p:cNvPr id="14" name="Image 3" descr="icons/filepdf.png"/>
          <p:cNvPicPr>
            <a:picLocks noChangeAspect="1"/>
          </p:cNvPicPr>
          <p:nvPr/>
        </p:nvPicPr>
        <p:blipFill>
          <a:blip r:embed="rId6"/>
          <a:stretch>
            <a:fillRect/>
          </a:stretch>
        </p:blipFill>
        <p:spPr>
          <a:xfrm>
            <a:off x="558150" y="3173334"/>
            <a:ext cx="218724" cy="218724"/>
          </a:xfrm>
          <a:prstGeom prst="rect">
            <a:avLst/>
          </a:prstGeom>
        </p:spPr>
      </p:pic>
      <p:sp>
        <p:nvSpPr>
          <p:cNvPr id="15" name="Text 9"/>
          <p:cNvSpPr/>
          <p:nvPr/>
        </p:nvSpPr>
        <p:spPr>
          <a:xfrm>
            <a:off x="1060704" y="3044952"/>
            <a:ext cx="7626096" cy="274320"/>
          </a:xfrm>
          <a:prstGeom prst="rect">
            <a:avLst/>
          </a:prstGeom>
          <a:noFill/>
          <a:ln/>
        </p:spPr>
        <p:txBody>
          <a:bodyPr wrap="square" lIns="0" tIns="0" rIns="0" bIns="0" rtlCol="0" anchor="t"/>
          <a:lstStyle/>
          <a:p>
            <a:pPr marL="0" indent="0">
              <a:buNone/>
            </a:pPr>
            <a:r>
              <a:rPr lang="en-US" sz="1300" b="1">
                <a:solidFill>
                  <a:srgbClr val="FFFFFF"/>
                </a:solidFill>
                <a:latin typeface="Calibri" pitchFamily="34" charset="0"/>
                <a:ea typeface="Calibri" pitchFamily="34" charset="-122"/>
                <a:cs typeface="Calibri" pitchFamily="34" charset="-120"/>
              </a:rPr>
              <a:t>Text-Layer PDFs Only</a:t>
            </a:r>
            <a:endParaRPr lang="en-US" sz="1300"/>
          </a:p>
        </p:txBody>
      </p:sp>
      <p:sp>
        <p:nvSpPr>
          <p:cNvPr id="16" name="Text 10"/>
          <p:cNvSpPr/>
          <p:nvPr/>
        </p:nvSpPr>
        <p:spPr>
          <a:xfrm>
            <a:off x="1060704" y="3328416"/>
            <a:ext cx="7626096" cy="512064"/>
          </a:xfrm>
          <a:prstGeom prst="rect">
            <a:avLst/>
          </a:prstGeom>
          <a:noFill/>
          <a:ln/>
        </p:spPr>
        <p:txBody>
          <a:bodyPr wrap="square" lIns="0" tIns="0" rIns="0" bIns="0" rtlCol="0" anchor="t"/>
          <a:lstStyle/>
          <a:p>
            <a:pPr marL="0" indent="0">
              <a:lnSpc>
                <a:spcPct val="108000"/>
              </a:lnSpc>
              <a:buNone/>
            </a:pPr>
            <a:r>
              <a:rPr lang="en-US" sz="1050">
                <a:solidFill>
                  <a:srgbClr val="C9CCE6"/>
                </a:solidFill>
                <a:latin typeface="Calibri" pitchFamily="34" charset="0"/>
                <a:ea typeface="Calibri" pitchFamily="34" charset="-122"/>
                <a:cs typeface="Calibri" pitchFamily="34" charset="-120"/>
              </a:rPr>
              <a:t>Scanned images would need OCR.</a:t>
            </a:r>
            <a:endParaRPr lang="en-US" sz="1050"/>
          </a:p>
        </p:txBody>
      </p:sp>
      <p:sp>
        <p:nvSpPr>
          <p:cNvPr id="17" name="Shape 11"/>
          <p:cNvSpPr/>
          <p:nvPr/>
        </p:nvSpPr>
        <p:spPr>
          <a:xfrm>
            <a:off x="457200" y="3877056"/>
            <a:ext cx="420624" cy="420624"/>
          </a:xfrm>
          <a:prstGeom prst="ellipse">
            <a:avLst/>
          </a:prstGeom>
          <a:solidFill>
            <a:srgbClr val="6A6E8A"/>
          </a:solidFill>
          <a:ln/>
        </p:spPr>
        <p:txBody>
          <a:bodyPr/>
          <a:lstStyle/>
          <a:p>
            <a:endParaRPr lang="en-US"/>
          </a:p>
        </p:txBody>
      </p:sp>
      <p:pic>
        <p:nvPicPr>
          <p:cNvPr id="18" name="Image 4" descr="icons/server.png"/>
          <p:cNvPicPr>
            <a:picLocks noChangeAspect="1"/>
          </p:cNvPicPr>
          <p:nvPr/>
        </p:nvPicPr>
        <p:blipFill>
          <a:blip r:embed="rId7"/>
          <a:stretch>
            <a:fillRect/>
          </a:stretch>
        </p:blipFill>
        <p:spPr>
          <a:xfrm>
            <a:off x="558150" y="3978006"/>
            <a:ext cx="218724" cy="218724"/>
          </a:xfrm>
          <a:prstGeom prst="rect">
            <a:avLst/>
          </a:prstGeom>
        </p:spPr>
      </p:pic>
      <p:sp>
        <p:nvSpPr>
          <p:cNvPr id="19" name="Text 12"/>
          <p:cNvSpPr/>
          <p:nvPr/>
        </p:nvSpPr>
        <p:spPr>
          <a:xfrm>
            <a:off x="1060704" y="3849624"/>
            <a:ext cx="7626096" cy="274320"/>
          </a:xfrm>
          <a:prstGeom prst="rect">
            <a:avLst/>
          </a:prstGeom>
          <a:noFill/>
          <a:ln/>
        </p:spPr>
        <p:txBody>
          <a:bodyPr wrap="square" lIns="0" tIns="0" rIns="0" bIns="0" rtlCol="0" anchor="t"/>
          <a:lstStyle/>
          <a:p>
            <a:pPr marL="0" indent="0">
              <a:buNone/>
            </a:pPr>
            <a:r>
              <a:rPr lang="en-US" sz="1300" b="1">
                <a:solidFill>
                  <a:srgbClr val="FFFFFF"/>
                </a:solidFill>
                <a:latin typeface="Calibri" pitchFamily="34" charset="0"/>
                <a:ea typeface="Calibri" pitchFamily="34" charset="-122"/>
                <a:cs typeface="Calibri" pitchFamily="34" charset="-120"/>
              </a:rPr>
              <a:t>Local Runtime Required</a:t>
            </a:r>
            <a:endParaRPr lang="en-US" sz="1300"/>
          </a:p>
        </p:txBody>
      </p:sp>
      <p:sp>
        <p:nvSpPr>
          <p:cNvPr id="20" name="Text 13"/>
          <p:cNvSpPr/>
          <p:nvPr/>
        </p:nvSpPr>
        <p:spPr>
          <a:xfrm>
            <a:off x="1060704" y="4133088"/>
            <a:ext cx="7626096" cy="512064"/>
          </a:xfrm>
          <a:prstGeom prst="rect">
            <a:avLst/>
          </a:prstGeom>
          <a:noFill/>
          <a:ln/>
        </p:spPr>
        <p:txBody>
          <a:bodyPr wrap="square" lIns="0" tIns="0" rIns="0" bIns="0" rtlCol="0" anchor="t"/>
          <a:lstStyle/>
          <a:p>
            <a:pPr marL="0" indent="0">
              <a:lnSpc>
                <a:spcPct val="108000"/>
              </a:lnSpc>
              <a:buNone/>
            </a:pPr>
            <a:r>
              <a:rPr lang="en-US" sz="1050">
                <a:solidFill>
                  <a:srgbClr val="C9CCE6"/>
                </a:solidFill>
                <a:latin typeface="Calibri" pitchFamily="34" charset="0"/>
                <a:ea typeface="Calibri" pitchFamily="34" charset="-122"/>
                <a:cs typeface="Calibri" pitchFamily="34" charset="-120"/>
              </a:rPr>
              <a:t>Needs Ollama running for generation.</a:t>
            </a:r>
            <a:endParaRPr lang="en-US" sz="1050"/>
          </a:p>
        </p:txBody>
      </p:sp>
      <p:sp>
        <p:nvSpPr>
          <p:cNvPr id="22" name="Text 14"/>
          <p:cNvSpPr/>
          <p:nvPr/>
        </p:nvSpPr>
        <p:spPr>
          <a:xfrm>
            <a:off x="8549640" y="4828032"/>
            <a:ext cx="274320" cy="228600"/>
          </a:xfrm>
          <a:prstGeom prst="rect">
            <a:avLst/>
          </a:prstGeom>
          <a:noFill/>
          <a:ln/>
        </p:spPr>
        <p:txBody>
          <a:bodyPr wrap="square" lIns="0" tIns="0" rIns="0" bIns="0" rtlCol="0" anchor="ctr"/>
          <a:lstStyle/>
          <a:p>
            <a:pPr marL="0" indent="0" algn="r">
              <a:buNone/>
            </a:pPr>
            <a:r>
              <a:rPr lang="en-US" sz="900">
                <a:solidFill>
                  <a:srgbClr val="C9CCE6"/>
                </a:solidFill>
                <a:latin typeface="Calibri" pitchFamily="34" charset="0"/>
                <a:ea typeface="Calibri" pitchFamily="34" charset="-122"/>
                <a:cs typeface="Calibri" pitchFamily="34" charset="-120"/>
              </a:rPr>
              <a:t>18</a:t>
            </a:r>
            <a:endParaRPr lang="en-US" sz="9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a:effectLst/>
      </p:bgPr>
    </p:bg>
    <p:spTree>
      <p:nvGrpSpPr>
        <p:cNvPr id="1" name=""/>
        <p:cNvGrpSpPr/>
        <p:nvPr/>
      </p:nvGrpSpPr>
      <p:grpSpPr>
        <a:xfrm>
          <a:off x="0" y="0"/>
          <a:ext cx="0" cy="0"/>
          <a:chOff x="0" y="0"/>
          <a:chExt cx="0" cy="0"/>
        </a:xfrm>
      </p:grpSpPr>
      <p:pic>
        <p:nvPicPr>
          <p:cNvPr id="2" name="Image 0" descr="glow/glow_blue2.jpg"/>
          <p:cNvPicPr>
            <a:picLocks noChangeAspect="1"/>
          </p:cNvPicPr>
          <p:nvPr/>
        </p:nvPicPr>
        <p:blipFill>
          <a:blip r:embed="rId3"/>
          <a:stretch>
            <a:fillRect/>
          </a:stretch>
        </p:blipFill>
        <p:spPr>
          <a:xfrm>
            <a:off x="3657600" y="-1371600"/>
            <a:ext cx="6858000" cy="5852160"/>
          </a:xfrm>
          <a:prstGeom prst="rect">
            <a:avLst/>
          </a:prstGeom>
        </p:spPr>
      </p:pic>
      <p:sp>
        <p:nvSpPr>
          <p:cNvPr id="3" name="Shape 0"/>
          <p:cNvSpPr/>
          <p:nvPr/>
        </p:nvSpPr>
        <p:spPr>
          <a:xfrm>
            <a:off x="548640" y="777240"/>
            <a:ext cx="365760" cy="365760"/>
          </a:xfrm>
          <a:prstGeom prst="ellipse">
            <a:avLst/>
          </a:prstGeom>
          <a:solidFill>
            <a:srgbClr val="2D8FCF"/>
          </a:solidFill>
          <a:ln/>
        </p:spPr>
        <p:txBody>
          <a:bodyPr/>
          <a:lstStyle/>
          <a:p>
            <a:endParaRPr lang="en-US"/>
          </a:p>
        </p:txBody>
      </p:sp>
      <p:pic>
        <p:nvPicPr>
          <p:cNvPr id="4" name="Image 1" descr="icons/checkcircle.png"/>
          <p:cNvPicPr>
            <a:picLocks noChangeAspect="1"/>
          </p:cNvPicPr>
          <p:nvPr/>
        </p:nvPicPr>
        <p:blipFill>
          <a:blip r:embed="rId4"/>
          <a:stretch>
            <a:fillRect/>
          </a:stretch>
        </p:blipFill>
        <p:spPr>
          <a:xfrm>
            <a:off x="636422" y="865022"/>
            <a:ext cx="190195" cy="190195"/>
          </a:xfrm>
          <a:prstGeom prst="rect">
            <a:avLst/>
          </a:prstGeom>
        </p:spPr>
      </p:pic>
      <p:sp>
        <p:nvSpPr>
          <p:cNvPr id="5" name="Text 1"/>
          <p:cNvSpPr/>
          <p:nvPr/>
        </p:nvSpPr>
        <p:spPr>
          <a:xfrm>
            <a:off x="1051560" y="777240"/>
            <a:ext cx="6949440" cy="365760"/>
          </a:xfrm>
          <a:prstGeom prst="rect">
            <a:avLst/>
          </a:prstGeom>
          <a:noFill/>
          <a:ln/>
        </p:spPr>
        <p:txBody>
          <a:bodyPr wrap="square" lIns="0" tIns="0" rIns="0" bIns="0" rtlCol="0" anchor="ctr"/>
          <a:lstStyle/>
          <a:p>
            <a:pPr marL="0" indent="0">
              <a:buNone/>
            </a:pPr>
            <a:r>
              <a:rPr lang="en-US" sz="1350">
                <a:solidFill>
                  <a:srgbClr val="FFFFFF"/>
                </a:solidFill>
                <a:latin typeface="Calibri" pitchFamily="34" charset="0"/>
                <a:ea typeface="Calibri" pitchFamily="34" charset="-122"/>
                <a:cs typeface="Calibri" pitchFamily="34" charset="-120"/>
              </a:rPr>
              <a:t>Research insight: where clinical NLP is heading, and where Cotiviti can lead</a:t>
            </a:r>
            <a:endParaRPr lang="en-US" sz="1350"/>
          </a:p>
        </p:txBody>
      </p:sp>
      <p:sp>
        <p:nvSpPr>
          <p:cNvPr id="6" name="Shape 2"/>
          <p:cNvSpPr/>
          <p:nvPr/>
        </p:nvSpPr>
        <p:spPr>
          <a:xfrm>
            <a:off x="548640" y="1344168"/>
            <a:ext cx="365760" cy="365760"/>
          </a:xfrm>
          <a:prstGeom prst="ellipse">
            <a:avLst/>
          </a:prstGeom>
          <a:solidFill>
            <a:srgbClr val="2D8FCF"/>
          </a:solidFill>
          <a:ln/>
        </p:spPr>
        <p:txBody>
          <a:bodyPr/>
          <a:lstStyle/>
          <a:p>
            <a:endParaRPr lang="en-US"/>
          </a:p>
        </p:txBody>
      </p:sp>
      <p:pic>
        <p:nvPicPr>
          <p:cNvPr id="7" name="Image 2" descr="icons/checkcircle.png"/>
          <p:cNvPicPr>
            <a:picLocks noChangeAspect="1"/>
          </p:cNvPicPr>
          <p:nvPr/>
        </p:nvPicPr>
        <p:blipFill>
          <a:blip r:embed="rId4"/>
          <a:stretch>
            <a:fillRect/>
          </a:stretch>
        </p:blipFill>
        <p:spPr>
          <a:xfrm>
            <a:off x="636422" y="1431950"/>
            <a:ext cx="190195" cy="190195"/>
          </a:xfrm>
          <a:prstGeom prst="rect">
            <a:avLst/>
          </a:prstGeom>
        </p:spPr>
      </p:pic>
      <p:sp>
        <p:nvSpPr>
          <p:cNvPr id="8" name="Text 3"/>
          <p:cNvSpPr/>
          <p:nvPr/>
        </p:nvSpPr>
        <p:spPr>
          <a:xfrm>
            <a:off x="1051560" y="1344168"/>
            <a:ext cx="6949440" cy="365760"/>
          </a:xfrm>
          <a:prstGeom prst="rect">
            <a:avLst/>
          </a:prstGeom>
          <a:noFill/>
          <a:ln/>
        </p:spPr>
        <p:txBody>
          <a:bodyPr wrap="square" lIns="0" tIns="0" rIns="0" bIns="0" rtlCol="0" anchor="ctr"/>
          <a:lstStyle/>
          <a:p>
            <a:pPr marL="0" indent="0">
              <a:buNone/>
            </a:pPr>
            <a:r>
              <a:rPr lang="en-US" sz="1350">
                <a:solidFill>
                  <a:srgbClr val="FFFFFF"/>
                </a:solidFill>
                <a:latin typeface="Calibri" pitchFamily="34" charset="0"/>
                <a:ea typeface="Calibri" pitchFamily="34" charset="-122"/>
                <a:cs typeface="Calibri" pitchFamily="34" charset="-120"/>
              </a:rPr>
              <a:t>Working prototype: RAG-powered, transparent, human-in-the-loop</a:t>
            </a:r>
            <a:endParaRPr lang="en-US" sz="1350"/>
          </a:p>
        </p:txBody>
      </p:sp>
      <p:sp>
        <p:nvSpPr>
          <p:cNvPr id="9" name="Shape 4"/>
          <p:cNvSpPr/>
          <p:nvPr/>
        </p:nvSpPr>
        <p:spPr>
          <a:xfrm>
            <a:off x="548640" y="1911096"/>
            <a:ext cx="365760" cy="365760"/>
          </a:xfrm>
          <a:prstGeom prst="ellipse">
            <a:avLst/>
          </a:prstGeom>
          <a:solidFill>
            <a:srgbClr val="2D8FCF"/>
          </a:solidFill>
          <a:ln/>
        </p:spPr>
        <p:txBody>
          <a:bodyPr/>
          <a:lstStyle/>
          <a:p>
            <a:endParaRPr lang="en-US"/>
          </a:p>
        </p:txBody>
      </p:sp>
      <p:pic>
        <p:nvPicPr>
          <p:cNvPr id="10" name="Image 3" descr="icons/checkcircle.png"/>
          <p:cNvPicPr>
            <a:picLocks noChangeAspect="1"/>
          </p:cNvPicPr>
          <p:nvPr/>
        </p:nvPicPr>
        <p:blipFill>
          <a:blip r:embed="rId4"/>
          <a:stretch>
            <a:fillRect/>
          </a:stretch>
        </p:blipFill>
        <p:spPr>
          <a:xfrm>
            <a:off x="636422" y="1998878"/>
            <a:ext cx="190195" cy="190195"/>
          </a:xfrm>
          <a:prstGeom prst="rect">
            <a:avLst/>
          </a:prstGeom>
        </p:spPr>
      </p:pic>
      <p:sp>
        <p:nvSpPr>
          <p:cNvPr id="11" name="Text 5"/>
          <p:cNvSpPr/>
          <p:nvPr/>
        </p:nvSpPr>
        <p:spPr>
          <a:xfrm>
            <a:off x="1051560" y="1911096"/>
            <a:ext cx="6949440" cy="365760"/>
          </a:xfrm>
          <a:prstGeom prst="rect">
            <a:avLst/>
          </a:prstGeom>
          <a:noFill/>
          <a:ln/>
        </p:spPr>
        <p:txBody>
          <a:bodyPr wrap="square" lIns="0" tIns="0" rIns="0" bIns="0" rtlCol="0" anchor="ctr"/>
          <a:lstStyle/>
          <a:p>
            <a:pPr marL="0" indent="0">
              <a:buNone/>
            </a:pPr>
            <a:r>
              <a:rPr lang="en-US" sz="1350">
                <a:solidFill>
                  <a:srgbClr val="FFFFFF"/>
                </a:solidFill>
                <a:latin typeface="Calibri" pitchFamily="34" charset="0"/>
                <a:ea typeface="Calibri" pitchFamily="34" charset="-122"/>
                <a:cs typeface="Calibri" pitchFamily="34" charset="-120"/>
              </a:rPr>
              <a:t>Strategic fit: aligned with Cotiviti's own agentic AI direction</a:t>
            </a:r>
            <a:endParaRPr lang="en-US" sz="1350"/>
          </a:p>
        </p:txBody>
      </p:sp>
      <p:sp>
        <p:nvSpPr>
          <p:cNvPr id="12" name="Text 6"/>
          <p:cNvSpPr/>
          <p:nvPr/>
        </p:nvSpPr>
        <p:spPr>
          <a:xfrm>
            <a:off x="548640" y="2880360"/>
            <a:ext cx="7315200" cy="777240"/>
          </a:xfrm>
          <a:prstGeom prst="rect">
            <a:avLst/>
          </a:prstGeom>
          <a:noFill/>
          <a:ln/>
        </p:spPr>
        <p:txBody>
          <a:bodyPr wrap="square" lIns="0" tIns="0" rIns="0" bIns="0" rtlCol="0" anchor="ctr"/>
          <a:lstStyle/>
          <a:p>
            <a:pPr marL="0" indent="0">
              <a:buNone/>
            </a:pPr>
            <a:r>
              <a:rPr lang="en-US" sz="4000" b="1">
                <a:solidFill>
                  <a:srgbClr val="FFFFFF"/>
                </a:solidFill>
                <a:latin typeface="Calibri" pitchFamily="34" charset="0"/>
                <a:ea typeface="Calibri" pitchFamily="34" charset="-122"/>
                <a:cs typeface="Calibri" pitchFamily="34" charset="-120"/>
              </a:rPr>
              <a:t>Thank you.</a:t>
            </a:r>
            <a:endParaRPr lang="en-US" sz="4000"/>
          </a:p>
        </p:txBody>
      </p:sp>
      <p:sp>
        <p:nvSpPr>
          <p:cNvPr id="15" name="Text 8"/>
          <p:cNvSpPr/>
          <p:nvPr/>
        </p:nvSpPr>
        <p:spPr>
          <a:xfrm>
            <a:off x="8549640" y="4828032"/>
            <a:ext cx="274320" cy="228600"/>
          </a:xfrm>
          <a:prstGeom prst="rect">
            <a:avLst/>
          </a:prstGeom>
          <a:noFill/>
          <a:ln/>
        </p:spPr>
        <p:txBody>
          <a:bodyPr wrap="square" lIns="0" tIns="0" rIns="0" bIns="0" rtlCol="0" anchor="ctr"/>
          <a:lstStyle/>
          <a:p>
            <a:pPr marL="0" indent="0" algn="r">
              <a:buNone/>
            </a:pPr>
            <a:r>
              <a:rPr lang="en-US" sz="900">
                <a:solidFill>
                  <a:srgbClr val="C9CCE6"/>
                </a:solidFill>
                <a:latin typeface="Calibri" pitchFamily="34" charset="0"/>
                <a:ea typeface="Calibri" pitchFamily="34" charset="-122"/>
                <a:cs typeface="Calibri" pitchFamily="34" charset="-120"/>
              </a:rPr>
              <a:t>20</a:t>
            </a:r>
            <a:endParaRPr lang="en-US" sz="9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16</Slides>
  <Notes>16</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Clinical NLP for Health Care — Research, Strategy, and a Working Prototype</dc:title>
  <dc:subject>PptxGenJS Presentation</dc:subject>
  <dc:creator>Evelyne R. Kim</dc:creator>
  <cp:revision>1</cp:revision>
  <dcterms:created xsi:type="dcterms:W3CDTF">2026-07-01T16:55:39Z</dcterms:created>
  <dcterms:modified xsi:type="dcterms:W3CDTF">2026-07-02T00:25:26Z</dcterms:modified>
</cp:coreProperties>
</file>