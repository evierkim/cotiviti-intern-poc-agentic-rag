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6C4FD6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Clinical NLP
Platforms</c:v>
                  </c:pt>
                  <c:pt idx="1">
                    <c:v>NLP in
Healthcare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2.46</c:v>
                </c:pt>
                <c:pt idx="1">
                  <c:v>5.62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2034</c:v>
                </c:pt>
              </c:strCache>
            </c:strRef>
          </c:tx>
          <c:spPr>
            <a:solidFill>
              <a:srgbClr val="2D8FCF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Clinical NLP
Platforms</c:v>
                  </c:pt>
                  <c:pt idx="1">
                    <c:v>NLP in
Healthcare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13.15</c:v>
                </c:pt>
                <c:pt idx="1">
                  <c:v>36.71</c:v>
                </c:pt>
              </c:numCache>
            </c:numRef>
          </c:val>
        </c:ser>
        <c:dLbls>
          <c:numFmt formatCode="&quot;$&quot;0.00&quot;B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2E45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9CC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A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E2E45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9CC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C9CCE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313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 opening script here (see outline doc). Smile, make eye contact with the camera, state the two-part agenda (report + prototype) and flag the live demo pause up front so it's not a surprise.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the whole talk on the 80% stat. Brief history arc signals technical depth without dwelling.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numbers carry this slide. Point: this isn't a niche bet, it's a large, fast-accelerating category, which strengthens the case for continued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briefly. Land on the agentic AI point and foreshadow that it's directly connected to what you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opportunity ties to a named, real Cotiviti product or workflow. Flag the highlighted 4th card clearly — it's the pivot point to your PoC. Opportunity 3 aligns with what Cotiviti has described as a move toward “self-healing, autonomous SaaS.”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real risks builds credibility. Bridge forward: “clinician oversight” is exactly why the prototype is human-in-the-loop by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sequencing — each phase de-risks and funds the next; this isn't “boil the ocean,” it's deliberate staging.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Short, energetic transition — the gear-change moment from analyst to builder. Let your energy pick up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real use of “RAG” — define it plainly. State the scope honestly up front; that self-awareness reads as maturity, not a hedge.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diagram left to right. Sentence-BERT turns text into numeric embeddings; FAISS is a fast similarity-search library. “Local LLM” is your callback to the privacy threat — say that connection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makes the “agentic AI” trend concrete. Call out explicitly that every response ends with a human-review reminder — in a regulated environment, that detail builds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deliberate engineering judgment calls, not shortcuts.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“proof” slide — let the audience see the recommendation lined up against the delivered capability. Don't rush past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concrete expectations before switching over — this is what makes the demo land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[Pause deck here. Share screen, open the Gradio app at localhost:7860, click “Load Sample Notes.”] Lead with the diabetes + hypertension question. Expand “Retrieved Source Chunks” to show the audit trail. If time allows, run the COPD tobacco-use question. Say out loud that everything is running locally via Ollama. Return to slides when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briefly so the takeaway lands for anyone half-watching the demo. Reconnect to the “black box” concern named back in Section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Stay concrete and named — specificity is what makes this credible instead of a generic “AI helps everywhere”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these plainly and move on — no over-apologizing. Being upfront about scope is a credibility signal. The OCR limitation is your bridge into the next slide (Phase 2, multimodal).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as a believable, sequenced path — explicitly tie back to the Phase 2/3 roadmap so the whole talk closes the loop it opened.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 closing script verbatim (see outline doc).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2.png"/><Relationship Id="rId4" Type="http://schemas.openxmlformats.org/officeDocument/2006/relationships/image" Target="../media/image-20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-1463040"/>
            <a:ext cx="6858000" cy="5852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5156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Natural Language Technology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Health Care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2395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Strategy, and a Working Prototype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566928" y="3063240"/>
            <a:ext cx="1463040" cy="0"/>
          </a:xfrm>
          <a:prstGeom prst="line">
            <a:avLst/>
          </a:prstGeom>
          <a:noFill/>
          <a:ln w="25400">
            <a:solidFill>
              <a:srgbClr val="2D8FC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246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Evelyne (Evie) Kim  |  Johns Hopkins University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Research Intern Program — Application Presentation for Cotiviti  |  [Presentation Date]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-1188720"/>
            <a:ext cx="4114800" cy="3474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Clinical NLP Matters for Risk Adjustment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healthcare data is unstructured — physician notes, discharge summaries, lab reports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794760" y="160020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8" name="Image 1" descr="icons/file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710" y="1701150"/>
            <a:ext cx="218724" cy="2187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98264" y="157276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in Free Text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398264" y="1856232"/>
            <a:ext cx="42885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adjustment, medical coding, and population health all depend on extracting signal from that text.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794760" y="256032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2" name="Image 2" descr="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10" y="2661270"/>
            <a:ext cx="218724" cy="2187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98264" y="25328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Rules to Reasoning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398264" y="2816352"/>
            <a:ext cx="42885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has evolved: rule-based systems → statistical ML → large language models (LLMs).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3794760" y="352044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6" name="Image 3" descr="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710" y="3621390"/>
            <a:ext cx="218724" cy="21872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398264" y="349300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Fine-Tuning Needed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4398264" y="3776472"/>
            <a:ext cx="42885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LLMs extract, summarize, and reason with little to no fine-tuning.</a:t>
            </a:r>
            <a:endParaRPr lang="en-US" sz="1050" dirty="0"/>
          </a:p>
        </p:txBody>
      </p:sp>
      <p:sp>
        <p:nvSpPr>
          <p:cNvPr id="20" name="Text 13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00" y="1828800"/>
            <a:ext cx="4572000" cy="3749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Spotlight — the Market Is Moving Fast</a:t>
            </a:r>
            <a:endParaRPr lang="en-US" sz="2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417320"/>
          <a:ext cx="52578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943600" y="1463040"/>
            <a:ext cx="2743200" cy="1371600"/>
          </a:xfrm>
          <a:prstGeom prst="roundRect">
            <a:avLst>
              <a:gd name="adj" fmla="val 4667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0" y="1600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23.33%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6080760" y="22128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— Clinical NLP Platforms Market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943600" y="3017520"/>
            <a:ext cx="2743200" cy="1371600"/>
          </a:xfrm>
          <a:prstGeom prst="roundRect">
            <a:avLst>
              <a:gd name="adj" fmla="val 4667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943600" y="31546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080760" y="376732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— Broader NLP in Healthcare Market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Fortune Business Insights, 2026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645920" y="-1463040"/>
            <a:ext cx="4206240" cy="3566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More Trends Shaping the Field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2609088" cy="2148840"/>
          </a:xfrm>
          <a:prstGeom prst="roundRect">
            <a:avLst>
              <a:gd name="adj" fmla="val 2553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00200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7" name="Image 1" descr="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29" y="1696761"/>
            <a:ext cx="209215" cy="20921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2093976"/>
            <a:ext cx="2206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Models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58368" y="2386584"/>
            <a:ext cx="22067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prompting now matches specialized clinical models — no costly fine-tuning required.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267456" y="1417320"/>
            <a:ext cx="2609088" cy="2148840"/>
          </a:xfrm>
          <a:prstGeom prst="roundRect">
            <a:avLst>
              <a:gd name="adj" fmla="val 2553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68624" y="1600200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2" name="Image 2" descr="icons/imag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5185" y="1696761"/>
            <a:ext cx="209215" cy="20921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468624" y="2093976"/>
            <a:ext cx="2206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Convergence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3468624" y="2386584"/>
            <a:ext cx="22067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reasoning across text, images, and signals — opens the door to scanned charts and faxes.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077712" y="1417320"/>
            <a:ext cx="2609088" cy="2148840"/>
          </a:xfrm>
          <a:prstGeom prst="roundRect">
            <a:avLst>
              <a:gd name="adj" fmla="val 2553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278880" y="1600200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7" name="Image 3" descr="icons/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441" y="1696761"/>
            <a:ext cx="209215" cy="20921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78880" y="2093976"/>
            <a:ext cx="2206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278880" y="2386584"/>
            <a:ext cx="22067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that retrieve evidence, use tools, and run multi-step workflows autonomously.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58368" y="3968496"/>
            <a:ext cx="347472" cy="347472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2" name="Image 4" descr="icons/qu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761" y="4051889"/>
            <a:ext cx="180685" cy="18068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43000" y="379476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Cotiviti's own job postings already reference “Agentic AI” as a strategic direction.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03120"/>
            <a:ext cx="4389120" cy="3566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Creates Opportunity for Cotiviti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4014216" cy="1522476"/>
          </a:xfrm>
          <a:prstGeom prst="roundRect">
            <a:avLst>
              <a:gd name="adj" fmla="val 3604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00200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7" name="Image 1" descr="icons/chart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29" y="1696761"/>
            <a:ext cx="209215" cy="20921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20939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Existing NLP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58368" y="2386584"/>
            <a:ext cx="36118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reasoning improves Pre-Visit Prep &amp; Member Suspecting accuracy and explainability.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672584" y="1417320"/>
            <a:ext cx="4014216" cy="1522476"/>
          </a:xfrm>
          <a:prstGeom prst="roundRect">
            <a:avLst>
              <a:gd name="adj" fmla="val 3604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873752" y="1600200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2" name="Image 2" descr="icons/imag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313" y="1696761"/>
            <a:ext cx="209215" cy="20921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873752" y="20939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Intelligence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4873752" y="2386584"/>
            <a:ext cx="36118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into scanned charts, faxes, and images for a fuller patient view.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57200" y="3140964"/>
            <a:ext cx="4014216" cy="1522476"/>
          </a:xfrm>
          <a:prstGeom prst="roundRect">
            <a:avLst>
              <a:gd name="adj" fmla="val 3604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58368" y="3323844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7" name="Image 3" descr="icons/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929" y="3420405"/>
            <a:ext cx="209215" cy="20921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8368" y="38176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Risk Adjustment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58368" y="4110228"/>
            <a:ext cx="36118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 continuously monitor populations and flag documentation gaps.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72584" y="3140964"/>
            <a:ext cx="4014216" cy="1522476"/>
          </a:xfrm>
          <a:prstGeom prst="roundRect">
            <a:avLst>
              <a:gd name="adj" fmla="val 3604"/>
            </a:avLst>
          </a:prstGeom>
          <a:solidFill>
            <a:srgbClr val="2D8FCF"/>
          </a:solidFill>
          <a:ln w="12700">
            <a:solidFill>
              <a:srgbClr val="2D8FC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73752" y="332384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4" descr="icons/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0313" y="3420405"/>
            <a:ext cx="209215" cy="20921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73752" y="38176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Coder Decision Support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4873752" y="4110228"/>
            <a:ext cx="36118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guidance during chart review — this is what I built.</a:t>
            </a:r>
            <a:endParaRPr lang="en-US" sz="1000" dirty="0"/>
          </a:p>
        </p:txBody>
      </p:sp>
      <p:sp>
        <p:nvSpPr>
          <p:cNvPr id="26" name="Text 18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-1554480"/>
            <a:ext cx="402336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&amp; Risks to Manage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6C4FD6"/>
          </a:solidFill>
          <a:ln/>
        </p:spPr>
      </p:sp>
      <p:pic>
        <p:nvPicPr>
          <p:cNvPr id="6" name="Image 1" descr="icons/excla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50" y="1563990"/>
            <a:ext cx="218724" cy="2187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60704" y="143560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Risk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1060704" y="1719072"/>
            <a:ext cx="7626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produce plausible-but-wrong clinical claims — clinician oversight is non-negotiable.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2514600"/>
            <a:ext cx="420624" cy="420624"/>
          </a:xfrm>
          <a:prstGeom prst="ellipse">
            <a:avLst/>
          </a:prstGeom>
          <a:solidFill>
            <a:srgbClr val="6C4FD6"/>
          </a:solidFill>
          <a:ln/>
        </p:spPr>
      </p:sp>
      <p:pic>
        <p:nvPicPr>
          <p:cNvPr id="10" name="Image 2" descr="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50" y="2615550"/>
            <a:ext cx="218724" cy="2187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60704" y="248716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PHI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1060704" y="2770632"/>
            <a:ext cx="7626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 protected health information requires differential privacy, federated learning, or on-prem deployment.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57200" y="3566160"/>
            <a:ext cx="420624" cy="420624"/>
          </a:xfrm>
          <a:prstGeom prst="ellipse">
            <a:avLst/>
          </a:prstGeom>
          <a:solidFill>
            <a:srgbClr val="6C4FD6"/>
          </a:solidFill>
          <a:ln/>
        </p:spPr>
      </p:sp>
      <p:pic>
        <p:nvPicPr>
          <p:cNvPr id="14" name="Image 3" descr="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150" y="366711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60704" y="353872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Pressure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1060704" y="3822192"/>
            <a:ext cx="7626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tech and startups are moving fast — Cotiviti's edge is domain expertise, but that edge isn't permanent.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37360" y="1645920"/>
            <a:ext cx="4206240" cy="3566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Roadmap — Three Phased Recommendations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1828800" y="2148840"/>
            <a:ext cx="5486400" cy="0"/>
          </a:xfrm>
          <a:prstGeom prst="line">
            <a:avLst/>
          </a:prstGeom>
          <a:noFill/>
          <a:ln w="25400">
            <a:solidFill>
              <a:srgbClr val="35354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463040" y="1783080"/>
            <a:ext cx="731520" cy="731520"/>
          </a:xfrm>
          <a:prstGeom prst="ellipse">
            <a:avLst/>
          </a:prstGeom>
          <a:solidFill>
            <a:srgbClr val="2D8FCF"/>
          </a:solidFill>
          <a:ln/>
        </p:spPr>
      </p:sp>
      <p:sp>
        <p:nvSpPr>
          <p:cNvPr id="7" name="Text 4"/>
          <p:cNvSpPr/>
          <p:nvPr/>
        </p:nvSpPr>
        <p:spPr>
          <a:xfrm>
            <a:off x="14630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94360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0–12 MONTHS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" y="296265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Enhancement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008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Pre-Visit Prep &amp; Member Suspecting. Low-risk, high-ROI, builds on existing pipelines.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06240" y="1783080"/>
            <a:ext cx="731520" cy="731520"/>
          </a:xfrm>
          <a:prstGeom prst="ellipse">
            <a:avLst/>
          </a:prstGeom>
          <a:solidFill>
            <a:srgbClr val="2D8FCF"/>
          </a:solidFill>
          <a:ln/>
        </p:spPr>
      </p:sp>
      <p:sp>
        <p:nvSpPr>
          <p:cNvPr id="12" name="Text 9"/>
          <p:cNvSpPr/>
          <p:nvPr/>
        </p:nvSpPr>
        <p:spPr>
          <a:xfrm>
            <a:off x="42062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337560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12–24 MONTHS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296265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Intelligence Platform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38328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for documents &amp; images, possibly via vendor partnership.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49440" y="1783080"/>
            <a:ext cx="731520" cy="731520"/>
          </a:xfrm>
          <a:prstGeom prst="ellipse">
            <a:avLst/>
          </a:prstGeom>
          <a:solidFill>
            <a:srgbClr val="6C4FD6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080760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24–36 MONTHS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080760" y="296265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for Risk Adjustment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12648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Proactive, autonomous coding-change suggestions.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-2011680"/>
            <a:ext cx="7772400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didn't just want to recommend it.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640080" y="21488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built it.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658368" y="3200400"/>
            <a:ext cx="1463040" cy="0"/>
          </a:xfrm>
          <a:prstGeom prst="line">
            <a:avLst/>
          </a:prstGeom>
          <a:noFill/>
          <a:ln w="25400">
            <a:solidFill>
              <a:srgbClr val="2D8FC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3832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proof of concept for RAG-Powered Coder Decision Support — everything from here is real, running code.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011680"/>
            <a:ext cx="384048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the PoC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3794760" cy="3200400"/>
          </a:xfrm>
          <a:prstGeom prst="roundRect">
            <a:avLst>
              <a:gd name="adj" fmla="val 2000"/>
            </a:avLst>
          </a:prstGeom>
          <a:solidFill>
            <a:srgbClr val="131320"/>
          </a:solidFill>
          <a:ln w="12700">
            <a:solidFill>
              <a:srgbClr val="2D8FC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62763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2286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69748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an LLM's answer in real retrieved evidence — not just what it memorized in training.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3611880"/>
            <a:ext cx="3337560" cy="822960"/>
          </a:xfrm>
          <a:prstGeom prst="roundRect">
            <a:avLst>
              <a:gd name="adj" fmla="val 6667"/>
            </a:avLst>
          </a:prstGeom>
          <a:solidFill>
            <a:srgbClr val="1A1A2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685032"/>
            <a:ext cx="2971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for Risk Adjustment Decision Support — ingests unstructured clinical notes, retrieves evidence, and helps coders reason about ICD-10 capture.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4572000" y="160020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2" name="Image 1" descr="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950" y="1701150"/>
            <a:ext cx="218724" cy="2187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75504" y="1572768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Retrieval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175504" y="1856232"/>
            <a:ext cx="3511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source chunks that grounded every answer.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0" y="251460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6" name="Image 2" descr="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950" y="2615550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75504" y="2487168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175504" y="2770632"/>
            <a:ext cx="3511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labeled High, Medium, or Low confidence.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0" y="342900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0" name="Image 3" descr="icons/user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950" y="3529950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175504" y="3401568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175504" y="3685032"/>
            <a:ext cx="3511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ends with a suggested review action for a coder.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572000" y="4434840"/>
            <a:ext cx="4114800" cy="365760"/>
          </a:xfrm>
          <a:prstGeom prst="roundRect">
            <a:avLst>
              <a:gd name="adj" fmla="val 50000"/>
            </a:avLst>
          </a:prstGeom>
          <a:solidFill>
            <a:srgbClr val="131320"/>
          </a:solidFill>
          <a:ln w="12700">
            <a:solidFill>
              <a:srgbClr val="6C4FD6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572000" y="4434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B9A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intentionally: a proof of concept, not a production platform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37360" y="-1645920"/>
            <a:ext cx="402336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1484986" cy="2331720"/>
          </a:xfrm>
          <a:prstGeom prst="roundRect">
            <a:avLst>
              <a:gd name="adj" fmla="val 307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7669" y="1627632"/>
            <a:ext cx="384048" cy="38404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7" name="Image 1" descr="icons/file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840" y="1719804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0352" y="2084832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Notes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2560320"/>
            <a:ext cx="13021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.txt / .pdf input</a:t>
            </a:r>
            <a:endParaRPr lang="en-US" sz="860" dirty="0"/>
          </a:p>
        </p:txBody>
      </p:sp>
      <p:sp>
        <p:nvSpPr>
          <p:cNvPr id="10" name="Text 6"/>
          <p:cNvSpPr/>
          <p:nvPr/>
        </p:nvSpPr>
        <p:spPr>
          <a:xfrm>
            <a:off x="1942186" y="23088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143354" y="1463040"/>
            <a:ext cx="1484986" cy="2331720"/>
          </a:xfrm>
          <a:prstGeom prst="roundRect">
            <a:avLst>
              <a:gd name="adj" fmla="val 307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93822" y="1627632"/>
            <a:ext cx="384048" cy="38404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3" name="Image 2" descr="icons/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994" y="1719804"/>
            <a:ext cx="199705" cy="1997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216506" y="2084832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2234794" y="2560320"/>
            <a:ext cx="13021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text, extracts ICD-10 codes, meds, labs</a:t>
            </a:r>
            <a:endParaRPr lang="en-US" sz="860" dirty="0"/>
          </a:p>
        </p:txBody>
      </p:sp>
      <p:sp>
        <p:nvSpPr>
          <p:cNvPr id="16" name="Text 11"/>
          <p:cNvSpPr/>
          <p:nvPr/>
        </p:nvSpPr>
        <p:spPr>
          <a:xfrm>
            <a:off x="3628339" y="23088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3829507" y="1463040"/>
            <a:ext cx="1484986" cy="2331720"/>
          </a:xfrm>
          <a:prstGeom prst="roundRect">
            <a:avLst>
              <a:gd name="adj" fmla="val 307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79976" y="1627632"/>
            <a:ext cx="384048" cy="38404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9" name="Image 3" descr="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148" y="1719804"/>
            <a:ext cx="199705" cy="19970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902659" y="2084832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3920947" y="2560320"/>
            <a:ext cx="13021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 + FAISS similarity index</a:t>
            </a:r>
            <a:endParaRPr lang="en-US" sz="860" dirty="0"/>
          </a:p>
        </p:txBody>
      </p:sp>
      <p:sp>
        <p:nvSpPr>
          <p:cNvPr id="22" name="Text 16"/>
          <p:cNvSpPr/>
          <p:nvPr/>
        </p:nvSpPr>
        <p:spPr>
          <a:xfrm>
            <a:off x="5314493" y="23088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515661" y="1463040"/>
            <a:ext cx="1484986" cy="2331720"/>
          </a:xfrm>
          <a:prstGeom prst="roundRect">
            <a:avLst>
              <a:gd name="adj" fmla="val 307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066130" y="1627632"/>
            <a:ext cx="384048" cy="38404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5" name="Image 4" descr="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8301" y="1719804"/>
            <a:ext cx="199705" cy="19970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588813" y="2084832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Agent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607101" y="2560320"/>
            <a:ext cx="13021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generate → evaluate → suggest</a:t>
            </a:r>
            <a:endParaRPr lang="en-US" sz="860" dirty="0"/>
          </a:p>
        </p:txBody>
      </p:sp>
      <p:sp>
        <p:nvSpPr>
          <p:cNvPr id="28" name="Text 21"/>
          <p:cNvSpPr/>
          <p:nvPr/>
        </p:nvSpPr>
        <p:spPr>
          <a:xfrm>
            <a:off x="7000646" y="23088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7201814" y="1463040"/>
            <a:ext cx="1484986" cy="2331720"/>
          </a:xfrm>
          <a:prstGeom prst="roundRect">
            <a:avLst>
              <a:gd name="adj" fmla="val 307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752283" y="1627632"/>
            <a:ext cx="384048" cy="38404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31" name="Image 5" descr="icons/deskt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455" y="1719804"/>
            <a:ext cx="199705" cy="19970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74966" y="2084832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Web UI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7293254" y="2560320"/>
            <a:ext cx="13021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coder demo</a:t>
            </a:r>
            <a:endParaRPr lang="en-US" sz="860" dirty="0"/>
          </a:p>
        </p:txBody>
      </p:sp>
      <p:sp>
        <p:nvSpPr>
          <p:cNvPr id="34" name="Text 26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local generation — no cloud API required, directly addressing the privacy risk named earlier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-1463040"/>
            <a:ext cx="3931920" cy="3383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Agentic Loop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001268" y="1600200"/>
            <a:ext cx="777240" cy="777240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6" name="Image 1" descr="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806" y="1786738"/>
            <a:ext cx="404165" cy="40416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248716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Retrieve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384048" y="279806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surfaces the top 3 most relevant chart excerpts</a:t>
            </a:r>
            <a:endParaRPr lang="en-US" sz="930" dirty="0"/>
          </a:p>
        </p:txBody>
      </p:sp>
      <p:sp>
        <p:nvSpPr>
          <p:cNvPr id="9" name="Text 5"/>
          <p:cNvSpPr/>
          <p:nvPr/>
        </p:nvSpPr>
        <p:spPr>
          <a:xfrm>
            <a:off x="2322576" y="18242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122676" y="1600200"/>
            <a:ext cx="777240" cy="777240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1" name="Image 2" descr="icons/commentdo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214" y="1786738"/>
            <a:ext cx="404165" cy="40416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532888" y="248716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Generate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2505456" y="279806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drafts a grounded answer (low temperature, tuned for consistency)</a:t>
            </a:r>
            <a:endParaRPr lang="en-US" sz="930" dirty="0"/>
          </a:p>
        </p:txBody>
      </p:sp>
      <p:sp>
        <p:nvSpPr>
          <p:cNvPr id="14" name="Text 9"/>
          <p:cNvSpPr/>
          <p:nvPr/>
        </p:nvSpPr>
        <p:spPr>
          <a:xfrm>
            <a:off x="4443984" y="18242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5244084" y="1600200"/>
            <a:ext cx="777240" cy="777240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6" name="Image 3" descr="icons/checkdoub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622" y="1786738"/>
            <a:ext cx="404165" cy="40416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654296" y="248716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Self-Evaluate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4626864" y="279806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label — High / Medium / Low — from retrieval similarity</a:t>
            </a:r>
            <a:endParaRPr lang="en-US" sz="930" dirty="0"/>
          </a:p>
        </p:txBody>
      </p:sp>
      <p:sp>
        <p:nvSpPr>
          <p:cNvPr id="19" name="Text 13"/>
          <p:cNvSpPr/>
          <p:nvPr/>
        </p:nvSpPr>
        <p:spPr>
          <a:xfrm>
            <a:off x="6565392" y="18242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7365492" y="1600200"/>
            <a:ext cx="777240" cy="777240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1" name="Image 4" descr="icons/tas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2030" y="1786738"/>
            <a:ext cx="404165" cy="4041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775704" y="248716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Suggest Actions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6748272" y="279806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codes, flag gaps, route for clinician review</a:t>
            </a:r>
            <a:endParaRPr lang="en-US" sz="930" dirty="0"/>
          </a:p>
        </p:txBody>
      </p:sp>
      <p:sp>
        <p:nvSpPr>
          <p:cNvPr id="24" name="Shape 17"/>
          <p:cNvSpPr/>
          <p:nvPr/>
        </p:nvSpPr>
        <p:spPr>
          <a:xfrm>
            <a:off x="457200" y="39776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ends with a human-review reminder — the LLM supports coders, it never replaces them.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00" y="1828800"/>
            <a:ext cx="4206240" cy="3474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 (and Why They Matter)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6" name="Image 1" descr="icons/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50" y="1518270"/>
            <a:ext cx="218724" cy="2187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60704" y="138988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Fine-Tuning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1060704" y="1673352"/>
            <a:ext cx="7626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LLM + prompt engineering, mirroring the market trend.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2075688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0" name="Image 2" descr="icons/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50" y="2176638"/>
            <a:ext cx="218724" cy="2187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60704" y="2048256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by Design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1060704" y="2331720"/>
            <a:ext cx="7626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entity extraction stays visible, not hidden inside the LLM.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57200" y="2734056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4" name="Image 3" descr="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150" y="2835006"/>
            <a:ext cx="218724" cy="21872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60704" y="2706624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via Ollama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1060704" y="2990088"/>
            <a:ext cx="7626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PHI ever leaves the machine.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457200" y="3392424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8" name="Image 4" descr="icons/flas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150" y="3493374"/>
            <a:ext cx="218724" cy="2187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60704" y="3364992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Only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1060704" y="3648456"/>
            <a:ext cx="7626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demo — no real PHI involved.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457200" y="4050792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2" name="Image 5" descr="icons/user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150" y="4151742"/>
            <a:ext cx="218724" cy="21872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060704" y="4023360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24" name="Text 16"/>
          <p:cNvSpPr/>
          <p:nvPr/>
        </p:nvSpPr>
        <p:spPr>
          <a:xfrm>
            <a:off x="1060704" y="4306824"/>
            <a:ext cx="7626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includes review suggestions — supports coders, never replaces them.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828800"/>
            <a:ext cx="384048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Recommendation vs. What the PoC Delivers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306324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6126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Recommendation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F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PoC Delivers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FC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 coding guidelines &amp; evidence in real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semantic retrieval over clinical notes (FAISS + Sentence-BERT)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20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 coding accuracy &amp; consistency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LLM answers with visible source chunks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27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 new-coder training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score on every answer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20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to Medical Record Coding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CC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next-action suggestions on every response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 anchor="ctr">
                    <a:lnL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27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645920" y="1737360"/>
            <a:ext cx="3931920" cy="3200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About to See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1499616" cy="502920"/>
          </a:xfrm>
          <a:prstGeom prst="roundRect">
            <a:avLst>
              <a:gd name="adj" fmla="val 5090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146304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139696" y="1463040"/>
            <a:ext cx="1499616" cy="502920"/>
          </a:xfrm>
          <a:prstGeom prst="roundRect">
            <a:avLst>
              <a:gd name="adj" fmla="val 5090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185416" y="146304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822192" y="1463040"/>
            <a:ext cx="1499616" cy="502920"/>
          </a:xfrm>
          <a:prstGeom prst="roundRect">
            <a:avLst>
              <a:gd name="adj" fmla="val 5090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67912" y="146304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Postpartum Depression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04688" y="1463040"/>
            <a:ext cx="1499616" cy="502920"/>
          </a:xfrm>
          <a:prstGeom prst="roundRect">
            <a:avLst>
              <a:gd name="adj" fmla="val 5090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50408" y="146304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187184" y="1463040"/>
            <a:ext cx="1499616" cy="502920"/>
          </a:xfrm>
          <a:prstGeom prst="roundRect">
            <a:avLst>
              <a:gd name="adj" fmla="val 50909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32904" y="146304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57200" y="228600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6" name="Image 1" descr="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50" y="2386950"/>
            <a:ext cx="218724" cy="21872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60704" y="225856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Real Coding Question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060704" y="2542032"/>
            <a:ext cx="76260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“What ICD-10 codes apply to the diabetic patient with hypertension?”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57200" y="306324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0" name="Image 2" descr="icons/ro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50" y="3164190"/>
            <a:ext cx="218724" cy="2187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60704" y="303580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Agent Work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060704" y="3319272"/>
            <a:ext cx="76260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evidence, generates an answer, scores its own confidence, suggests next actions.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57200" y="384048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4" name="Image 3" descr="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150" y="3941430"/>
            <a:ext cx="218724" cy="21872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60704" y="381304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Live and Locally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1060704" y="4096512"/>
            <a:ext cx="762609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is powered by a local LLM — no cloud call.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-2194560"/>
            <a:ext cx="8046720" cy="6583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457200" y="15727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see it in action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160520" y="2240280"/>
            <a:ext cx="822960" cy="8229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2D8FCF"/>
            </a:solidFill>
            <a:prstDash val="solid"/>
          </a:ln>
        </p:spPr>
      </p:sp>
      <p:pic>
        <p:nvPicPr>
          <p:cNvPr id="6" name="Image 1" descr="icons/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487168"/>
            <a:ext cx="329184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0" y="333756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the 5 synthetic patient charts</a:t>
            </a:r>
            <a:endParaRPr lang="en-US" sz="125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a live coding question and walking the retrieve → generate → confidence → next-actions flow</a:t>
            </a:r>
            <a:endParaRPr lang="en-US" sz="1250" dirty="0"/>
          </a:p>
          <a:p>
            <a:pPr algn="l"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the source chunks to show exactly what grounded the answer</a:t>
            </a:r>
            <a:endParaRPr lang="en-US" sz="1250" dirty="0"/>
          </a:p>
        </p:txBody>
      </p:sp>
      <p:sp>
        <p:nvSpPr>
          <p:cNvPr id="9" name="Text 4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-1554480"/>
            <a:ext cx="4023360" cy="3383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NEXT STEPS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Just Saw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6" name="Image 1" descr="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50" y="1563990"/>
            <a:ext cx="218724" cy="2187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60704" y="143560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Transparency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1060704" y="1719072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traces back to a visible source chunk.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2267712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0" name="Image 2" descr="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50" y="2368662"/>
            <a:ext cx="218724" cy="2187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60704" y="2240280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1060704" y="2523744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tells you how sure it is, not just an answer.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57200" y="3072384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4" name="Image 3" descr="icons/user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150" y="3173334"/>
            <a:ext cx="218724" cy="21872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60704" y="3044952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Routing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1060704" y="3328416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routes back to a coder for review.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457200" y="3877056"/>
            <a:ext cx="420624" cy="420624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8" name="Image 4" descr="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150" y="3978006"/>
            <a:ext cx="218724" cy="2187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60704" y="3849624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AI, Made Concrete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1060704" y="4133088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human-in-the-loop, agentic AI looks like in practice.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37360" y="1737360"/>
            <a:ext cx="4114800" cy="3383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NEXT STEPS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Back to Cotiviti's Product Suite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554480"/>
            <a:ext cx="2609088" cy="1874520"/>
          </a:xfrm>
          <a:prstGeom prst="roundRect">
            <a:avLst>
              <a:gd name="adj" fmla="val 2927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737360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7" name="Image 1" descr="icons/clipboard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29" y="1833921"/>
            <a:ext cx="209215" cy="20921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2231136"/>
            <a:ext cx="2206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Pre-Visit Prep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58368" y="2523744"/>
            <a:ext cx="220675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idea: surface evidence before a human decision point.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267456" y="1554480"/>
            <a:ext cx="2609088" cy="1874520"/>
          </a:xfrm>
          <a:prstGeom prst="roundRect">
            <a:avLst>
              <a:gd name="adj" fmla="val 2927"/>
            </a:avLst>
          </a:prstGeom>
          <a:solidFill>
            <a:srgbClr val="2D8FCF"/>
          </a:solidFill>
          <a:ln w="12700">
            <a:solidFill>
              <a:srgbClr val="2D8FC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68624" y="1737360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2" descr="icons/filemedic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5185" y="1833921"/>
            <a:ext cx="209215" cy="20921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468624" y="2231136"/>
            <a:ext cx="2206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Record Coding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3468624" y="2523744"/>
            <a:ext cx="220675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fit: real-time guidance during chart review.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077712" y="1554480"/>
            <a:ext cx="2609088" cy="1874520"/>
          </a:xfrm>
          <a:prstGeom prst="roundRect">
            <a:avLst>
              <a:gd name="adj" fmla="val 2927"/>
            </a:avLst>
          </a:prstGeom>
          <a:solidFill>
            <a:srgbClr val="131320"/>
          </a:solidFill>
          <a:ln w="12700">
            <a:solidFill>
              <a:srgbClr val="2E2E4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278880" y="1737360"/>
            <a:ext cx="402336" cy="402336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7" name="Image 3" descr="icons/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441" y="1833921"/>
            <a:ext cx="209215" cy="20921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78880" y="2231136"/>
            <a:ext cx="2206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278880" y="2523744"/>
            <a:ext cx="220675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Cotiviti's broader shift toward self-directed, agentic systems.</a:t>
            </a:r>
            <a:endParaRPr lang="en-US" sz="1000" dirty="0"/>
          </a:p>
        </p:txBody>
      </p:sp>
      <p:sp>
        <p:nvSpPr>
          <p:cNvPr id="21" name="Text 14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20240"/>
            <a:ext cx="3657600" cy="3108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NEXT STEPS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Honest Scope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6A6E8A"/>
          </a:solidFill>
          <a:ln/>
        </p:spPr>
      </p:sp>
      <p:pic>
        <p:nvPicPr>
          <p:cNvPr id="6" name="Image 1" descr="icons/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50" y="1563990"/>
            <a:ext cx="218724" cy="2187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60704" y="1435608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Sample Data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1060704" y="1719072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production chart data.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2267712"/>
            <a:ext cx="420624" cy="420624"/>
          </a:xfrm>
          <a:prstGeom prst="ellipse">
            <a:avLst/>
          </a:prstGeom>
          <a:solidFill>
            <a:srgbClr val="6A6E8A"/>
          </a:solidFill>
          <a:ln/>
        </p:spPr>
      </p:sp>
      <p:pic>
        <p:nvPicPr>
          <p:cNvPr id="10" name="Image 2" descr="icons/fil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50" y="2368662"/>
            <a:ext cx="218724" cy="2187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60704" y="2240280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Regex-Based Extraction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1060704" y="2523744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trained clinical NER model.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57200" y="3072384"/>
            <a:ext cx="420624" cy="420624"/>
          </a:xfrm>
          <a:prstGeom prst="ellipse">
            <a:avLst/>
          </a:prstGeom>
          <a:solidFill>
            <a:srgbClr val="6A6E8A"/>
          </a:solidFill>
          <a:ln/>
        </p:spPr>
      </p:sp>
      <p:pic>
        <p:nvPicPr>
          <p:cNvPr id="14" name="Image 3" descr="icons/filepd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150" y="3173334"/>
            <a:ext cx="218724" cy="21872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60704" y="3044952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Text-Layer PDFs Only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1060704" y="3328416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images would need OCR.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457200" y="3877056"/>
            <a:ext cx="420624" cy="420624"/>
          </a:xfrm>
          <a:prstGeom prst="ellipse">
            <a:avLst/>
          </a:prstGeom>
          <a:solidFill>
            <a:srgbClr val="6A6E8A"/>
          </a:solidFill>
          <a:ln/>
        </p:spPr>
      </p:sp>
      <p:pic>
        <p:nvPicPr>
          <p:cNvPr id="18" name="Image 4" descr="icons/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150" y="3978006"/>
            <a:ext cx="218724" cy="2187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60704" y="3849624"/>
            <a:ext cx="7626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Runtime Required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1060704" y="4133088"/>
            <a:ext cx="7626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Ollama running for generation.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pur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37360" y="-1554480"/>
            <a:ext cx="402336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NEXT STEPS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5303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Could Go Next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5411" y="1691640"/>
            <a:ext cx="658368" cy="65836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6" name="Image 1" descr="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20" y="18496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20040" y="2459736"/>
            <a:ext cx="1569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NER Model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292608" y="2770632"/>
            <a:ext cx="16239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regex extraction</a:t>
            </a:r>
            <a:endParaRPr lang="en-US" sz="930" dirty="0"/>
          </a:p>
        </p:txBody>
      </p:sp>
      <p:sp>
        <p:nvSpPr>
          <p:cNvPr id="9" name="Text 5"/>
          <p:cNvSpPr/>
          <p:nvPr/>
        </p:nvSpPr>
        <p:spPr>
          <a:xfrm>
            <a:off x="1843430" y="1856232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2509114" y="1691640"/>
            <a:ext cx="658368" cy="65836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1" name="Image 2" descr="icons/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122" y="1849648"/>
            <a:ext cx="342351" cy="34235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053742" y="2459736"/>
            <a:ext cx="1569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Pipeline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2026310" y="2770632"/>
            <a:ext cx="16239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scanned charts &amp; faxes — bridges to Phase 2</a:t>
            </a:r>
            <a:endParaRPr lang="en-US" sz="930" dirty="0"/>
          </a:p>
        </p:txBody>
      </p:sp>
      <p:sp>
        <p:nvSpPr>
          <p:cNvPr id="14" name="Text 9"/>
          <p:cNvSpPr/>
          <p:nvPr/>
        </p:nvSpPr>
        <p:spPr>
          <a:xfrm>
            <a:off x="3577133" y="1856232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242816" y="1691640"/>
            <a:ext cx="658368" cy="65836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6" name="Image 3" descr="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0824" y="1849648"/>
            <a:ext cx="342351" cy="34235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787445" y="2459736"/>
            <a:ext cx="1569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Vector DB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3760013" y="2770632"/>
            <a:ext cx="16239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in-memory FAISS</a:t>
            </a:r>
            <a:endParaRPr lang="en-US" sz="930" dirty="0"/>
          </a:p>
        </p:txBody>
      </p:sp>
      <p:sp>
        <p:nvSpPr>
          <p:cNvPr id="19" name="Text 13"/>
          <p:cNvSpPr/>
          <p:nvPr/>
        </p:nvSpPr>
        <p:spPr>
          <a:xfrm>
            <a:off x="5310835" y="1856232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5976518" y="1691640"/>
            <a:ext cx="658368" cy="65836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1" name="Image 4" descr="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527" y="1849648"/>
            <a:ext cx="342351" cy="34235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521147" y="2459736"/>
            <a:ext cx="1569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Real-Chart Evaluation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5493715" y="2770632"/>
            <a:ext cx="16239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de-identified charts</a:t>
            </a:r>
            <a:endParaRPr lang="en-US" sz="930" dirty="0"/>
          </a:p>
        </p:txBody>
      </p:sp>
      <p:sp>
        <p:nvSpPr>
          <p:cNvPr id="24" name="Text 17"/>
          <p:cNvSpPr/>
          <p:nvPr/>
        </p:nvSpPr>
        <p:spPr>
          <a:xfrm>
            <a:off x="7044538" y="1856232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8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18"/>
          <p:cNvSpPr/>
          <p:nvPr/>
        </p:nvSpPr>
        <p:spPr>
          <a:xfrm>
            <a:off x="7710221" y="1691640"/>
            <a:ext cx="658368" cy="658368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26" name="Image 5" descr="icons/plu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8229" y="1849648"/>
            <a:ext cx="342351" cy="342351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254850" y="2459736"/>
            <a:ext cx="1569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Integration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7227418" y="2770632"/>
            <a:ext cx="16239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actual coder tools</a:t>
            </a:r>
            <a:endParaRPr lang="en-US" sz="930" dirty="0"/>
          </a:p>
        </p:txBody>
      </p:sp>
      <p:sp>
        <p:nvSpPr>
          <p:cNvPr id="29" name="Text 21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builds directly on the Phase 2 and Phase 3 roadmap from earlier in this talk</a:t>
            </a:r>
            <a:endParaRPr lang="en-US" sz="1150" dirty="0"/>
          </a:p>
        </p:txBody>
      </p:sp>
      <p:sp>
        <p:nvSpPr>
          <p:cNvPr id="31" name="Text 22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w/glow_blu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-1371600"/>
            <a:ext cx="6858000" cy="5852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777240"/>
            <a:ext cx="365760" cy="365760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4" name="Image 1" descr="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865022"/>
            <a:ext cx="190195" cy="19019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51560" y="777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insight: where clinical NLP is heading, and where Cotiviti can lead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548640" y="1344168"/>
            <a:ext cx="365760" cy="365760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7" name="Image 2" descr="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1431950"/>
            <a:ext cx="190195" cy="19019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51560" y="134416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prototype: RAG-powered, transparent, human-in-the-loop</a:t>
            </a:r>
            <a:endParaRPr lang="en-US" sz="1350" dirty="0"/>
          </a:p>
        </p:txBody>
      </p:sp>
      <p:sp>
        <p:nvSpPr>
          <p:cNvPr id="9" name="Shape 4"/>
          <p:cNvSpPr/>
          <p:nvPr/>
        </p:nvSpPr>
        <p:spPr>
          <a:xfrm>
            <a:off x="548640" y="1911096"/>
            <a:ext cx="365760" cy="365760"/>
          </a:xfrm>
          <a:prstGeom prst="ellipse">
            <a:avLst/>
          </a:prstGeom>
          <a:solidFill>
            <a:srgbClr val="2D8FCF"/>
          </a:solidFill>
          <a:ln/>
        </p:spPr>
      </p:sp>
      <p:pic>
        <p:nvPicPr>
          <p:cNvPr id="10" name="Image 3" descr="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" y="1998878"/>
            <a:ext cx="190195" cy="19019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191109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fit: aligned with Cotiviti's own agentic AI direction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548640" y="2880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4000" dirty="0"/>
          </a:p>
        </p:txBody>
      </p:sp>
      <p:sp>
        <p:nvSpPr>
          <p:cNvPr id="13" name="Text 7"/>
          <p:cNvSpPr/>
          <p:nvPr/>
        </p:nvSpPr>
        <p:spPr>
          <a:xfrm>
            <a:off x="548640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welcome.</a:t>
            </a:r>
            <a:endParaRPr lang="en-US" sz="1500" dirty="0"/>
          </a:p>
        </p:txBody>
      </p:sp>
      <p:sp>
        <p:nvSpPr>
          <p:cNvPr id="15" name="Text 8"/>
          <p:cNvSpPr/>
          <p:nvPr/>
        </p:nvSpPr>
        <p:spPr>
          <a:xfrm>
            <a:off x="8549640" y="48280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NLP for Health Care — Research, Strategy, and a Working Prototype</dc:title>
  <dc:subject>PptxGenJS Presentation</dc:subject>
  <dc:creator>Evelyne R. Kim</dc:creator>
  <cp:lastModifiedBy>Evelyne R. Kim</cp:lastModifiedBy>
  <cp:revision>1</cp:revision>
  <dcterms:created xsi:type="dcterms:W3CDTF">2026-07-01T16:55:39Z</dcterms:created>
  <dcterms:modified xsi:type="dcterms:W3CDTF">2026-07-01T16:55:39Z</dcterms:modified>
</cp:coreProperties>
</file>